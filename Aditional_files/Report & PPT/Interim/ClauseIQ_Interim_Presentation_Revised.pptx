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384" autoAdjust="0"/>
  </p:normalViewPr>
  <p:slideViewPr>
    <p:cSldViewPr snapToGrid="0" snapToObjects="1">
      <p:cViewPr varScale="1">
        <p:scale>
          <a:sx n="53" d="100"/>
          <a:sy n="53" d="100"/>
        </p:scale>
        <p:origin x="115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3596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morning respected evaluators and guide Dr. Sonia Abraham. </a:t>
            </a:r>
          </a:p>
          <a:p>
            <a:r>
              <a:t>I am Mohammed Farhan K, presenting the Interim Project Presentation for my MCA mini project: 'ClauseIQ – Machine Learning-Based Contract Clause Classification and Intelligent Search System'.</a:t>
            </a:r>
          </a:p>
          <a:p>
            <a:r>
              <a:t>In our first presentation, we proposed the conceptual framework and dataset exploration. Today, for this interim review, I am presenting the verified empirical results of our completed machine learning pipeline. This includes training and tuning four classifiers, evaluating them on our held-out test set, selecting Logistic Regression based on our primary metric, analyzing errors with a full 41x41 confusion matrix, and demonstrating our intelligent search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Legal contract review is currently bottlenecked by three main challenges:</a:t>
            </a:r>
          </a:p>
          <a:p>
            <a:r>
              <a:rPr dirty="0"/>
              <a:t>First, manual review across lengthy legal contracts is exhausting, slow, and prone to human error.</a:t>
            </a:r>
          </a:p>
          <a:p>
            <a:r>
              <a:rPr dirty="0"/>
              <a:t>Second, standard keyword search tools fail because lawyers use varying drafting conventions and synonyms—for example, 'limitation of liability' versus 'aggregate exposure'.</a:t>
            </a:r>
          </a:p>
          <a:p>
            <a:r>
              <a:rPr dirty="0"/>
              <a:t>Third, automatic classification is difficult because contract clauses span 41 distinct categories that exhibit severe statistical imbalance.</a:t>
            </a:r>
          </a:p>
          <a:p>
            <a:r>
              <a:rPr dirty="0"/>
              <a:t>Our project goal is to build a practical, lightweight classical machine learning system that automatically classifies clauses into 41 categories and provides intelligent semantic clause retrieval.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clearly establishes our interim project milestone.</a:t>
            </a:r>
          </a:p>
          <a:p>
            <a:r>
              <a:t>Our overall objectives are threefold: classify clauses into 41 categories, build a TF-IDF clause search engine, and rigorously evaluate multiple ML models.</a:t>
            </a:r>
          </a:p>
          <a:p>
            <a:r>
              <a:t>For this interim review, we have completed the entire machine learning core: data cleaning, TF-IDF vectorization, training and tuning all four candidate classifiers, evaluating them on the held-out test set, selecting our model, building our search prototype, and implementing our FastAPI backend. The frontend UI and database persistence are scheduled for our final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4 shows our verified dataset figures.</a:t>
            </a:r>
          </a:p>
          <a:p>
            <a:r>
              <a:t>Our dataset is derived from the Contract Understanding Atticus Dataset (CUAD v1).</a:t>
            </a:r>
          </a:p>
          <a:p>
            <a:r>
              <a:t>It contains 510 commercial contracts, yielding exactly 12,204 labeled clause records across 41 categories.</a:t>
            </a:r>
          </a:p>
          <a:p>
            <a:r>
              <a:t>The schema is minimal and clean, with 3 columns: contract_id, clause_text, and category.</a:t>
            </a:r>
          </a:p>
          <a:p>
            <a:r>
              <a:t>Through automated validation in src/clean_dataset.py, we verified 100% data completeness: exactly zero missing values, zero empty strings, and zero duplicates.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5 highlights our exploratory analysis of class distribution.</a:t>
            </a:r>
          </a:p>
          <a:p>
            <a:r>
              <a:t>The dataset exhibits extreme class imbalance: 'Parties' is the largest category with 1,251 instances, while 'Price Restrictions' has only 27 instances.</a:t>
            </a:r>
          </a:p>
          <a:p>
            <a:r>
              <a:t>This creates a severe imbalance ratio of 46.33 to 1.</a:t>
            </a:r>
          </a:p>
          <a:p>
            <a:r>
              <a:t>Because of this skew, standard accuracy is misleading: a model could achieve over 70% accuracy by only predicting common boilerplate while missing rare, high-consequence clauses. </a:t>
            </a:r>
          </a:p>
          <a:p>
            <a:r>
              <a:t>Therefore, Macro-F1—which weights all 41 classes equally—is our primary evaluation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6 presents our text cleaning pipeline implemented in src/text_cleaner.py.</a:t>
            </a:r>
          </a:p>
          <a:p>
            <a:r>
              <a:t>Raw clauses undergo case-folding, URL and email removal via regex, noise filtering while preserving legal punctuation, and whitespace normalization.</a:t>
            </a:r>
          </a:p>
          <a:p>
            <a:r>
              <a:t>The example shows how web links and irregular casing are cleaned into standardized tokens while preserving all substantive legal terms like 'governed by delaware'.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7 illustrates our feature extraction settings:</a:t>
            </a:r>
          </a:p>
          <a:p>
            <a:r>
              <a:t>We configure 10,000 maximum features, unigrams and bigrams (1,2), sublinear TF scaling (1 + log(tf)), minimum document frequency of 2, and maximum document frequency of 0.95.</a:t>
            </a:r>
          </a:p>
          <a:p>
            <a:r>
              <a:t>Bigrams are essential to capture two-word legal expressions like 'governing law' and 'prior written consent'.</a:t>
            </a:r>
          </a:p>
          <a:p>
            <a:r>
              <a:t>Importantly, to prevent data leakage, the vectorizer was fitted strictly on the training partition and applied to the test partition via transform().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8 illustrates our dataset partition:</a:t>
            </a:r>
          </a:p>
          <a:p>
            <a:r>
              <a:t>We performed an 80/20 stratified split with random_state=42, partitioning our 12,204 clauses into 9,763 training samples and 2,441 held-out test samples.</a:t>
            </a:r>
          </a:p>
          <a:p>
            <a:r>
              <a:t>Stratification ensures all 41 categories maintain identical proportions in both splits.</a:t>
            </a:r>
          </a:p>
          <a:p>
            <a:r>
              <a:t>Important clarification: this is a clause-level stratified split, not a contract-level split. All four models were evaluated on the exact same 2,441 held-out test instances.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9 presents our four candidate models:</a:t>
            </a:r>
          </a:p>
          <a:p>
            <a:r>
              <a:t>Logistic Regression: a multinomial linear model with L2 regularization.</a:t>
            </a:r>
          </a:p>
          <a:p>
            <a:r>
              <a:t>Linear SVM: a maximum-margin hyperplane classifier well-suited for sparse text.</a:t>
            </a:r>
          </a:p>
          <a:p>
            <a:r>
              <a:t>Naive Bayes: a fast probabilistic generative baseline.</a:t>
            </a:r>
          </a:p>
          <a:p>
            <a:r>
              <a:t>Random Forest: an ensemble of decision trees to test non-linear bagging on text.</a:t>
            </a:r>
          </a:p>
          <a:p>
            <a:r>
              <a:t>Crucially, all four models were trained on the same training set and evaluated on the exact same held-out test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10 summarizes the tuning parameters for all four classifiers.</a:t>
            </a:r>
          </a:p>
          <a:p>
            <a:r>
              <a:t>All tuning was performed on the training partition using StratifiedKFold cross-validation optimizing for Macro-F1:</a:t>
            </a:r>
          </a:p>
          <a:p>
            <a:r>
              <a:t>For Naive Bayes, GridSearchCV selected alpha = 0.01.</a:t>
            </a:r>
          </a:p>
          <a:p>
            <a:r>
              <a:t>For Random Forest, RandomizedSearchCV selected 200 estimators and max_depth of 50.</a:t>
            </a:r>
          </a:p>
          <a:p>
            <a:r>
              <a:t>For Linear SVM, grid search selected C = 0.1.</a:t>
            </a:r>
          </a:p>
          <a:p>
            <a:r>
              <a:t>For Logistic Regression, L2 regularization with C = 1.0 and balanced class weights was utilized.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11 shows the actual production code from our repository in src/feature_extraction.py and src/train_baseline.py.</a:t>
            </a:r>
          </a:p>
          <a:p>
            <a:r>
              <a:t>First, we vectorize raw text using TfidfVectorizer with 10,000 features and unigram-bigram pairing. Notice that fit_transform is applied exclusively to X_train_text, while X_test_text is transformed using transform() to prevent data leakage.</a:t>
            </a:r>
          </a:p>
          <a:p>
            <a:r>
              <a:t>Second, LogisticRegression is initialized with class_weight='balanced' to compensate for the 46:1 class imbalance.</a:t>
            </a:r>
          </a:p>
          <a:p>
            <a:r>
              <a:t>Finally, the model fits on X_train and predicts on the 2,441 test samples.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12 is our core model evaluation table containing the verified results from results/model_comparison.csv:</a:t>
            </a:r>
          </a:p>
          <a:p>
            <a:r>
              <a:t>Logistic Regression achieved 71.90% Accuracy, 64.81% Macro Precision, 66.22% Macro Recall, and 64.74% Macro-F1.</a:t>
            </a:r>
          </a:p>
          <a:p>
            <a:r>
              <a:t>Linear SVM achieved 72.63% Accuracy, 63.23% Macro Precision, 66.65% Macro Recall, and 64.18% Macro-F1.</a:t>
            </a:r>
          </a:p>
          <a:p>
            <a:r>
              <a:t>Naive Bayes achieved 69.27% Accuracy and 58.53% Macro-F1.</a:t>
            </a:r>
          </a:p>
          <a:p>
            <a:r>
              <a:t>Random Forest achieved 65.46% Accuracy and 56.34% Macro-F1.</a:t>
            </a:r>
          </a:p>
          <a:p>
            <a:r>
              <a:t>Notice that Linear SVM achieved the highest overall accuracy at 72.63%, but Logistic Regression achieved the highest Macro-F1 at 64.74%.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13 displays the model comparison bar chart generated at 300 DPI from results/model_comparison.png.</a:t>
            </a:r>
          </a:p>
          <a:p>
            <a:r>
              <a:t>The chart visually shows the comparison across Accuracy, Macro-F1, and Weighted-F1:</a:t>
            </a:r>
          </a:p>
          <a:p>
            <a:r>
              <a:t>Linear SVM leads in raw Accuracy with 72.63%.</a:t>
            </a:r>
          </a:p>
          <a:p>
            <a:r>
              <a:t>Logistic Regression leads in Macro-F1 with 64.74%.</a:t>
            </a:r>
          </a:p>
          <a:p>
            <a:r>
              <a:t>Both Naive Bayes and Random Forest lag significantly behind in Macro-F1, showing that linear models handle sparse high-dimensional TF-IDF vectors much better than tree ensembles.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14 explains our model selection decision.</a:t>
            </a:r>
          </a:p>
          <a:p>
            <a:r>
              <a:t>Our evaluation strategy defined Macro-F1 as the primary metric and Accuracy as the secondary metric.</a:t>
            </a:r>
          </a:p>
          <a:p>
            <a:r>
              <a:t>Linear SVM achieved a higher raw accuracy of 72.63% compared to 71.90% for Logistic Regression.</a:t>
            </a:r>
          </a:p>
          <a:p>
            <a:r>
              <a:t>However, Logistic Regression achieved a higher Macro-F1 of 64.74% compared to 64.18% for Linear SVM.</a:t>
            </a:r>
          </a:p>
          <a:p>
            <a:r>
              <a:t>In an imbalanced 41-class dataset, Macro-F1 is essential because it gives equal importance to rare, high-consequence clauses like Price Restrictions and Non-Compete, rather than being dominated by frequent boilerplate.</a:t>
            </a:r>
          </a:p>
          <a:p>
            <a:r>
              <a:t>Therefore, Logistic Regression was selected because Macro-F1 was defined as the primary evaluation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15 shows class-level results from our verified classification report in results/classification_reports/logistic_regression_report.csv across six representative categories:</a:t>
            </a:r>
          </a:p>
          <a:p>
            <a:r>
              <a:t>Distinctive categories like Governing Law and Parties achieve near-perfect F1-scores of 98.34% and 96.99%.</a:t>
            </a:r>
          </a:p>
          <a:p>
            <a:r>
              <a:t>Moderate provisions like Cap On Liability achieve 72.06% F1.</a:t>
            </a:r>
          </a:p>
          <a:p>
            <a:r>
              <a:t>Challenging provisions such as Affiliate License-Licensee and Licensor achieve lower F1-scores (28.12% and 14.63%) because they share virtually identical vocabulary, differing only in who grants the license to whom.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16 displays the full 41-by-41 confusion matrix for Logistic Regression on our held-out test set of 2,441 samples.</a:t>
            </a:r>
          </a:p>
          <a:p>
            <a:r>
              <a:t>The vertical axis shows True Categories, and the horizontal axis shows Predicted Categories.</a:t>
            </a:r>
          </a:p>
          <a:p>
            <a:r>
              <a:t>The bright diagonal confirms high accuracy on frequent provisions.</a:t>
            </a:r>
          </a:p>
          <a:p>
            <a:r>
              <a:t>Off-diagonal errors are concentrated in specific pairs with similar wording, such as Affiliate License-Licensee versus Licensor, Cap On Liability versus Uncapped Liability, and Agreement Date versus Effective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17 summarizes our search prototype and core machine learning insights.</a:t>
            </a:r>
          </a:p>
          <a:p>
            <a:r>
              <a:t>In our search evaluation using TF-IDF and Cosine Similarity, the retrieval engine achieves 80% Precision@1, 88% Precision@5, and 86% Precision@10.</a:t>
            </a:r>
          </a:p>
          <a:p>
            <a:r>
              <a:t>Our ablation experiment confirmed that bigrams are essential: without bigrams, Precision@1 drops by 20% (from 80% to 60%).</a:t>
            </a:r>
          </a:p>
          <a:p>
            <a:r>
              <a:t>Our key machine learning takeaways are:</a:t>
            </a:r>
          </a:p>
          <a:p>
            <a:r>
              <a:t>First, linear models handle sparse text spaces much better than tree ensembles;</a:t>
            </a:r>
          </a:p>
          <a:p>
            <a:r>
              <a:t>Second, Macro-F1 is essential for an imbalanced legal dataset;</a:t>
            </a:r>
          </a:p>
          <a:p>
            <a:r>
              <a:t>And third, vocabulary overlap is the primary source of classification confusion.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18 provides an honest interim progress audit:</a:t>
            </a:r>
          </a:p>
          <a:p>
            <a:r>
              <a:t>On the left, completed tasks include dataset validation, preprocessing, TF-IDF vectorization, training and tuning all four models, multi-metric evaluation, model selection of Logistic Regression, confusion matrix analysis, search prototype, and our FastAPI backend.</a:t>
            </a:r>
          </a:p>
          <a:p>
            <a:r>
              <a:t>On the right, work scheduled for our final phase includes connecting the live Supabase database, building the React user interface, conducting end-to-end integration testing, and final cloud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 you very much, respected evaluators and guide, for your time and feedback. </a:t>
            </a:r>
          </a:p>
          <a:p>
            <a:r>
              <a:t>ClauseIQ has completed its core machine learning phase with verified empirical results, achieving 64.74% Macro-F1 with Logistic Regression across 41 imbalanced legal categories, alongside a verified search prototype.</a:t>
            </a:r>
          </a:p>
          <a:p>
            <a:r>
              <a:t>I welcome your questions, feedback, and suggestions for our upcoming final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5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74320"/>
            <a:ext cx="11640312" cy="6309360"/>
          </a:xfrm>
          <a:prstGeom prst="rect">
            <a:avLst/>
          </a:prstGeom>
          <a:noFill/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2591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Trebuchet MS"/>
              </a:defRPr>
            </a:pPr>
            <a:r>
              <a:t>ClauseIQ</a:t>
            </a:r>
          </a:p>
          <a:p>
            <a:pPr algn="ctr">
              <a:defRPr sz="2800" b="1">
                <a:solidFill>
                  <a:srgbClr val="93C5FD"/>
                </a:solidFill>
                <a:latin typeface="Trebuchet MS"/>
              </a:defRPr>
            </a:pPr>
            <a:r>
              <a:t>Machine Learning-Based Contract Clause Classification</a:t>
            </a:r>
            <a:br/>
            <a:r>
              <a:t>and Intelligent Search System</a:t>
            </a:r>
          </a:p>
          <a:p>
            <a:pPr algn="ctr">
              <a:defRPr sz="2200">
                <a:solidFill>
                  <a:srgbClr val="E2E8F0"/>
                </a:solidFill>
                <a:latin typeface="Calibri"/>
              </a:defRPr>
            </a:pPr>
            <a:r>
              <a:t>Interim Project 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32304" y="4114800"/>
            <a:ext cx="73152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MOHAMMED FARHAN K</a:t>
            </a:r>
          </a:p>
          <a:p>
            <a:pPr algn="ctr">
              <a:defRPr sz="1800">
                <a:solidFill>
                  <a:srgbClr val="CBD5E1"/>
                </a:solidFill>
                <a:latin typeface="Calibri"/>
              </a:defRPr>
            </a:pPr>
            <a:r>
              <a:t>MCA  |  Department of Computer Applications  |  Reg. No: MAC25MCA-2042</a:t>
            </a:r>
          </a:p>
          <a:p>
            <a:pPr algn="ctr">
              <a:defRPr sz="1800">
                <a:solidFill>
                  <a:srgbClr val="94A3B8"/>
                </a:solidFill>
                <a:latin typeface="Calibri"/>
              </a:defRPr>
            </a:pPr>
            <a:r>
              <a:t>Mar Athanasius College of Engineering (MACE), Kothamangalam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28600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Trebuchet MS"/>
              </a:defRPr>
            </a:pPr>
            <a:r>
              <a:t>PROBLEM &amp; MOTIVATION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Operational Bottlenecks in Legal Contract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4747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Ins="274320" rtlCol="0" anchor="ctr"/>
          <a:lstStyle/>
          <a:p>
            <a:pPr algn="ctr">
              <a:defRPr sz="2400" b="1">
                <a:solidFill>
                  <a:srgbClr val="1E3A8A"/>
                </a:solidFill>
                <a:latin typeface="Trebuchet MS"/>
              </a:defRPr>
            </a:pPr>
            <a:r>
              <a:rPr dirty="0"/>
              <a:t>MANUAL REVIEW</a:t>
            </a:r>
          </a:p>
          <a:p>
            <a:br>
              <a:rPr dirty="0"/>
            </a:br>
            <a:r>
              <a:rPr sz="2000" dirty="0">
                <a:solidFill>
                  <a:schemeClr val="tx1"/>
                </a:solidFill>
              </a:rPr>
              <a:t>Large contracts require time-consuming clause identification.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91640"/>
            <a:ext cx="34747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Ins="274320" rtlCol="0" anchor="ctr"/>
          <a:lstStyle/>
          <a:p>
            <a:pPr algn="ctr">
              <a:defRPr sz="2400" b="1">
                <a:solidFill>
                  <a:srgbClr val="1E3A8A"/>
                </a:solidFill>
                <a:latin typeface="Trebuchet MS"/>
              </a:defRPr>
            </a:pPr>
            <a:r>
              <a:rPr dirty="0"/>
              <a:t>KEYWORD SEARCH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sz="2000" dirty="0">
                <a:solidFill>
                  <a:schemeClr val="tx1"/>
                </a:solidFill>
              </a:rPr>
              <a:t>Exact keyword search misses variations in legal wording.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691640"/>
            <a:ext cx="34747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Ins="274320" rtlCol="0" anchor="ctr"/>
          <a:lstStyle/>
          <a:p>
            <a:pPr algn="ctr">
              <a:defRPr sz="2400" b="1">
                <a:solidFill>
                  <a:srgbClr val="1E3A8A"/>
                </a:solidFill>
                <a:latin typeface="Trebuchet MS"/>
              </a:defRPr>
            </a:pPr>
            <a:r>
              <a:rPr dirty="0"/>
              <a:t>CLASSIFICATION CHALLENGE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sz="2000" dirty="0">
                <a:solidFill>
                  <a:schemeClr val="tx1"/>
                </a:solidFill>
              </a:rPr>
              <a:t>41 legal clause categories are highly imbalanced</a:t>
            </a:r>
            <a:r>
              <a:rPr sz="2000"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212080"/>
            <a:ext cx="11091672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0" rtlCol="0" anchor="ctr"/>
          <a:lstStyle/>
          <a:p>
            <a:pPr algn="ctr">
              <a:defRPr sz="2200" b="1">
                <a:solidFill>
                  <a:srgbClr val="1E3A8A"/>
                </a:solidFill>
                <a:latin typeface="Trebuchet MS"/>
              </a:defRPr>
            </a:pPr>
            <a:r>
              <a:t>GOAL: Automatically classify contract clauses and retrieve relevant clauses using classical ML.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28600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SCOPE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Trebuchet MS"/>
              </a:defRPr>
            </a:pPr>
            <a:r>
              <a:t>PROJECT OBJECTIVES &amp; CURRENT SCOPE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Deliverables Planned vs. Actually Completed at Interim Milestone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39496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Ins="320040" rtlCol="0" anchor="ctr"/>
          <a:lstStyle/>
          <a:p>
            <a:pPr algn="ctr">
              <a:defRPr sz="2600" b="1">
                <a:solidFill>
                  <a:srgbClr val="1E3A8A"/>
                </a:solidFill>
                <a:latin typeface="Trebuchet MS"/>
              </a:defRPr>
            </a:pPr>
            <a:r>
              <a:rPr dirty="0"/>
              <a:t>OBJECTIVES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sz="2400" dirty="0">
                <a:solidFill>
                  <a:schemeClr val="tx1"/>
                </a:solidFill>
              </a:rPr>
              <a:t>1. Classify clauses into 41 categories</a:t>
            </a:r>
          </a:p>
          <a:p>
            <a:br>
              <a:rPr sz="2400" dirty="0">
                <a:solidFill>
                  <a:schemeClr val="tx1"/>
                </a:solidFill>
              </a:rPr>
            </a:br>
            <a:r>
              <a:rPr sz="2400" dirty="0">
                <a:solidFill>
                  <a:schemeClr val="tx1"/>
                </a:solidFill>
              </a:rPr>
              <a:t>2. Build TF-IDF based clause search</a:t>
            </a:r>
          </a:p>
          <a:p>
            <a:br>
              <a:rPr sz="2400" dirty="0">
                <a:solidFill>
                  <a:schemeClr val="tx1"/>
                </a:solidFill>
              </a:rPr>
            </a:br>
            <a:r>
              <a:rPr sz="2400" dirty="0">
                <a:solidFill>
                  <a:schemeClr val="tx1"/>
                </a:solidFill>
              </a:rPr>
              <a:t>3. Evaluate multiple ML 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394960" cy="44348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Ins="320040" rtlCol="0" anchor="ctr"/>
          <a:lstStyle/>
          <a:p>
            <a:pPr algn="ctr">
              <a:defRPr sz="2600" b="1">
                <a:solidFill>
                  <a:srgbClr val="059669"/>
                </a:solidFill>
                <a:latin typeface="Trebuchet MS"/>
              </a:defRPr>
            </a:pPr>
            <a:r>
              <a:t>CURRENTLY COMPLETED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✓  Dataset + preprocessing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✓  TF-IDF feature extraction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✓  4 ML models trained &amp; tuned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✓  Model evaluation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✓  Model selection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✓  Search prototype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✓  FastAPI prototype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28600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Trebuchet MS"/>
              </a:defRPr>
            </a:pPr>
            <a:r>
              <a:t>DATASET SPECIFICATIONS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CUAD-Derived Legal Contract Clause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6060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0" rtlCol="0" anchor="ctr"/>
          <a:lstStyle/>
          <a:p>
            <a:pPr algn="ctr">
              <a:defRPr sz="4600" b="1">
                <a:solidFill>
                  <a:srgbClr val="2563EB"/>
                </a:solidFill>
                <a:latin typeface="Trebuchet MS"/>
              </a:defRPr>
            </a:pPr>
            <a:r>
              <a:t>510</a:t>
            </a:r>
          </a:p>
          <a:p>
            <a:pPr algn="ctr"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CONTRACTS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783080"/>
            <a:ext cx="26060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0" rtlCol="0" anchor="ctr"/>
          <a:lstStyle/>
          <a:p>
            <a:pPr algn="ctr">
              <a:defRPr sz="4600" b="1">
                <a:solidFill>
                  <a:srgbClr val="1E3A8A"/>
                </a:solidFill>
                <a:latin typeface="Trebuchet MS"/>
              </a:defRPr>
            </a:pPr>
            <a:r>
              <a:t>12,204</a:t>
            </a:r>
          </a:p>
          <a:p>
            <a:pPr algn="ctr"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CLAUSE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26060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0" rtlCol="0" anchor="ctr"/>
          <a:lstStyle/>
          <a:p>
            <a:pPr algn="ctr">
              <a:defRPr sz="4600" b="1">
                <a:solidFill>
                  <a:srgbClr val="059669"/>
                </a:solidFill>
                <a:latin typeface="Trebuchet MS"/>
              </a:defRPr>
            </a:pPr>
            <a:r>
              <a:t>41</a:t>
            </a:r>
          </a:p>
          <a:p>
            <a:pPr algn="ctr"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CLAUSE CATEGORIES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783080"/>
            <a:ext cx="26060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0" rtlCol="0" anchor="ctr"/>
          <a:lstStyle/>
          <a:p>
            <a:pPr algn="ctr">
              <a:defRPr sz="4600" b="1">
                <a:solidFill>
                  <a:srgbClr val="D97706"/>
                </a:solidFill>
                <a:latin typeface="Trebuchet MS"/>
              </a:defRPr>
            </a:pPr>
            <a:r>
              <a:t>3</a:t>
            </a:r>
          </a:p>
          <a:p>
            <a:pPr algn="ctr"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CORE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34840"/>
            <a:ext cx="11091672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28600" rtlCol="0" anchor="ctr"/>
          <a:lstStyle/>
          <a:p>
            <a:pPr algn="ctr">
              <a:defRPr sz="2200" b="1">
                <a:solidFill>
                  <a:srgbClr val="1E3A8A"/>
                </a:solidFill>
                <a:latin typeface="Trebuchet MS"/>
              </a:defRPr>
            </a:pPr>
            <a:r>
              <a:t>DATASET ATTRIBUTES</a:t>
            </a:r>
          </a:p>
          <a:p>
            <a:pPr algn="ctr">
              <a:defRPr sz="2600" b="1">
                <a:solidFill>
                  <a:srgbClr val="0F172A"/>
                </a:solidFill>
                <a:latin typeface="Consolas"/>
              </a:defRPr>
            </a:pPr>
            <a:r>
              <a:t>contract_id    |    clause_text    |    category</a:t>
            </a:r>
          </a:p>
          <a:p>
            <a:pPr algn="ctr">
              <a:defRPr sz="1900">
                <a:solidFill>
                  <a:srgbClr val="64748B"/>
                </a:solidFill>
                <a:latin typeface="Calibri"/>
              </a:defRPr>
            </a:pPr>
            <a:r>
              <a:t>100% Complete:  0 missing values  •  0 empty strings  •  0 duplicate rows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28600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DATA PROFILING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Trebuchet MS"/>
              </a:defRPr>
            </a:pPr>
            <a:r>
              <a:t>EXPLORATORY DATA ANALYSIS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Corpus Distribution and Severe Class Imbalance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00784"/>
            <a:ext cx="502920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74320" rIns="320040" rtlCol="0" anchor="ctr"/>
          <a:lstStyle/>
          <a:p>
            <a:pPr algn="ctr">
              <a:defRPr sz="2400" b="1">
                <a:solidFill>
                  <a:srgbClr val="1E3A8A"/>
                </a:solidFill>
                <a:latin typeface="Trebuchet MS"/>
              </a:defRPr>
            </a:pPr>
            <a:r>
              <a:rPr dirty="0"/>
              <a:t>CLASS IMBALANCE</a:t>
            </a:r>
          </a:p>
          <a:p>
            <a:br>
              <a:rPr dirty="0"/>
            </a:br>
            <a:r>
              <a:rPr dirty="0"/>
              <a:t>Largest Category:</a:t>
            </a:r>
            <a:br>
              <a:rPr dirty="0"/>
            </a:br>
            <a:r>
              <a:rPr dirty="0"/>
              <a:t>Parties — 1,251</a:t>
            </a:r>
          </a:p>
          <a:p>
            <a:br>
              <a:rPr dirty="0"/>
            </a:br>
            <a:r>
              <a:rPr dirty="0"/>
              <a:t>Smallest Category:</a:t>
            </a:r>
            <a:br>
              <a:rPr dirty="0"/>
            </a:br>
            <a:r>
              <a:rPr dirty="0"/>
              <a:t>Price Restrictions — 27</a:t>
            </a:r>
          </a:p>
          <a:p>
            <a:br>
              <a:rPr dirty="0"/>
            </a:br>
            <a:r>
              <a:rPr dirty="0"/>
              <a:t>Imbalance Ratio:</a:t>
            </a:r>
          </a:p>
          <a:p>
            <a:pPr>
              <a:defRPr sz="4400" b="1">
                <a:solidFill>
                  <a:srgbClr val="DC2626"/>
                </a:solidFill>
                <a:latin typeface="Trebuchet MS"/>
              </a:defRPr>
            </a:pPr>
            <a:r>
              <a:rPr dirty="0"/>
              <a:t>46.33 :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8848" y="4937760"/>
            <a:ext cx="4663440" cy="7315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059669"/>
                </a:solidFill>
                <a:latin typeface="Calibri"/>
              </a:defRPr>
            </a:pPr>
            <a:r>
              <a:rPr dirty="0"/>
              <a:t>Macro-F1 is more informative than Accuracy for this dataset.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691640"/>
            <a:ext cx="5788152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783080"/>
            <a:ext cx="5513832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28600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Trebuchet MS"/>
              </a:defRPr>
            </a:pPr>
            <a:r>
              <a:t>DATA PREPROCESSING PIPELINE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Standardized Text Normalization for Legal Terminology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691640" cy="1280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0" rtlCol="0" anchor="ctr"/>
          <a:lstStyle/>
          <a:p>
            <a:pPr algn="ctr">
              <a:defRPr sz="1800" b="1">
                <a:solidFill>
                  <a:srgbClr val="1E3A8A"/>
                </a:solidFill>
                <a:latin typeface="Trebuchet MS"/>
              </a:defRPr>
            </a:pPr>
            <a:r>
              <a:t>RAW CLAUSE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1783080"/>
            <a:ext cx="1691640" cy="1280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0" rtlCol="0" anchor="ctr"/>
          <a:lstStyle/>
          <a:p>
            <a:pPr algn="ctr">
              <a:defRPr sz="1800" b="1">
                <a:solidFill>
                  <a:srgbClr val="1E3A8A"/>
                </a:solidFill>
                <a:latin typeface="Trebuchet MS"/>
              </a:defRPr>
            </a:pPr>
            <a:r>
              <a:t>LOWERCASE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783080"/>
            <a:ext cx="1691640" cy="1280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0" rtlCol="0" anchor="ctr"/>
          <a:lstStyle/>
          <a:p>
            <a:pPr algn="ctr">
              <a:defRPr sz="1800" b="1">
                <a:solidFill>
                  <a:srgbClr val="1E3A8A"/>
                </a:solidFill>
                <a:latin typeface="Trebuchet MS"/>
              </a:defRPr>
            </a:pPr>
            <a:r>
              <a:t>REMOVE URL/EMAIL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199" y="1783080"/>
            <a:ext cx="1691640" cy="1280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0" rtlCol="0" anchor="ctr"/>
          <a:lstStyle/>
          <a:p>
            <a:pPr algn="ctr">
              <a:defRPr sz="1800" b="1">
                <a:solidFill>
                  <a:srgbClr val="1E3A8A"/>
                </a:solidFill>
                <a:latin typeface="Trebuchet MS"/>
              </a:defRPr>
            </a:pPr>
            <a:r>
              <a:t>CLEAN NOISE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783080"/>
            <a:ext cx="1691640" cy="1280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0" rtlCol="0" anchor="ctr"/>
          <a:lstStyle/>
          <a:p>
            <a:pPr algn="ctr">
              <a:defRPr sz="1800" b="1">
                <a:solidFill>
                  <a:srgbClr val="1E3A8A"/>
                </a:solidFill>
                <a:latin typeface="Trebuchet MS"/>
              </a:defRPr>
            </a:pPr>
            <a:r>
              <a:t>NORMALIZE SPACES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21240" y="1783080"/>
            <a:ext cx="1691640" cy="1280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0" rtlCol="0" anchor="ctr"/>
          <a:lstStyle/>
          <a:p>
            <a:pPr algn="ctr">
              <a:defRPr sz="1800" b="1">
                <a:solidFill>
                  <a:srgbClr val="1E3A8A"/>
                </a:solidFill>
                <a:latin typeface="Trebuchet MS"/>
              </a:defRPr>
            </a:pPr>
            <a:r>
              <a:t>CLEAN 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11091672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74320" rIns="365760" rtlCol="0" anchor="ctr"/>
          <a:lstStyle/>
          <a:p>
            <a:pPr algn="ctr">
              <a:defRPr sz="2400" b="1">
                <a:solidFill>
                  <a:srgbClr val="1E3A8A"/>
                </a:solidFill>
                <a:latin typeface="Trebuchet MS"/>
              </a:defRPr>
            </a:pPr>
            <a:r>
              <a:t>TEXT TRANSFORMATION EXAMPLE</a:t>
            </a:r>
          </a:p>
          <a:p>
            <a:br/>
            <a:r>
              <a:t>Before:</a:t>
            </a:r>
            <a:br/>
            <a:r>
              <a:t>"This AGREEMENT shall be governed by Delaware! Contact legal@clauseiq.com or https://..."</a:t>
            </a:r>
          </a:p>
          <a:p>
            <a:br/>
            <a:r>
              <a:t>After:</a:t>
            </a:r>
            <a:br/>
            <a:r>
              <a:t>"this agreement shall be governed by delaware contact for terms"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28600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FEATURE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Trebuchet MS"/>
              </a:defRPr>
            </a:pPr>
            <a:r>
              <a:t>TF-IDF FEATURE ENGINEERING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Sparse Vector Space Configuration &amp; Anti-Leakage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0574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20040" rtlCol="0" anchor="ctr"/>
          <a:lstStyle/>
          <a:p>
            <a:pPr algn="ctr">
              <a:defRPr sz="3800" b="1">
                <a:solidFill>
                  <a:srgbClr val="1E3A8A"/>
                </a:solidFill>
                <a:latin typeface="Trebuchet MS"/>
              </a:defRPr>
            </a:pPr>
            <a:r>
              <a:t>10,000</a:t>
            </a:r>
          </a:p>
          <a:p>
            <a:pPr algn="ctr">
              <a:defRPr sz="2000" b="1">
                <a:solidFill>
                  <a:srgbClr val="0F172A"/>
                </a:solidFill>
                <a:latin typeface="Trebuchet MS"/>
              </a:defRPr>
            </a:pPr>
            <a:r>
              <a:t>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07208" y="1783080"/>
            <a:ext cx="20574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20040" rtlCol="0" anchor="ctr"/>
          <a:lstStyle/>
          <a:p>
            <a:pPr algn="ctr">
              <a:defRPr sz="3800" b="1">
                <a:solidFill>
                  <a:srgbClr val="2563EB"/>
                </a:solidFill>
                <a:latin typeface="Trebuchet MS"/>
              </a:defRPr>
            </a:pPr>
            <a:r>
              <a:t>(1, 2)</a:t>
            </a:r>
          </a:p>
          <a:p>
            <a:pPr algn="ctr">
              <a:defRPr sz="2000" b="1">
                <a:solidFill>
                  <a:srgbClr val="0F172A"/>
                </a:solidFill>
                <a:latin typeface="Trebuchet MS"/>
              </a:defRPr>
            </a:pPr>
            <a:r>
              <a:t>N-GRAMS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5776" y="1783080"/>
            <a:ext cx="20574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20040" rtlCol="0" anchor="ctr"/>
          <a:lstStyle/>
          <a:p>
            <a:pPr algn="ctr">
              <a:defRPr sz="3800" b="1">
                <a:solidFill>
                  <a:srgbClr val="059669"/>
                </a:solidFill>
                <a:latin typeface="Trebuchet MS"/>
              </a:defRPr>
            </a:pPr>
            <a:r>
              <a:t>TRUE</a:t>
            </a:r>
          </a:p>
          <a:p>
            <a:pPr algn="ctr">
              <a:defRPr sz="2000" b="1">
                <a:solidFill>
                  <a:srgbClr val="0F172A"/>
                </a:solidFill>
                <a:latin typeface="Trebuchet MS"/>
              </a:defRPr>
            </a:pPr>
            <a:r>
              <a:t>SUBLINEAR TF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24344" y="1783080"/>
            <a:ext cx="20574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20040" rtlCol="0" anchor="ctr"/>
          <a:lstStyle/>
          <a:p>
            <a:pPr algn="ctr">
              <a:defRPr sz="3800" b="1">
                <a:solidFill>
                  <a:srgbClr val="D97706"/>
                </a:solidFill>
                <a:latin typeface="Trebuchet MS"/>
              </a:defRPr>
            </a:pPr>
            <a:r>
              <a:t>2</a:t>
            </a:r>
          </a:p>
          <a:p>
            <a:pPr algn="ctr">
              <a:defRPr sz="2000" b="1">
                <a:solidFill>
                  <a:srgbClr val="0F172A"/>
                </a:solidFill>
                <a:latin typeface="Trebuchet MS"/>
              </a:defRPr>
            </a:pPr>
            <a:r>
              <a:t>MIN DF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2912" y="1783080"/>
            <a:ext cx="20574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20040" rtlCol="0" anchor="ctr"/>
          <a:lstStyle/>
          <a:p>
            <a:pPr algn="ctr">
              <a:defRPr sz="3800" b="1">
                <a:solidFill>
                  <a:srgbClr val="7C3AED"/>
                </a:solidFill>
                <a:latin typeface="Trebuchet MS"/>
              </a:defRPr>
            </a:pPr>
            <a:r>
              <a:t>0.95</a:t>
            </a:r>
          </a:p>
          <a:p>
            <a:pPr algn="ctr">
              <a:defRPr sz="2000" b="1">
                <a:solidFill>
                  <a:srgbClr val="0F172A"/>
                </a:solidFill>
                <a:latin typeface="Trebuchet MS"/>
              </a:defRPr>
            </a:pPr>
            <a:r>
              <a:t>MAX 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69080"/>
            <a:ext cx="11091672" cy="20574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0" rtlCol="0" anchor="ctr"/>
          <a:lstStyle/>
          <a:p>
            <a:pPr algn="ctr">
              <a:defRPr sz="2400" b="1">
                <a:solidFill>
                  <a:srgbClr val="1E3A8A"/>
                </a:solidFill>
                <a:latin typeface="Trebuchet MS"/>
              </a:defRPr>
            </a:pPr>
            <a:r>
              <a:rPr dirty="0"/>
              <a:t>TRAIN TEXT   →   FIT TF-IDF   →   TEST TEXT   →   TRANSFORM</a:t>
            </a:r>
          </a:p>
          <a:p>
            <a:br>
              <a:rPr dirty="0"/>
            </a:br>
            <a:r>
              <a:rPr dirty="0">
                <a:solidFill>
                  <a:schemeClr val="tx1"/>
                </a:solidFill>
              </a:rPr>
              <a:t>Vocabulary fitted only on training data to prevent data leakage.</a:t>
            </a:r>
          </a:p>
          <a:p>
            <a:pPr algn="ctr">
              <a:defRPr sz="1900">
                <a:solidFill>
                  <a:srgbClr val="1E293B"/>
                </a:solidFill>
                <a:latin typeface="Calibri"/>
              </a:defRPr>
            </a:pPr>
            <a:r>
              <a:rPr dirty="0"/>
              <a:t>Unigrams + Bigrams capture compound legal collocations ('governing law', 'audit rights').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28600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DATA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Trebuchet MS"/>
              </a:defRPr>
            </a:pPr>
            <a:r>
              <a:t>DATASET PARTITIONING STRATEGY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Stratified 80/20 Clause-Level Partition Preserving 41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03904" y="1691640"/>
            <a:ext cx="45720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0" rtlCol="0" anchor="ctr"/>
          <a:lstStyle/>
          <a:p>
            <a:pPr algn="ctr">
              <a:defRPr sz="2600" b="1">
                <a:solidFill>
                  <a:srgbClr val="1E3A8A"/>
                </a:solidFill>
                <a:latin typeface="Trebuchet MS"/>
              </a:defRPr>
            </a:pPr>
            <a:r>
              <a:t>12,204 TOTAL CLAUSES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03904" y="2926080"/>
            <a:ext cx="4572000" cy="7772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2563EB"/>
                </a:solidFill>
                <a:latin typeface="Trebuchet MS"/>
              </a:defRPr>
            </a:pPr>
            <a:r>
              <a:t>80 / 20 STRATIFIED SPLIT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886200"/>
            <a:ext cx="43891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28600" rtlCol="0" anchor="ctr"/>
          <a:lstStyle/>
          <a:p>
            <a:pPr algn="ctr">
              <a:defRPr sz="4400" b="1">
                <a:solidFill>
                  <a:srgbClr val="1E3A8A"/>
                </a:solidFill>
                <a:latin typeface="Trebuchet MS"/>
              </a:defRPr>
            </a:pPr>
            <a:r>
              <a:t>9,763</a:t>
            </a:r>
          </a:p>
          <a:p>
            <a:pPr algn="ctr">
              <a:defRPr sz="2000" b="1">
                <a:solidFill>
                  <a:srgbClr val="1E293B"/>
                </a:solidFill>
                <a:latin typeface="Trebuchet MS"/>
              </a:defRPr>
            </a:pPr>
            <a:r>
              <a:t>TRAIN SAMPLES (80%)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28232" y="3886200"/>
            <a:ext cx="4389120" cy="15087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28600" rtlCol="0" anchor="ctr"/>
          <a:lstStyle/>
          <a:p>
            <a:pPr algn="ctr">
              <a:defRPr sz="4400" b="1">
                <a:solidFill>
                  <a:srgbClr val="059669"/>
                </a:solidFill>
                <a:latin typeface="Trebuchet MS"/>
              </a:defRPr>
            </a:pPr>
            <a:r>
              <a:t>2,441</a:t>
            </a:r>
          </a:p>
          <a:p>
            <a:pPr algn="ctr">
              <a:defRPr sz="2000" b="1">
                <a:solidFill>
                  <a:srgbClr val="0F172A"/>
                </a:solidFill>
                <a:latin typeface="Trebuchet MS"/>
              </a:defRPr>
            </a:pPr>
            <a:r>
              <a:t>TEST SAMPLES (20%)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577840"/>
            <a:ext cx="11091672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1E3A8A"/>
                </a:solidFill>
                <a:latin typeface="Calibri"/>
              </a:defRPr>
            </a:pPr>
            <a:r>
              <a:t>41 classes preserved  •  random_state = 42  •  Clause-level split — NOT contract-level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28600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Trebuchet MS"/>
              </a:defRPr>
            </a:pPr>
            <a:r>
              <a:t>FOUR MACHINE LEARNING MODELS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Candidate Architectures for High-Dimensional Sparse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60604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20040" rIns="182880" rtlCol="0" anchor="ctr"/>
          <a:lstStyle/>
          <a:p>
            <a:pPr algn="ctr">
              <a:defRPr sz="2200" b="1">
                <a:solidFill>
                  <a:srgbClr val="1E3A8A"/>
                </a:solidFill>
                <a:latin typeface="Trebuchet MS"/>
              </a:defRPr>
            </a:pPr>
            <a:r>
              <a:t>LOGISTIC REGRESSION</a:t>
            </a:r>
          </a:p>
          <a:p>
            <a:br/>
            <a:r>
              <a:t>Linear classifier</a:t>
            </a:r>
          </a:p>
          <a:p>
            <a:br/>
            <a:r>
              <a:t>Softmax decision surface with L2 regularization.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783080"/>
            <a:ext cx="260604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20040" rIns="182880" rtlCol="0" anchor="ctr"/>
          <a:lstStyle/>
          <a:p>
            <a:pPr algn="ctr">
              <a:defRPr sz="2200" b="1">
                <a:solidFill>
                  <a:srgbClr val="1E3A8A"/>
                </a:solidFill>
                <a:latin typeface="Trebuchet MS"/>
              </a:defRPr>
            </a:pPr>
            <a:r>
              <a:t>LINEAR SVM</a:t>
            </a:r>
          </a:p>
          <a:p>
            <a:br/>
            <a:r>
              <a:t>Maximum-margin classifier</a:t>
            </a:r>
          </a:p>
          <a:p>
            <a:br/>
            <a:r>
              <a:t>Separating hyperplane optimized for sparse 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260604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20040" rIns="182880" rtlCol="0" anchor="ctr"/>
          <a:lstStyle/>
          <a:p>
            <a:pPr algn="ctr">
              <a:defRPr sz="2200" b="1">
                <a:solidFill>
                  <a:srgbClr val="1E3A8A"/>
                </a:solidFill>
                <a:latin typeface="Trebuchet MS"/>
              </a:defRPr>
            </a:pPr>
            <a:r>
              <a:t>NAIVE BAYES</a:t>
            </a:r>
          </a:p>
          <a:p>
            <a:br/>
            <a:r>
              <a:t>Probabilistic baseline</a:t>
            </a:r>
          </a:p>
          <a:p>
            <a:br/>
            <a:r>
              <a:t>Fast generative word frequency baseline.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783080"/>
            <a:ext cx="260604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20040" rIns="182880" rtlCol="0" anchor="ctr"/>
          <a:lstStyle/>
          <a:p>
            <a:pPr algn="ctr">
              <a:defRPr sz="2200" b="1">
                <a:solidFill>
                  <a:srgbClr val="1E3A8A"/>
                </a:solidFill>
                <a:latin typeface="Trebuchet MS"/>
              </a:defRPr>
            </a:pPr>
            <a:r>
              <a:t>RANDOM FOREST</a:t>
            </a:r>
          </a:p>
          <a:p>
            <a:br/>
            <a:r>
              <a:t>Tree ensemble</a:t>
            </a:r>
          </a:p>
          <a:p>
            <a:br/>
            <a:r>
              <a:t>Decision tree ensemble evaluating non-linear bagging.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303520"/>
            <a:ext cx="11091672" cy="8686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1E3A8A"/>
                </a:solidFill>
                <a:latin typeface="Trebuchet MS"/>
              </a:defRPr>
            </a:pPr>
            <a:r>
              <a:t>Same TF-IDF Features   •   Same Training Set   •   Same Held-Out Test Set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28600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Trebuchet MS"/>
              </a:defRPr>
            </a:pPr>
            <a:r>
              <a:t>TRAINING &amp; HYPERPARAMETER TUNING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Systematic Cross-Validation Results from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83080"/>
          <a:ext cx="1109167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l">
                        <a:defRPr sz="22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BEST PARAMETER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Naive Bayes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GridSearchCV (5-Fold)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alpha = 0.01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RandomizedSearchCV (3-Fold)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200 trees, max_depth = 50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Linear SVM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GridSearchCV (3-Fold)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 = 0.1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Logistic Regression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L2 Regularization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 = 1.0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11091672" cy="8686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059669"/>
                </a:solidFill>
                <a:latin typeface="Trebuchet MS"/>
              </a:defRPr>
            </a:pPr>
            <a:r>
              <a:t>Optimization Metric: Macro-F1 (Balances evaluation across all 41 categories)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28600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SOURCE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Trebuchet MS"/>
              </a:defRPr>
            </a:pPr>
            <a:r>
              <a:t>IMPLEMENTATION CODE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Verified Pipeline Logic from Repository (src/train_baseline.py)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1091672" cy="3703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74320" rIns="320040" rtlCol="0" anchor="ctr"/>
          <a:lstStyle/>
          <a:p>
            <a:pPr algn="ctr">
              <a:defRPr sz="2000">
                <a:solidFill>
                  <a:srgbClr val="F1F5F9"/>
                </a:solidFill>
                <a:latin typeface="Consolas"/>
              </a:defRPr>
            </a:pPr>
            <a:r>
              <a:t># TF-IDF Feature Extraction</a:t>
            </a:r>
            <a:br/>
            <a:r>
              <a:t>vectorizer = TfidfVectorizer(max_features=10000, ngram_range=(1, 2))</a:t>
            </a:r>
            <a:br/>
            <a:r>
              <a:t>X_train = vectorizer.fit_transform(X_train_text)</a:t>
            </a:r>
            <a:br/>
            <a:r>
              <a:t>X_test  = vectorizer.transform(X_test_text)</a:t>
            </a:r>
            <a:br/>
            <a:br/>
            <a:r>
              <a:t># Model Training with Balanced Weights</a:t>
            </a:r>
            <a:br/>
            <a:r>
              <a:t>clf = LogisticRegression(max_iter=1000, class_weight="balanced")</a:t>
            </a:r>
            <a:br/>
            <a:r>
              <a:t>clf.fit(X_train, y_train)</a:t>
            </a:r>
            <a:br/>
            <a:br/>
            <a:r>
              <a:t># Inference on Held-Out Test Set (N=2,441)</a:t>
            </a:r>
            <a:br/>
            <a:r>
              <a:t>y_pred = clf.predict(X_test)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532120"/>
            <a:ext cx="11091672" cy="6858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1E3A8A"/>
                </a:solidFill>
                <a:latin typeface="Trebuchet MS"/>
              </a:defRPr>
            </a:pPr>
            <a:r>
              <a:t>DATA   →   TF-IDF   →   MODEL   →   PREDICTION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28600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Trebuchet MS"/>
              </a:defRPr>
            </a:pPr>
            <a:r>
              <a:t>MODEL EVALUATION RESULTS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Held-Out Test Set Benchmark (N = 2,441, 41 Classes)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11091672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6656">
                <a:tc>
                  <a:txBody>
                    <a:bodyPr/>
                    <a:lstStyle/>
                    <a:p>
                      <a:pPr algn="l">
                        <a:defRPr sz="22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Precision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Macro-F1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l">
                        <a:defRPr sz="22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Logistic Regression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71.90%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64.81%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66.22%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64.74%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l">
                        <a:defRPr sz="2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Linear SVM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72.63%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63.23%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66.65%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64.18%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l">
                        <a:defRPr sz="2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Naive Bayes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69.27%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60.24%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58.67%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58.53%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l">
                        <a:defRPr sz="2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65.46%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55.27%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59.04%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56.34%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11091672" cy="8686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1E3A8A"/>
                </a:solidFill>
                <a:latin typeface="Trebuchet MS"/>
              </a:defRPr>
            </a:pPr>
            <a:r>
              <a:t>TEST SET: 2,441 samples   |   41 classes   |   Primary Metric: Macro-F1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28600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Trebuchet MS"/>
              </a:defRPr>
            </a:pPr>
            <a:r>
              <a:t>MODEL COMPARISON VISUAL BENCHMARK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Accuracy vs. Macro-F1 across All Four Architectures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77724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83080"/>
            <a:ext cx="7498079" cy="4297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503920" y="1691640"/>
            <a:ext cx="3136392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20040" rIns="182880" rtlCol="0" anchor="ctr"/>
          <a:lstStyle/>
          <a:p>
            <a:pPr algn="ctr">
              <a:defRPr sz="2200" b="1">
                <a:solidFill>
                  <a:srgbClr val="1E3A8A"/>
                </a:solidFill>
                <a:latin typeface="Trebuchet MS"/>
              </a:defRPr>
            </a:pPr>
            <a:r>
              <a:t>KEY TAKEAWAYS</a:t>
            </a:r>
          </a:p>
          <a:p>
            <a:br/>
            <a:r>
              <a:t>SVM:</a:t>
            </a:r>
            <a:br/>
            <a:r>
              <a:t>Highest Accuracy</a:t>
            </a:r>
            <a:br/>
            <a:r>
              <a:t>72.63%</a:t>
            </a:r>
          </a:p>
          <a:p>
            <a:br/>
            <a:r>
              <a:t>Logistic Regression:</a:t>
            </a:r>
            <a:br/>
            <a:r>
              <a:t>Highest Macro-F1</a:t>
            </a:r>
            <a:br/>
            <a:r>
              <a:t>64.74%</a:t>
            </a:r>
          </a:p>
          <a:p>
            <a:br/>
            <a:r>
              <a:t>NB / RF:</a:t>
            </a:r>
            <a:br/>
            <a:r>
              <a:t>Lower Macro-F1</a:t>
            </a:r>
            <a:br/>
            <a:r>
              <a:t>(58.53% / 56.34%)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28600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Trebuchet MS"/>
              </a:defRPr>
            </a:pPr>
            <a:r>
              <a:t>MODEL SELECTION: WHY LOGISTIC REGRESSION?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Selection Decision Based on Primary Evaluation 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39496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74320" rIns="320040" rtlCol="0" anchor="ctr"/>
          <a:lstStyle/>
          <a:p>
            <a:pPr algn="ctr">
              <a:defRPr sz="2600" b="1">
                <a:solidFill>
                  <a:srgbClr val="1E3A8A"/>
                </a:solidFill>
                <a:latin typeface="Trebuchet MS"/>
              </a:defRPr>
            </a:pPr>
            <a:r>
              <a:t>LINEAR SVM</a:t>
            </a:r>
          </a:p>
          <a:p>
            <a:br/>
            <a:r>
              <a:t>Accuracy:   72.63%  (Highest Accuracy)</a:t>
            </a:r>
          </a:p>
          <a:p>
            <a:pPr>
              <a:defRPr sz="2200">
                <a:solidFill>
                  <a:srgbClr val="64748B"/>
                </a:solidFill>
                <a:latin typeface="Calibri"/>
              </a:defRPr>
            </a:pPr>
            <a:r>
              <a:t>Macro-F1:  64.18%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394960" cy="24231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74320" rIns="320040" rtlCol="0" anchor="ctr"/>
          <a:lstStyle/>
          <a:p>
            <a:pPr algn="ctr">
              <a:defRPr sz="2600" b="1">
                <a:solidFill>
                  <a:srgbClr val="059669"/>
                </a:solidFill>
                <a:latin typeface="Trebuchet MS"/>
              </a:defRPr>
            </a:pPr>
            <a:r>
              <a:rPr dirty="0"/>
              <a:t>LOGISTIC REGRESSION</a:t>
            </a:r>
          </a:p>
          <a:p>
            <a:br>
              <a:rPr dirty="0"/>
            </a:br>
            <a:r>
              <a:rPr dirty="0">
                <a:solidFill>
                  <a:schemeClr val="tx1"/>
                </a:solidFill>
              </a:rPr>
              <a:t>Accuracy:   71.90%</a:t>
            </a:r>
          </a:p>
          <a:p>
            <a:pPr>
              <a:defRPr sz="2200" b="1">
                <a:solidFill>
                  <a:srgbClr val="059669"/>
                </a:solidFill>
                <a:latin typeface="Calibri"/>
              </a:defRPr>
            </a:pPr>
            <a:r>
              <a:rPr dirty="0"/>
              <a:t>Macro-F1:  64.74%  (Highest Macro-F1)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343400"/>
            <a:ext cx="11091672" cy="18288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0" rtlCol="0" anchor="ctr"/>
          <a:lstStyle/>
          <a:p>
            <a:pPr algn="ctr">
              <a:defRPr sz="2400" b="1">
                <a:solidFill>
                  <a:srgbClr val="2563EB"/>
                </a:solidFill>
                <a:latin typeface="Trebuchet MS"/>
              </a:defRPr>
            </a:pPr>
            <a:r>
              <a:t>PRIMARY METRIC: MACRO-F1</a:t>
            </a:r>
          </a:p>
          <a:p>
            <a:pPr algn="ctr">
              <a:defRPr sz="3200" b="1">
                <a:solidFill>
                  <a:srgbClr val="1E3A8A"/>
                </a:solidFill>
                <a:latin typeface="Trebuchet MS"/>
              </a:defRPr>
            </a:pPr>
            <a:r>
              <a:t>SELECTED MODEL: LOGISTIC REGRESSION</a:t>
            </a:r>
          </a:p>
          <a:p>
            <a:pPr algn="ctr">
              <a:defRPr sz="2000">
                <a:solidFill>
                  <a:srgbClr val="1E293B"/>
                </a:solidFill>
                <a:latin typeface="Calibri"/>
              </a:defRPr>
            </a:pPr>
            <a:r>
              <a:t>Macro-F1 gives equal importance to all 41 classes regardless of sample frequency.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28600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PER-CLASS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Trebuchet MS"/>
              </a:defRPr>
            </a:pPr>
            <a:r>
              <a:t>CLASS-LEVEL PERFORMANCE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Representative Category Metrics from Logistic Regression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1109167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9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6388">
                <a:tc>
                  <a:txBody>
                    <a:bodyPr/>
                    <a:lstStyle/>
                    <a:p>
                      <a:pPr algn="l">
                        <a:defRPr sz="22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Precision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F1-Score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Governing Law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100.00%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96.74%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98.34%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Parties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97.19%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96.80%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96.99%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Insurance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97.25%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94.64%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95.93%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Cap On Liability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79.46%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65.93%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72.06%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Affiliate License-Licensee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21.95%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39.13%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28.12%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92"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Affiliate License-Licensor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11.11%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21.43%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14.63%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49240"/>
            <a:ext cx="11091672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1E3A8A"/>
                </a:solidFill>
                <a:latin typeface="Calibri"/>
              </a:defRPr>
            </a:pPr>
            <a:r>
              <a:t>Performance varies significantly across categories due to class imbalance and vocabulary overlap.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28600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Trebuchet MS"/>
              </a:defRPr>
            </a:pPr>
            <a:r>
              <a:t>CONFUSION MATRIX ANALYSIS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41 x 41 Error Analysis for Logistic Regression (Test N = 2,441)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7498079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logistic_regression_c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83080"/>
            <a:ext cx="7223760" cy="4297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0" y="1691640"/>
            <a:ext cx="3410712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defRPr sz="2400" b="1">
                <a:solidFill>
                  <a:srgbClr val="1E3A8A"/>
                </a:solidFill>
                <a:latin typeface="Trebuchet MS"/>
              </a:defRPr>
            </a:pPr>
            <a:r>
              <a:t>41 x 41 MATRIX</a:t>
            </a:r>
          </a:p>
          <a:p>
            <a:br/>
            <a:r>
              <a:t>• Rows = True Labels</a:t>
            </a:r>
            <a:br/>
            <a:r>
              <a:t>• Columns = Predicted</a:t>
            </a:r>
          </a:p>
          <a:p>
            <a:br/>
            <a:r>
              <a:t>• Diagonal = Correct</a:t>
            </a:r>
            <a:br/>
            <a:r>
              <a:t>• Off-diagonal = Errors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4709160"/>
            <a:ext cx="3136392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B45309"/>
                </a:solidFill>
                <a:latin typeface="Calibri"/>
              </a:defRPr>
            </a:pPr>
            <a:r>
              <a:t>Most errors occur between classes with similar legal wording (e.g., Licensee vs. Licensor).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28600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RETRIEVAL &amp;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Trebuchet MS"/>
              </a:defRPr>
            </a:pPr>
            <a:r>
              <a:t>SEARCH PROTOTYPE &amp; KEY FINDINGS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TF-IDF Semantic Retrieval Results and Core ML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39496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74320" rIns="320040" rtlCol="0" anchor="ctr"/>
          <a:lstStyle/>
          <a:p>
            <a:pPr algn="ctr">
              <a:defRPr sz="2600" b="1">
                <a:solidFill>
                  <a:srgbClr val="1E3A8A"/>
                </a:solidFill>
                <a:latin typeface="Trebuchet MS"/>
              </a:defRPr>
            </a:pPr>
            <a:r>
              <a:rPr dirty="0"/>
              <a:t>SEARCH PROTOTYPE</a:t>
            </a:r>
          </a:p>
          <a:p>
            <a:pPr>
              <a:defRPr sz="2200" b="1">
                <a:solidFill>
                  <a:srgbClr val="2563EB"/>
                </a:solidFill>
                <a:latin typeface="Calibri"/>
              </a:defRPr>
            </a:pPr>
            <a:r>
              <a:rPr dirty="0"/>
              <a:t>TF-IDF + Cosine Similarity</a:t>
            </a:r>
            <a:br>
              <a:rPr dirty="0"/>
            </a:br>
            <a:endParaRPr dirty="0"/>
          </a:p>
          <a:p>
            <a:pPr>
              <a:defRPr sz="2400" b="1">
                <a:solidFill>
                  <a:srgbClr val="059669"/>
                </a:solidFill>
                <a:latin typeface="Calibri"/>
              </a:defRPr>
            </a:pPr>
            <a:r>
              <a:rPr dirty="0"/>
              <a:t>• Precision@1 = 80%</a:t>
            </a:r>
            <a:br>
              <a:rPr dirty="0"/>
            </a:br>
            <a:r>
              <a:rPr dirty="0"/>
              <a:t>• Precision@5 = 88%</a:t>
            </a:r>
            <a:br>
              <a:rPr dirty="0"/>
            </a:br>
            <a:r>
              <a:rPr dirty="0"/>
              <a:t>• Precision@10 = 86%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745" y="5114624"/>
            <a:ext cx="4937760" cy="12344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Trebuchet MS"/>
              </a:defRPr>
            </a:pPr>
            <a:r>
              <a:rPr dirty="0"/>
              <a:t>BIGRAM ABLATION:</a:t>
            </a:r>
            <a:br>
              <a:rPr dirty="0"/>
            </a:br>
            <a:r>
              <a:rPr dirty="0"/>
              <a:t>Precision@1 drops 80% → 60% without bigrams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701987"/>
            <a:ext cx="539496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74320" rIns="320040" rtlCol="0" anchor="ctr"/>
          <a:lstStyle/>
          <a:p>
            <a:pPr algn="ctr">
              <a:defRPr sz="2600" b="1">
                <a:solidFill>
                  <a:srgbClr val="1E3A8A"/>
                </a:solidFill>
                <a:latin typeface="Trebuchet MS"/>
              </a:defRPr>
            </a:pPr>
            <a:r>
              <a:rPr dirty="0"/>
              <a:t>KEY FINDINGS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sz="2000" dirty="0">
                <a:solidFill>
                  <a:schemeClr val="tx1"/>
                </a:solidFill>
              </a:rPr>
              <a:t>✓  Linear models performed better on sparse TF-IDF features</a:t>
            </a:r>
          </a:p>
          <a:p>
            <a:br>
              <a:rPr sz="2000" dirty="0">
                <a:solidFill>
                  <a:schemeClr val="tx1"/>
                </a:solidFill>
              </a:rPr>
            </a:br>
            <a:r>
              <a:rPr sz="2000" dirty="0">
                <a:solidFill>
                  <a:schemeClr val="tx1"/>
                </a:solidFill>
              </a:rPr>
              <a:t>✓  Macro-F1 is essential for the imbalanced dataset</a:t>
            </a:r>
          </a:p>
          <a:p>
            <a:br>
              <a:rPr sz="2000" dirty="0">
                <a:solidFill>
                  <a:schemeClr val="tx1"/>
                </a:solidFill>
              </a:rPr>
            </a:br>
            <a:r>
              <a:rPr sz="2000" dirty="0">
                <a:solidFill>
                  <a:schemeClr val="tx1"/>
                </a:solidFill>
              </a:rPr>
              <a:t>✓  Similar legal vocabulary causes classification errors</a:t>
            </a:r>
          </a:p>
          <a:p>
            <a:br>
              <a:rPr sz="2000" dirty="0">
                <a:solidFill>
                  <a:schemeClr val="tx1"/>
                </a:solidFill>
              </a:rPr>
            </a:br>
            <a:r>
              <a:rPr sz="2000" dirty="0">
                <a:solidFill>
                  <a:schemeClr val="tx1"/>
                </a:solidFill>
              </a:rPr>
              <a:t>✓  Bigrams are critical for capturing legal collocations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28600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STATUS &amp;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Trebuchet MS"/>
              </a:defRPr>
            </a:pPr>
            <a:r>
              <a:t>CURRENT STATUS &amp; NEXT STEPS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Interim Completed Scope vs. Upcoming Final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394960" cy="44348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74320" rIns="320040" rtlCol="0" anchor="ctr"/>
          <a:lstStyle/>
          <a:p>
            <a:pPr algn="ctr">
              <a:defRPr sz="2600" b="1">
                <a:solidFill>
                  <a:srgbClr val="059669"/>
                </a:solidFill>
                <a:latin typeface="Trebuchet MS"/>
              </a:defRPr>
            </a:pPr>
            <a:r>
              <a:t>COMPLETED ✓</a:t>
            </a:r>
          </a:p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•  Dataset &amp; EDA</a:t>
            </a:r>
          </a:p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•  Preprocessing pipeline</a:t>
            </a:r>
          </a:p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•  TF-IDF feature space</a:t>
            </a:r>
          </a:p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•  4 ML models trained &amp; tuned</a:t>
            </a:r>
          </a:p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•  Model evaluation</a:t>
            </a:r>
          </a:p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•  Logistic Regression selected</a:t>
            </a:r>
          </a:p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•  Confusion matrix analysis</a:t>
            </a:r>
          </a:p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•  Search prototype + ablation</a:t>
            </a:r>
          </a:p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•  FastAPI prototype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7356" y="1691640"/>
            <a:ext cx="5394960" cy="4434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74320" rIns="320040" rtlCol="0" anchor="ctr"/>
          <a:lstStyle/>
          <a:p>
            <a:pPr algn="ctr">
              <a:defRPr sz="2600" b="1">
                <a:solidFill>
                  <a:srgbClr val="1E3A8A"/>
                </a:solidFill>
                <a:latin typeface="Trebuchet MS"/>
              </a:defRPr>
            </a:pPr>
            <a:r>
              <a:rPr dirty="0"/>
              <a:t>NEXT PHASE →</a:t>
            </a:r>
          </a:p>
          <a:p>
            <a:br>
              <a:rPr dirty="0"/>
            </a:br>
            <a:r>
              <a:rPr sz="2400" dirty="0">
                <a:solidFill>
                  <a:schemeClr val="tx1"/>
                </a:solidFill>
              </a:rPr>
              <a:t>•  </a:t>
            </a:r>
            <a:r>
              <a:rPr sz="2400" dirty="0" err="1">
                <a:solidFill>
                  <a:schemeClr val="tx1"/>
                </a:solidFill>
              </a:rPr>
              <a:t>Supabase</a:t>
            </a:r>
            <a:r>
              <a:rPr sz="2400" dirty="0">
                <a:solidFill>
                  <a:schemeClr val="tx1"/>
                </a:solidFill>
              </a:rPr>
              <a:t> integration</a:t>
            </a:r>
          </a:p>
          <a:p>
            <a:br>
              <a:rPr sz="2400" dirty="0">
                <a:solidFill>
                  <a:schemeClr val="tx1"/>
                </a:solidFill>
              </a:rPr>
            </a:br>
            <a:r>
              <a:rPr sz="2400" dirty="0">
                <a:solidFill>
                  <a:schemeClr val="tx1"/>
                </a:solidFill>
              </a:rPr>
              <a:t>•  React.js user interface</a:t>
            </a:r>
          </a:p>
          <a:p>
            <a:br>
              <a:rPr sz="2400" dirty="0">
                <a:solidFill>
                  <a:schemeClr val="tx1"/>
                </a:solidFill>
              </a:rPr>
            </a:br>
            <a:r>
              <a:rPr sz="2400" dirty="0">
                <a:solidFill>
                  <a:schemeClr val="tx1"/>
                </a:solidFill>
              </a:rPr>
              <a:t>•  End-to-end integration</a:t>
            </a:r>
          </a:p>
          <a:p>
            <a:br>
              <a:rPr sz="2400" dirty="0">
                <a:solidFill>
                  <a:schemeClr val="tx1"/>
                </a:solidFill>
              </a:rPr>
            </a:br>
            <a:r>
              <a:rPr sz="2400" dirty="0">
                <a:solidFill>
                  <a:schemeClr val="tx1"/>
                </a:solidFill>
              </a:rPr>
              <a:t>•  Cloud deployment</a:t>
            </a:r>
          </a:p>
          <a:p>
            <a:br>
              <a:rPr sz="2400" dirty="0">
                <a:solidFill>
                  <a:schemeClr val="tx1"/>
                </a:solidFill>
              </a:rPr>
            </a:br>
            <a:r>
              <a:rPr sz="2400" dirty="0">
                <a:solidFill>
                  <a:schemeClr val="tx1"/>
                </a:solidFill>
              </a:rPr>
              <a:t>•  Final validation &amp; testing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5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74320"/>
            <a:ext cx="11640312" cy="6309360"/>
          </a:xfrm>
          <a:prstGeom prst="rect">
            <a:avLst/>
          </a:prstGeom>
          <a:noFill/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591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Trebuchet MS"/>
              </a:defRPr>
            </a:pPr>
            <a:r>
              <a:t>THANK YOU</a:t>
            </a:r>
          </a:p>
          <a:p>
            <a:pPr algn="ctr">
              <a:defRPr sz="2800" b="1">
                <a:solidFill>
                  <a:srgbClr val="93C5FD"/>
                </a:solidFill>
                <a:latin typeface="Trebuchet MS"/>
              </a:defRPr>
            </a:pPr>
            <a:r>
              <a:t>Questions &amp;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32304" y="3931920"/>
            <a:ext cx="73152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Trebuchet MS"/>
              </a:defRPr>
            </a:pPr>
            <a:r>
              <a:t>ClauseIQ</a:t>
            </a:r>
          </a:p>
          <a:p>
            <a:pPr algn="ctr">
              <a:defRPr sz="2000">
                <a:solidFill>
                  <a:srgbClr val="CBD5E1"/>
                </a:solidFill>
                <a:latin typeface="Calibri"/>
              </a:defRPr>
            </a:pPr>
            <a:r>
              <a:t>Machine Learning-Based Contract Clause Classification</a:t>
            </a:r>
            <a:br/>
            <a:r>
              <a:t>and Intelligent Search System</a:t>
            </a:r>
          </a:p>
          <a:p>
            <a:pPr algn="ctr">
              <a:defRPr sz="1800">
                <a:solidFill>
                  <a:srgbClr val="94A3B8"/>
                </a:solidFill>
                <a:latin typeface="Calibri"/>
              </a:defRPr>
            </a:pPr>
            <a:r>
              <a:t>Mohammed Farhan K  |  MAC25MCA-2042  |  MACE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3278</Words>
  <Application>Microsoft Office PowerPoint</Application>
  <PresentationFormat>Widescreen</PresentationFormat>
  <Paragraphs>375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Farhan Kalady</cp:lastModifiedBy>
  <cp:revision>2</cp:revision>
  <dcterms:created xsi:type="dcterms:W3CDTF">2013-01-27T09:14:16Z</dcterms:created>
  <dcterms:modified xsi:type="dcterms:W3CDTF">2026-09-29T16:53:26Z</dcterms:modified>
  <cp:category/>
</cp:coreProperties>
</file>