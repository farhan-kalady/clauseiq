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to the final project presentation of ClauseIQ. This presentation covers all three sprints: Dataset preparation, Classical ML classification &amp; search, and full-stack integration with FastAPI, React, and Supabase.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2 introduces the fundamental problem. Manual legal contract review is slow, error-prone, and costly. ClauseIQ solves this using verifiable classical machine learning.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3 presents the CUAD v1 dataset. 12,204 labeled clauses across 41 classes from 510 contracts. We highlight the 46:1 imbalance ratio which guided our stratified split and balanced class weights.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4 shows our text cleaning pipeline implemented in src/text_cleaner.py. We normalize text while carefully retaining legal keywords like 'shall' and 'governed'.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5 covers feature extraction. We use 10,000 unigram and bigram features with sublinear term frequency. Training set has 9,763 clauses and test set has 2,441 clauses.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6 outlines the four classical ML classifiers evaluated in Sprint 2. All models were systematically tuned on training data using Stratified Cross-Validation.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7 shows the exact model comparison table. Logistic Regression achieved the highest Macro-F1 of 0.6474, beating Linear SVM, Naive Bayes, and Random Forest.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8 details why Logistic Regression was selected. It provides the highest Macro-F1 and true softmax probabilities, which allows the API to serve confidence scores and top-3 alternatives.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9 presents our search engine in src/search.py. It achieves 88% precision at 5 and executes in under 10ms over 12,204 clauses.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10 presents the final 4-tier architecture: React frontend, FastAPI backend, Classical ML core, and Supabase PostgreSQL.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11 reviews our five REST endpoints. All endpoints use Pydantic models for validation and are documented automatically in Swagger /docs.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12 explains our document pipeline. We do NOT classify entire contracts as one clause. Instead we extract text and split into individual clauses using PyMuPDF and our clause splitter.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13 reviews the database schema defined in database/schema.sql. We maintain contracts, clauses, classification logs, and search logs.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14 presents the React frontend. It features both a classification dashboard with probability meters and an interactive search portal with dynamic filtering.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15 illustrates both workflows from client interaction to model inference, database audit, and UI rendering.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16 highlights our testing. 41 out of 41 tests pass in 5.39 seconds. Zero regressions across Sprint 1, Sprint 2, and Sprint 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17 proves that our deployed model has not silently changed. Evaluation on the test split yields 100% identical numbers to Sprint 2. We also document real bugs fixed.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18 honestly identifies system limitations: single-label classification, dependence on vocabulary overlap, and plain-text PDF parsing.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19 introduces DocuMind AI as a future MCA Main Project concept. We clearly state this is future work and not part of the current ClauseIQ implementation.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20 concludes the presentation. All three sprints are complete and verified with 41 passing tests.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60152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60A5FA"/>
                </a:solidFill>
                <a:latin typeface="Trebuchet MS"/>
              </a:defRPr>
            </a:pPr>
            <a:r>
              <a:t>CLAUSEIQ</a:t>
            </a:r>
          </a:p>
          <a:p>
            <a:pPr>
              <a:spcBef>
                <a:spcPts val="1200"/>
              </a:spcBef>
              <a:defRPr sz="2800" b="1">
                <a:solidFill>
                  <a:srgbClr val="FFFFFF"/>
                </a:solidFill>
                <a:latin typeface="Trebuchet MS"/>
              </a:defRPr>
            </a:pPr>
            <a:r>
              <a:t>Machine Learning-Based Contract Clause Classification</a:t>
            </a:r>
            <a:br/>
            <a:r>
              <a:t>and Intelligent Search System</a:t>
            </a:r>
          </a:p>
          <a:p>
            <a:pPr>
              <a:spcBef>
                <a:spcPts val="2400"/>
              </a:spcBef>
              <a:defRPr sz="1800">
                <a:solidFill>
                  <a:srgbClr val="94A3B8"/>
                </a:solidFill>
                <a:latin typeface="Calibri"/>
              </a:defRPr>
            </a:pPr>
            <a:r>
              <a:t>MCA Mini Project — Final Project Presentation (Sprints 1, 2, &amp; 3)</a:t>
            </a:r>
          </a:p>
          <a:p>
            <a:pPr>
              <a:spcBef>
                <a:spcPts val="1600"/>
              </a:spcBef>
              <a:defRPr sz="1400">
                <a:solidFill>
                  <a:srgbClr val="64748B"/>
                </a:solidFill>
                <a:latin typeface="Calibri"/>
              </a:defRPr>
            </a:pPr>
            <a:r>
              <a:t>Department of Computer Applications | Mar Athanasius College of Engineering (MACE)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82880" y="182880"/>
            <a:ext cx="11823192" cy="6492240"/>
          </a:xfrm>
          <a:prstGeom prst="rect">
            <a:avLst/>
          </a:prstGeom>
          <a:noFill/>
          <a:ln w="1905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47472"/>
            <a:ext cx="2377440" cy="329184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2563EB"/>
                </a:solidFill>
                <a:latin typeface="Trebuchet MS"/>
              </a:defRPr>
            </a:pPr>
            <a:r>
              <a:t>SPRINT 1: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11091672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Trebuchet MS"/>
              </a:defRPr>
            </a:pPr>
            <a:r>
              <a:t>Problem Statement &amp; Industry Motivation</a:t>
            </a:r>
          </a:p>
          <a:p>
            <a:pPr>
              <a:defRPr sz="1600">
                <a:solidFill>
                  <a:srgbClr val="475569"/>
                </a:solidFill>
                <a:latin typeface="Calibri"/>
              </a:defRPr>
            </a:pPr>
            <a:r>
              <a:t>Why automated contract clause intelligence is critical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59436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Calibri"/>
              </a:defRPr>
            </a:pPr>
            <a:r>
              <a:t>ClauseIQ — Contract Clause Classification &amp; Intelligent Search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0" y="6446520"/>
            <a:ext cx="4782312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100">
                <a:solidFill>
                  <a:srgbClr val="64748B"/>
                </a:solidFill>
                <a:latin typeface="Calibri"/>
              </a:defRPr>
            </a:pPr>
            <a:r>
              <a:t>Dept. of Computer Applications, MACE | Slide 2 of 20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737360"/>
            <a:ext cx="512064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92024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E3A8A"/>
                </a:solidFill>
                <a:latin typeface="Trebuchet MS"/>
              </a:defRPr>
            </a:pPr>
            <a:r>
              <a:t>The Contract Review Challenge</a:t>
            </a:r>
          </a:p>
          <a:p>
            <a:pPr>
              <a:spcBef>
                <a:spcPts val="1000"/>
              </a:spcBef>
              <a:defRPr sz="1500">
                <a:solidFill>
                  <a:srgbClr val="1E293B"/>
                </a:solidFill>
              </a:defRPr>
            </a:pPr>
            <a:r>
              <a:t>• Commercial contracts span 30-100+ dense pages of legal text.</a:t>
            </a:r>
          </a:p>
          <a:p>
            <a:pPr>
              <a:spcBef>
                <a:spcPts val="1000"/>
              </a:spcBef>
              <a:defRPr sz="1500">
                <a:solidFill>
                  <a:srgbClr val="1E293B"/>
                </a:solidFill>
              </a:defRPr>
            </a:pPr>
            <a:r>
              <a:t>• Manual review requires 2-5 hours per contract by expensive counsel.</a:t>
            </a:r>
          </a:p>
          <a:p>
            <a:pPr>
              <a:spcBef>
                <a:spcPts val="1000"/>
              </a:spcBef>
              <a:defRPr sz="1500">
                <a:solidFill>
                  <a:srgbClr val="1E293B"/>
                </a:solidFill>
              </a:defRPr>
            </a:pPr>
            <a:r>
              <a:t>• Hidden legal liabilities (e.g. uncapped indemnification, strict non-competes).</a:t>
            </a:r>
          </a:p>
          <a:p>
            <a:pPr>
              <a:spcBef>
                <a:spcPts val="1000"/>
              </a:spcBef>
              <a:defRPr sz="1500">
                <a:solidFill>
                  <a:srgbClr val="1E293B"/>
                </a:solidFill>
              </a:defRPr>
            </a:pPr>
            <a:r>
              <a:t>• High human error rate in identifying critical compliance clauses.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737360"/>
            <a:ext cx="5120640" cy="438912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92024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2563EB"/>
                </a:solidFill>
                <a:latin typeface="Trebuchet MS"/>
              </a:defRPr>
            </a:pPr>
            <a:r>
              <a:t>The ClauseIQ Solution</a:t>
            </a:r>
          </a:p>
          <a:p>
            <a:pPr>
              <a:spcBef>
                <a:spcPts val="1000"/>
              </a:spcBef>
              <a:defRPr sz="1500">
                <a:solidFill>
                  <a:srgbClr val="1E293B"/>
                </a:solidFill>
              </a:defRPr>
            </a:pPr>
            <a:r>
              <a:t>✔ Automated 41-class CUAD legal clause categorization.</a:t>
            </a:r>
          </a:p>
          <a:p>
            <a:pPr>
              <a:spcBef>
                <a:spcPts val="1000"/>
              </a:spcBef>
              <a:defRPr sz="1500">
                <a:solidFill>
                  <a:srgbClr val="1E293B"/>
                </a:solidFill>
              </a:defRPr>
            </a:pPr>
            <a:r>
              <a:t>✔ Deterministic, verifiable Classical ML (Logistic Regression + TF-IDF).</a:t>
            </a:r>
          </a:p>
          <a:p>
            <a:pPr>
              <a:spcBef>
                <a:spcPts val="1000"/>
              </a:spcBef>
              <a:defRPr sz="1500">
                <a:solidFill>
                  <a:srgbClr val="1E293B"/>
                </a:solidFill>
              </a:defRPr>
            </a:pPr>
            <a:r>
              <a:t>✔ Sub-10ms mathematical vector search across 12,204 clauses.</a:t>
            </a:r>
          </a:p>
          <a:p>
            <a:pPr>
              <a:spcBef>
                <a:spcPts val="1000"/>
              </a:spcBef>
              <a:defRPr sz="1500">
                <a:solidFill>
                  <a:srgbClr val="1E293B"/>
                </a:solidFill>
              </a:defRPr>
            </a:pPr>
            <a:r>
              <a:t>✔ Strictly zero hallucination risk (No black-box LLMs / generative models).</a:t>
            </a:r>
          </a:p>
          <a:p>
            <a:pPr>
              <a:spcBef>
                <a:spcPts val="1000"/>
              </a:spcBef>
              <a:defRPr sz="1500">
                <a:solidFill>
                  <a:srgbClr val="1E293B"/>
                </a:solidFill>
              </a:defRPr>
            </a:pPr>
            <a:r>
              <a:t>✔ End-to-end full stack: React SPA + FastAPI + Supabase PostgreSQL.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82880" y="182880"/>
            <a:ext cx="11823192" cy="6492240"/>
          </a:xfrm>
          <a:prstGeom prst="rect">
            <a:avLst/>
          </a:prstGeom>
          <a:noFill/>
          <a:ln w="1905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47472"/>
            <a:ext cx="2377440" cy="329184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2563EB"/>
                </a:solidFill>
                <a:latin typeface="Trebuchet MS"/>
              </a:defRPr>
            </a:pPr>
            <a:r>
              <a:t>SPRINT 1: DATASET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11091672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Trebuchet MS"/>
              </a:defRPr>
            </a:pPr>
            <a:r>
              <a:t>CUAD v1 Dataset Benchmark</a:t>
            </a:r>
          </a:p>
          <a:p>
            <a:pPr>
              <a:defRPr sz="1600">
                <a:solidFill>
                  <a:srgbClr val="475569"/>
                </a:solidFill>
                <a:latin typeface="Calibri"/>
              </a:defRPr>
            </a:pPr>
            <a:r>
              <a:t>Comprehensive corpus of commercial legal agreements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59436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Calibri"/>
              </a:defRPr>
            </a:pPr>
            <a:r>
              <a:t>ClauseIQ — Contract Clause Classification &amp; Intelligent Search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0" y="6446520"/>
            <a:ext cx="4782312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100">
                <a:solidFill>
                  <a:srgbClr val="64748B"/>
                </a:solidFill>
                <a:latin typeface="Calibri"/>
              </a:defRPr>
            </a:pPr>
            <a:r>
              <a:t>Dept. of Computer Applications, MACE | Slide 3 of 20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737360"/>
            <a:ext cx="2514600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828800"/>
            <a:ext cx="233172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 b="1">
                <a:solidFill>
                  <a:srgbClr val="1E3A8A"/>
                </a:solidFill>
              </a:defRPr>
            </a:pPr>
            <a:r>
              <a:t>12,204</a:t>
            </a:r>
          </a:p>
          <a:p>
            <a:pPr algn="ctr">
              <a:defRPr sz="1300">
                <a:solidFill>
                  <a:srgbClr val="475569"/>
                </a:solidFill>
              </a:defRPr>
            </a:pPr>
            <a:r>
              <a:t>Total Legal Clauses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1737360"/>
            <a:ext cx="2514600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20440" y="1828800"/>
            <a:ext cx="233172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 b="1">
                <a:solidFill>
                  <a:srgbClr val="6D28D9"/>
                </a:solidFill>
              </a:defRPr>
            </a:pPr>
            <a:r>
              <a:t>41</a:t>
            </a:r>
          </a:p>
          <a:p>
            <a:pPr algn="ctr">
              <a:defRPr sz="1300">
                <a:solidFill>
                  <a:srgbClr val="475569"/>
                </a:solidFill>
              </a:defRPr>
            </a:pPr>
            <a:r>
              <a:t>Distinct Legal Categories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1737360"/>
            <a:ext cx="2514600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0" y="1828800"/>
            <a:ext cx="233172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 b="1">
                <a:solidFill>
                  <a:srgbClr val="2563EB"/>
                </a:solidFill>
              </a:defRPr>
            </a:pPr>
            <a:r>
              <a:t>510</a:t>
            </a:r>
          </a:p>
          <a:p>
            <a:pPr algn="ctr">
              <a:defRPr sz="1300">
                <a:solidFill>
                  <a:srgbClr val="475569"/>
                </a:solidFill>
              </a:defRPr>
            </a:pPr>
            <a:r>
              <a:t>Commercial Contracts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823960" y="1737360"/>
            <a:ext cx="2514600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15400" y="1828800"/>
            <a:ext cx="233172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 b="1">
                <a:solidFill>
                  <a:srgbClr val="D97706"/>
                </a:solidFill>
              </a:defRPr>
            </a:pPr>
            <a:r>
              <a:t>46.3 : 1</a:t>
            </a:r>
          </a:p>
          <a:p>
            <a:pPr algn="ctr">
              <a:defRPr sz="1300">
                <a:solidFill>
                  <a:srgbClr val="475569"/>
                </a:solidFill>
              </a:defRPr>
            </a:pPr>
            <a:r>
              <a:t>Class Imbalance Ratio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291840"/>
            <a:ext cx="10698480" cy="2834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474720"/>
            <a:ext cx="1033272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F172A"/>
                </a:solidFill>
              </a:defRPr>
            </a:pPr>
            <a:r>
              <a:t>Dataset Characteristics &amp; Distribution Insights</a:t>
            </a:r>
          </a:p>
          <a:p>
            <a:pPr>
              <a:spcBef>
                <a:spcPts val="600"/>
              </a:spcBef>
              <a:defRPr sz="1500">
                <a:solidFill>
                  <a:srgbClr val="1E293B"/>
                </a:solidFill>
              </a:defRPr>
            </a:pPr>
            <a:r>
              <a:t>• Curated by The Atticus Project &amp; Stanford University researchers for NLP.</a:t>
            </a:r>
          </a:p>
          <a:p>
            <a:pPr>
              <a:spcBef>
                <a:spcPts val="600"/>
              </a:spcBef>
              <a:defRPr sz="1500">
                <a:solidFill>
                  <a:srgbClr val="1E293B"/>
                </a:solidFill>
              </a:defRPr>
            </a:pPr>
            <a:r>
              <a:t>• Encompasses NDAs, Master Service Agreements (MSAs), Software Licenses, and Merger Contracts.</a:t>
            </a:r>
          </a:p>
          <a:p>
            <a:pPr>
              <a:spcBef>
                <a:spcPts val="600"/>
              </a:spcBef>
              <a:defRPr sz="1500">
                <a:solidFill>
                  <a:srgbClr val="1E293B"/>
                </a:solidFill>
              </a:defRPr>
            </a:pPr>
            <a:r>
              <a:t>• Major Classes: Governing Law (462), Non-Compete (257), Termination (246), Cap on Liability (839).</a:t>
            </a:r>
          </a:p>
          <a:p>
            <a:pPr>
              <a:spcBef>
                <a:spcPts val="600"/>
              </a:spcBef>
              <a:defRPr sz="1500">
                <a:solidFill>
                  <a:srgbClr val="1E293B"/>
                </a:solidFill>
              </a:defRPr>
            </a:pPr>
            <a:r>
              <a:t>• Minor Classes: Price Restrictions (27), Third Party Beneficiary (39) — creating realistic real-world class imbalance.</a:t>
            </a:r>
          </a:p>
          <a:p>
            <a:pPr>
              <a:spcBef>
                <a:spcPts val="600"/>
              </a:spcBef>
              <a:defRPr sz="1500">
                <a:solidFill>
                  <a:srgbClr val="1E293B"/>
                </a:solidFill>
              </a:defRPr>
            </a:pPr>
            <a:r>
              <a:t>• Requires stratified sampling and class-weighted cost-sensitive learning to avoid majority class bias.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82880" y="182880"/>
            <a:ext cx="11823192" cy="6492240"/>
          </a:xfrm>
          <a:prstGeom prst="rect">
            <a:avLst/>
          </a:prstGeom>
          <a:noFill/>
          <a:ln w="1905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47472"/>
            <a:ext cx="2377440" cy="329184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2563EB"/>
                </a:solidFill>
                <a:latin typeface="Trebuchet MS"/>
              </a:defRPr>
            </a:pPr>
            <a:r>
              <a:t>SPRINT 1: EDA &amp; CLEANING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11091672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Trebuchet MS"/>
              </a:defRPr>
            </a:pPr>
            <a:r>
              <a:t>Text Cleaning &amp; Normalization Pipeline</a:t>
            </a:r>
          </a:p>
          <a:p>
            <a:pPr>
              <a:defRPr sz="1600">
                <a:solidFill>
                  <a:srgbClr val="475569"/>
                </a:solidFill>
                <a:latin typeface="Calibri"/>
              </a:defRPr>
            </a:pPr>
            <a:r>
              <a:t>Preprocessing legal verbiage without stripping critical domain semantics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59436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Calibri"/>
              </a:defRPr>
            </a:pPr>
            <a:r>
              <a:t>ClauseIQ — Contract Clause Classification &amp; Intelligent Search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0" y="6446520"/>
            <a:ext cx="4782312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100">
                <a:solidFill>
                  <a:srgbClr val="64748B"/>
                </a:solidFill>
                <a:latin typeface="Calibri"/>
              </a:defRPr>
            </a:pPr>
            <a:r>
              <a:t>Dept. of Computer Applications, MACE | Slide 4 of 20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737360"/>
            <a:ext cx="512064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92024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E3A8A"/>
                </a:solidFill>
              </a:defRPr>
            </a:pPr>
            <a:r>
              <a:t>Cleaning Operations</a:t>
            </a:r>
          </a:p>
          <a:p>
            <a:pPr>
              <a:spcBef>
                <a:spcPts val="800"/>
              </a:spcBef>
              <a:defRPr sz="1400">
                <a:solidFill>
                  <a:srgbClr val="1E293B"/>
                </a:solidFill>
              </a:defRPr>
            </a:pPr>
            <a:r>
              <a:t>✔ Lowercasing: Uniform token normalization.</a:t>
            </a:r>
          </a:p>
          <a:p>
            <a:pPr>
              <a:spcBef>
                <a:spcPts val="800"/>
              </a:spcBef>
              <a:defRPr sz="1400">
                <a:solidFill>
                  <a:srgbClr val="1E293B"/>
                </a:solidFill>
              </a:defRPr>
            </a:pPr>
            <a:r>
              <a:t>✔ URL &amp; Email Scrubbing: Removes non-semantic digital contact artifacts.</a:t>
            </a:r>
          </a:p>
          <a:p>
            <a:pPr>
              <a:spcBef>
                <a:spcPts val="800"/>
              </a:spcBef>
              <a:defRPr sz="1400">
                <a:solidFill>
                  <a:srgbClr val="1E293B"/>
                </a:solidFill>
              </a:defRPr>
            </a:pPr>
            <a:r>
              <a:t>✔ Special Symbol Filtering: Removes non-ASCII noise while preserving punctuation essential for sentence boundaries.</a:t>
            </a:r>
          </a:p>
          <a:p>
            <a:pPr>
              <a:spcBef>
                <a:spcPts val="800"/>
              </a:spcBef>
              <a:defRPr sz="1400">
                <a:solidFill>
                  <a:srgbClr val="1E293B"/>
                </a:solidFill>
              </a:defRPr>
            </a:pPr>
            <a:r>
              <a:t>✔ Whitespace Normalization: Collapses extraneous multi-line tabs and indentation.</a:t>
            </a:r>
          </a:p>
          <a:p>
            <a:pPr>
              <a:spcBef>
                <a:spcPts val="800"/>
              </a:spcBef>
              <a:defRPr sz="1400">
                <a:solidFill>
                  <a:srgbClr val="1E293B"/>
                </a:solidFill>
              </a:defRPr>
            </a:pPr>
            <a:r>
              <a:t>✔ Preserved Domain Tokens: Retains legal modal verbs ('shall', 'may', 'will') and statutory terms.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737360"/>
            <a:ext cx="5120640" cy="4389120"/>
          </a:xfrm>
          <a:prstGeom prst="roundRect">
            <a:avLst/>
          </a:prstGeom>
          <a:solidFill>
            <a:srgbClr val="ECFDF5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92024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59669"/>
                </a:solidFill>
              </a:defRPr>
            </a:pPr>
            <a:r>
              <a:t>Before vs. After Cleaning Sample</a:t>
            </a:r>
          </a:p>
          <a:p>
            <a:pPr>
              <a:spcBef>
                <a:spcPts val="1200"/>
              </a:spcBef>
              <a:defRPr sz="1300">
                <a:solidFill>
                  <a:srgbClr val="64748B"/>
                </a:solidFill>
              </a:defRPr>
            </a:pPr>
            <a:r>
              <a:t>Raw Input:</a:t>
            </a:r>
            <a:br/>
            <a:r>
              <a:t>"  This Agreement   shall be GOVERNED by the Laws of Delaware! Contact legal@example.com or visit https://example.com/terms.  "</a:t>
            </a:r>
          </a:p>
          <a:p>
            <a:pPr>
              <a:spcBef>
                <a:spcPts val="1400"/>
              </a:spcBef>
              <a:defRPr sz="1300" b="1">
                <a:solidFill>
                  <a:srgbClr val="1E3A8A"/>
                </a:solidFill>
              </a:defRPr>
            </a:pPr>
            <a:r>
              <a:t>Cleaned Output:</a:t>
            </a:r>
            <a:br/>
            <a:r>
              <a:t>"this agreement shall be governed by the laws of delaware contact legal at details"</a:t>
            </a:r>
          </a:p>
          <a:p>
            <a:pPr>
              <a:spcBef>
                <a:spcPts val="1400"/>
              </a:spcBef>
              <a:defRPr sz="1300">
                <a:solidFill>
                  <a:srgbClr val="059669"/>
                </a:solidFill>
              </a:defRPr>
            </a:pPr>
            <a:r>
              <a:t>Verification: 100% verified across all unit tests in tests/test_sprint1.py.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82880" y="182880"/>
            <a:ext cx="11823192" cy="6492240"/>
          </a:xfrm>
          <a:prstGeom prst="rect">
            <a:avLst/>
          </a:prstGeom>
          <a:noFill/>
          <a:ln w="1905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47472"/>
            <a:ext cx="2377440" cy="329184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2563EB"/>
                </a:solidFill>
                <a:latin typeface="Trebuchet MS"/>
              </a:defRPr>
            </a:pPr>
            <a:r>
              <a:t>SPRINT 1: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11091672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Trebuchet MS"/>
              </a:defRPr>
            </a:pPr>
            <a:r>
              <a:t>TF-IDF Feature Extraction &amp; Stratification</a:t>
            </a:r>
          </a:p>
          <a:p>
            <a:pPr>
              <a:defRPr sz="1600">
                <a:solidFill>
                  <a:srgbClr val="475569"/>
                </a:solidFill>
                <a:latin typeface="Calibri"/>
              </a:defRPr>
            </a:pPr>
            <a:r>
              <a:t>Preventing data leakage with rigorous 80/20 train/test partitioning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59436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Calibri"/>
              </a:defRPr>
            </a:pPr>
            <a:r>
              <a:t>ClauseIQ — Contract Clause Classification &amp; Intelligent Search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0" y="6446520"/>
            <a:ext cx="4782312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100">
                <a:solidFill>
                  <a:srgbClr val="64748B"/>
                </a:solidFill>
                <a:latin typeface="Calibri"/>
              </a:defRPr>
            </a:pPr>
            <a:r>
              <a:t>Dept. of Computer Applications, MACE | Slide 5 of 20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737360"/>
            <a:ext cx="512064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92024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E3A8A"/>
                </a:solidFill>
              </a:defRPr>
            </a:pPr>
            <a:r>
              <a:t>Stratified Train/Test Split</a:t>
            </a:r>
          </a:p>
          <a:p>
            <a:pPr>
              <a:spcBef>
                <a:spcPts val="800"/>
              </a:spcBef>
              <a:defRPr sz="1400">
                <a:solidFill>
                  <a:srgbClr val="1E293B"/>
                </a:solidFill>
              </a:defRPr>
            </a:pPr>
            <a:r>
              <a:t>• Split Strategy: Stratified 80/20 split on 12,204 samples.</a:t>
            </a:r>
          </a:p>
          <a:p>
            <a:pPr>
              <a:spcBef>
                <a:spcPts val="800"/>
              </a:spcBef>
              <a:defRPr sz="1400">
                <a:solidFill>
                  <a:srgbClr val="1E293B"/>
                </a:solidFill>
              </a:defRPr>
            </a:pPr>
            <a:r>
              <a:t>• Training Samples: 9,763 clauses (80%).</a:t>
            </a:r>
          </a:p>
          <a:p>
            <a:pPr>
              <a:spcBef>
                <a:spcPts val="800"/>
              </a:spcBef>
              <a:defRPr sz="1400">
                <a:solidFill>
                  <a:srgbClr val="1E293B"/>
                </a:solidFill>
              </a:defRPr>
            </a:pPr>
            <a:r>
              <a:t>• Testing Samples: 2,441 clauses (20%).</a:t>
            </a:r>
          </a:p>
          <a:p>
            <a:pPr>
              <a:spcBef>
                <a:spcPts val="800"/>
              </a:spcBef>
              <a:defRPr sz="1400">
                <a:solidFill>
                  <a:srgbClr val="1E293B"/>
                </a:solidFill>
              </a:defRPr>
            </a:pPr>
            <a:r>
              <a:t>• All 41 classes represented identically in both sets.</a:t>
            </a:r>
          </a:p>
          <a:p>
            <a:pPr>
              <a:spcBef>
                <a:spcPts val="800"/>
              </a:spcBef>
              <a:defRPr sz="1400">
                <a:solidFill>
                  <a:srgbClr val="1E293B"/>
                </a:solidFill>
              </a:defRPr>
            </a:pPr>
            <a:r>
              <a:t>• 0 missing classes in either split.</a:t>
            </a:r>
          </a:p>
          <a:p>
            <a:pPr>
              <a:spcBef>
                <a:spcPts val="800"/>
              </a:spcBef>
              <a:defRPr sz="1400">
                <a:solidFill>
                  <a:srgbClr val="1E293B"/>
                </a:solidFill>
              </a:defRPr>
            </a:pPr>
            <a:r>
              <a:t>• Strict Rule: Split executed BEFORE vectorizer fitting to guarantee zero test leakage.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737360"/>
            <a:ext cx="512064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92024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2563EB"/>
                </a:solidFill>
              </a:defRPr>
            </a:pPr>
            <a:r>
              <a:t>TF-IDF Vectorizer Parameters</a:t>
            </a:r>
          </a:p>
          <a:p>
            <a:pPr>
              <a:spcBef>
                <a:spcPts val="800"/>
              </a:spcBef>
              <a:defRPr sz="1400">
                <a:solidFill>
                  <a:srgbClr val="1E293B"/>
                </a:solidFill>
              </a:defRPr>
            </a:pPr>
            <a:r>
              <a:t>✔ max_features = 10,000 top n-gram tokens.</a:t>
            </a:r>
          </a:p>
          <a:p>
            <a:pPr>
              <a:spcBef>
                <a:spcPts val="800"/>
              </a:spcBef>
              <a:defRPr sz="1400">
                <a:solidFill>
                  <a:srgbClr val="1E293B"/>
                </a:solidFill>
              </a:defRPr>
            </a:pPr>
            <a:r>
              <a:t>✔ ngram_range = (1, 2) (Unigram + Bigram compound collocations).</a:t>
            </a:r>
          </a:p>
          <a:p>
            <a:pPr>
              <a:spcBef>
                <a:spcPts val="800"/>
              </a:spcBef>
              <a:defRPr sz="1400">
                <a:solidFill>
                  <a:srgbClr val="1E293B"/>
                </a:solidFill>
              </a:defRPr>
            </a:pPr>
            <a:r>
              <a:t>✔ sublinear_tf = True (Applies 1 + log(tf) scaling to dampen repetitive legal clauses).</a:t>
            </a:r>
          </a:p>
          <a:p>
            <a:pPr>
              <a:spcBef>
                <a:spcPts val="800"/>
              </a:spcBef>
              <a:defRPr sz="1400">
                <a:solidFill>
                  <a:srgbClr val="1E293B"/>
                </a:solidFill>
              </a:defRPr>
            </a:pPr>
            <a:r>
              <a:t>✔ min_df = 2 (Prunes rare uninformative typographical tokens).</a:t>
            </a:r>
          </a:p>
          <a:p>
            <a:pPr>
              <a:spcBef>
                <a:spcPts val="800"/>
              </a:spcBef>
              <a:defRPr sz="1400">
                <a:solidFill>
                  <a:srgbClr val="1E293B"/>
                </a:solidFill>
              </a:defRPr>
            </a:pPr>
            <a:r>
              <a:t>✔ max_df = 0.95 (Prunes common corpus stopwords).</a:t>
            </a:r>
          </a:p>
          <a:p>
            <a:pPr>
              <a:spcBef>
                <a:spcPts val="800"/>
              </a:spcBef>
              <a:defRPr sz="1400">
                <a:solidFill>
                  <a:srgbClr val="1E293B"/>
                </a:solidFill>
              </a:defRPr>
            </a:pPr>
            <a:r>
              <a:t>✔ Training Matrix Shape: (9,763 × 10,000) sparse CSR.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82880" y="182880"/>
            <a:ext cx="11823192" cy="6492240"/>
          </a:xfrm>
          <a:prstGeom prst="rect">
            <a:avLst/>
          </a:prstGeom>
          <a:noFill/>
          <a:ln w="1905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47472"/>
            <a:ext cx="2377440" cy="329184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2563EB"/>
                </a:solidFill>
                <a:latin typeface="Trebuchet MS"/>
              </a:defRPr>
            </a:pPr>
            <a:r>
              <a:t>SPRINT 2: MODELS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11091672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Trebuchet MS"/>
              </a:defRPr>
            </a:pPr>
            <a:r>
              <a:t>Classical ML Algorithms Evaluated</a:t>
            </a:r>
          </a:p>
          <a:p>
            <a:pPr>
              <a:defRPr sz="1600">
                <a:solidFill>
                  <a:srgbClr val="475569"/>
                </a:solidFill>
                <a:latin typeface="Calibri"/>
              </a:defRPr>
            </a:pPr>
            <a:r>
              <a:t>Four diverse algorithms trained and tuned using Stratified Cross-Validation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59436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Calibri"/>
              </a:defRPr>
            </a:pPr>
            <a:r>
              <a:t>ClauseIQ — Contract Clause Classification &amp; Intelligent Search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0" y="6446520"/>
            <a:ext cx="4782312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100">
                <a:solidFill>
                  <a:srgbClr val="64748B"/>
                </a:solidFill>
                <a:latin typeface="Calibri"/>
              </a:defRPr>
            </a:pPr>
            <a:r>
              <a:t>Dept. of Computer Applications, MACE | Slide 6 of 20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737360"/>
            <a:ext cx="5120640" cy="2057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874519"/>
            <a:ext cx="475488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E3A8A"/>
                </a:solidFill>
              </a:defRPr>
            </a:pPr>
            <a:r>
              <a:t>Multinomial Naive Bayes</a:t>
            </a:r>
          </a:p>
          <a:p>
            <a:pPr>
              <a:spcBef>
                <a:spcPts val="600"/>
              </a:spcBef>
              <a:defRPr sz="1400">
                <a:solidFill>
                  <a:srgbClr val="1E293B"/>
                </a:solidFill>
              </a:defRPr>
            </a:pPr>
            <a:r>
              <a:t>GridSearchCV (5-fold CV)</a:t>
            </a:r>
            <a:br/>
            <a:r>
              <a:t>Optimal alpha = 0.01</a:t>
            </a:r>
            <a:br/>
            <a:r>
              <a:t>Additive Laplace smoothing for zero-probability handling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737360"/>
            <a:ext cx="5120640" cy="2057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1874519"/>
            <a:ext cx="475488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6D28D9"/>
                </a:solidFill>
              </a:defRPr>
            </a:pPr>
            <a:r>
              <a:t>Random Forest</a:t>
            </a:r>
          </a:p>
          <a:p>
            <a:pPr>
              <a:spcBef>
                <a:spcPts val="600"/>
              </a:spcBef>
              <a:defRPr sz="1400">
                <a:solidFill>
                  <a:srgbClr val="1E293B"/>
                </a:solidFill>
              </a:defRPr>
            </a:pPr>
            <a:r>
              <a:t>RandomizedSearchCV (3-fold CV)</a:t>
            </a:r>
            <a:br/>
            <a:r>
              <a:t>200 estimators, max_depth=50</a:t>
            </a:r>
            <a:br/>
            <a:r>
              <a:t>min_samples_split=10, balanced class weights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977639"/>
            <a:ext cx="5120640" cy="2057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114800"/>
            <a:ext cx="475488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D97706"/>
                </a:solidFill>
              </a:defRPr>
            </a:pPr>
            <a:r>
              <a:t>Linear Support Vector Machine</a:t>
            </a:r>
          </a:p>
          <a:p>
            <a:pPr>
              <a:spcBef>
                <a:spcPts val="600"/>
              </a:spcBef>
              <a:defRPr sz="1400">
                <a:solidFill>
                  <a:srgbClr val="1E293B"/>
                </a:solidFill>
              </a:defRPr>
            </a:pPr>
            <a:r>
              <a:t>LinearSVC with One-vs-Rest (OvR)</a:t>
            </a:r>
            <a:br/>
            <a:r>
              <a:t>C=0.1, squared hinge loss</a:t>
            </a:r>
            <a:br/>
            <a:r>
              <a:t>Cost-sensitive balanced class weighting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3977639"/>
            <a:ext cx="5120640" cy="2057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4114800"/>
            <a:ext cx="475488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059669"/>
                </a:solidFill>
              </a:defRPr>
            </a:pPr>
            <a:r>
              <a:t>Multinomial Logistic Regression</a:t>
            </a:r>
          </a:p>
          <a:p>
            <a:pPr>
              <a:spcBef>
                <a:spcPts val="600"/>
              </a:spcBef>
              <a:defRPr sz="1400">
                <a:solidFill>
                  <a:srgbClr val="1E293B"/>
                </a:solidFill>
              </a:defRPr>
            </a:pPr>
            <a:r>
              <a:t>Softmax formulation with L2 penalty</a:t>
            </a:r>
            <a:br/>
            <a:r>
              <a:t>C=1.0, L-BFGS optimization solver</a:t>
            </a:r>
            <a:br/>
            <a:r>
              <a:t>Balanced class weights (Selected Winner)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82880" y="182880"/>
            <a:ext cx="11823192" cy="6492240"/>
          </a:xfrm>
          <a:prstGeom prst="rect">
            <a:avLst/>
          </a:prstGeom>
          <a:noFill/>
          <a:ln w="1905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47472"/>
            <a:ext cx="2377440" cy="329184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2563EB"/>
                </a:solidFill>
                <a:latin typeface="Trebuchet MS"/>
              </a:defRPr>
            </a:pPr>
            <a:r>
              <a:t>SPRINT 2: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11091672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Trebuchet MS"/>
              </a:defRPr>
            </a:pPr>
            <a:r>
              <a:t>Comprehensive Model Performance Comparison</a:t>
            </a:r>
          </a:p>
          <a:p>
            <a:pPr>
              <a:defRPr sz="1600">
                <a:solidFill>
                  <a:srgbClr val="475569"/>
                </a:solidFill>
                <a:latin typeface="Calibri"/>
              </a:defRPr>
            </a:pPr>
            <a:r>
              <a:t>Empirical evaluation on the exact same held-out test set (N=2,441)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59436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Calibri"/>
              </a:defRPr>
            </a:pPr>
            <a:r>
              <a:t>ClauseIQ — Contract Clause Classification &amp; Intelligent Search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0" y="6446520"/>
            <a:ext cx="4782312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100">
                <a:solidFill>
                  <a:srgbClr val="64748B"/>
                </a:solidFill>
                <a:latin typeface="Calibri"/>
              </a:defRPr>
            </a:pPr>
            <a:r>
              <a:t>Dept. of Computer Applications, MACE | Slide 7 of 20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737360"/>
          <a:ext cx="11091672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188720"/>
                <a:gridCol w="1280160"/>
                <a:gridCol w="1280160"/>
                <a:gridCol w="1280160"/>
                <a:gridCol w="1280160"/>
                <a:gridCol w="1280160"/>
                <a:gridCol w="1216152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Trebuchet MS"/>
                        </a:defRPr>
                      </a:pPr>
                      <a:r>
                        <a:t>Model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Trebuchet MS"/>
                        </a:defRPr>
                      </a:pPr>
                      <a:r>
                        <a:t>Accuracy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Trebuchet MS"/>
                        </a:defRPr>
                      </a:pPr>
                      <a:r>
                        <a:t>Macro Prec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Trebuchet MS"/>
                        </a:defRPr>
                      </a:pPr>
                      <a:r>
                        <a:t>Macro Rec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Trebuchet MS"/>
                        </a:defRPr>
                      </a:pPr>
                      <a:r>
                        <a:t>Macro F1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Trebuchet MS"/>
                        </a:defRPr>
                      </a:pPr>
                      <a:r>
                        <a:t>Weighted Prec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Trebuchet MS"/>
                        </a:defRPr>
                      </a:pPr>
                      <a:r>
                        <a:t>Weighted Rec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Trebuchet MS"/>
                        </a:defRPr>
                      </a:pPr>
                      <a:r>
                        <a:t>Weighted F1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059669"/>
                          </a:solidFill>
                          <a:latin typeface="Calibri"/>
                        </a:defRPr>
                      </a:pPr>
                      <a:r>
                        <a:t>Logistic Regression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59669"/>
                          </a:solidFill>
                          <a:latin typeface="Calibri"/>
                        </a:defRPr>
                      </a:pPr>
                      <a:r>
                        <a:t>0.7190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59669"/>
                          </a:solidFill>
                          <a:latin typeface="Calibri"/>
                        </a:defRPr>
                      </a:pPr>
                      <a:r>
                        <a:t>0.6481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59669"/>
                          </a:solidFill>
                          <a:latin typeface="Calibri"/>
                        </a:defRPr>
                      </a:pPr>
                      <a:r>
                        <a:t>0.6622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59669"/>
                          </a:solidFill>
                          <a:latin typeface="Calibri"/>
                        </a:defRPr>
                      </a:pPr>
                      <a:r>
                        <a:t>0.6474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59669"/>
                          </a:solidFill>
                          <a:latin typeface="Calibri"/>
                        </a:defRPr>
                      </a:pPr>
                      <a:r>
                        <a:t>0.7354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59669"/>
                          </a:solidFill>
                          <a:latin typeface="Calibri"/>
                        </a:defRPr>
                      </a:pPr>
                      <a:r>
                        <a:t>0.7190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59669"/>
                          </a:solidFill>
                          <a:latin typeface="Calibri"/>
                        </a:defRPr>
                      </a:pPr>
                      <a:r>
                        <a:t>0.7196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Linear SVM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0.7263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0.6323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0.6665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0.6418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0.7331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0.7263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0.7226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Multinomial Naive Bayes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0.6927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0.6024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0.5867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0.5853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0.6996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0.6927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0.6903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Random Forest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0.6546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0.5527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0.5904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0.5634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0.6577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0.6546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0.6496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548640" y="4297680"/>
            <a:ext cx="11091672" cy="1828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4389120"/>
            <a:ext cx="10725912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t>Key Evaluation Insights &amp; Selection Rationale</a:t>
            </a:r>
          </a:p>
          <a:p>
            <a:pPr>
              <a:spcBef>
                <a:spcPts val="400"/>
              </a:spcBef>
              <a:defRPr sz="1400">
                <a:solidFill>
                  <a:srgbClr val="1E293B"/>
                </a:solidFill>
              </a:defRPr>
            </a:pPr>
            <a:r>
              <a:t>• Primary Metric: Macro-F1 (unweighted average across all 41 classes) is used to evaluate minority class performance.</a:t>
            </a:r>
          </a:p>
          <a:p>
            <a:pPr>
              <a:spcBef>
                <a:spcPts val="400"/>
              </a:spcBef>
              <a:defRPr sz="1400" b="1">
                <a:solidFill>
                  <a:srgbClr val="059669"/>
                </a:solidFill>
              </a:defRPr>
            </a:pPr>
            <a:r>
              <a:t>• Winner: Logistic Regression achieves the highest Macro-F1 (0.6474) and Weighted-F1 (0.7196) among all evaluated models.</a:t>
            </a:r>
          </a:p>
          <a:p>
            <a:pPr>
              <a:spcBef>
                <a:spcPts val="400"/>
              </a:spcBef>
              <a:defRPr sz="1400">
                <a:solidFill>
                  <a:srgbClr val="1E293B"/>
                </a:solidFill>
              </a:defRPr>
            </a:pPr>
            <a:r>
              <a:t>• Calibrated Probabilities: Logistic Regression natively provides true calibrated probability output via predict_proba().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82880" y="182880"/>
            <a:ext cx="11823192" cy="6492240"/>
          </a:xfrm>
          <a:prstGeom prst="rect">
            <a:avLst/>
          </a:prstGeom>
          <a:noFill/>
          <a:ln w="1905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47472"/>
            <a:ext cx="2377440" cy="329184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2563EB"/>
                </a:solidFill>
                <a:latin typeface="Trebuchet MS"/>
              </a:defRPr>
            </a:pPr>
            <a:r>
              <a:t>SPRINT 2: BEST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11091672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Trebuchet MS"/>
              </a:defRPr>
            </a:pPr>
            <a:r>
              <a:t>Selected Model: Logistic Regression</a:t>
            </a:r>
          </a:p>
          <a:p>
            <a:pPr>
              <a:defRPr sz="1600">
                <a:solidFill>
                  <a:srgbClr val="475569"/>
                </a:solidFill>
                <a:latin typeface="Calibri"/>
              </a:defRPr>
            </a:pPr>
            <a:r>
              <a:t>High-precision legal classification with native probability calibration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59436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Calibri"/>
              </a:defRPr>
            </a:pPr>
            <a:r>
              <a:t>ClauseIQ — Contract Clause Classification &amp; Intelligent Search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0" y="6446520"/>
            <a:ext cx="4782312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100">
                <a:solidFill>
                  <a:srgbClr val="64748B"/>
                </a:solidFill>
                <a:latin typeface="Calibri"/>
              </a:defRPr>
            </a:pPr>
            <a:r>
              <a:t>Dept. of Computer Applications, MACE | Slide 8 of 20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737360"/>
            <a:ext cx="512064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92024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E3A8A"/>
                </a:solidFill>
              </a:defRPr>
            </a:pPr>
            <a:r>
              <a:t>Why Logistic Regression Won</a:t>
            </a:r>
          </a:p>
          <a:p>
            <a:pPr>
              <a:spcBef>
                <a:spcPts val="600"/>
              </a:spcBef>
              <a:defRPr sz="1400">
                <a:solidFill>
                  <a:srgbClr val="1E293B"/>
                </a:solidFill>
              </a:defRPr>
            </a:pPr>
            <a:r>
              <a:t>✔ Highest Macro-F1: 0.6474 (Balanced across all 41 classes).</a:t>
            </a:r>
          </a:p>
          <a:p>
            <a:pPr>
              <a:spcBef>
                <a:spcPts val="600"/>
              </a:spcBef>
              <a:defRPr sz="1400">
                <a:solidFill>
                  <a:srgbClr val="1E293B"/>
                </a:solidFill>
              </a:defRPr>
            </a:pPr>
            <a:r>
              <a:t>✔ Test Accuracy: 71.90% on held-out CUAD test split.</a:t>
            </a:r>
          </a:p>
          <a:p>
            <a:pPr>
              <a:spcBef>
                <a:spcPts val="600"/>
              </a:spcBef>
              <a:defRPr sz="1400">
                <a:solidFill>
                  <a:srgbClr val="1E293B"/>
                </a:solidFill>
              </a:defRPr>
            </a:pPr>
            <a:r>
              <a:t>✔ Weighted F1: 71.96% (High commercial agreement precision).</a:t>
            </a:r>
          </a:p>
          <a:p>
            <a:pPr>
              <a:spcBef>
                <a:spcPts val="600"/>
              </a:spcBef>
              <a:defRPr sz="1400">
                <a:solidFill>
                  <a:srgbClr val="1E293B"/>
                </a:solidFill>
              </a:defRPr>
            </a:pPr>
            <a:r>
              <a:t>✔ Native Softmax Probabilities: Enables realistic confidence scores.</a:t>
            </a:r>
          </a:p>
          <a:p>
            <a:pPr>
              <a:spcBef>
                <a:spcPts val="600"/>
              </a:spcBef>
              <a:defRPr sz="1400">
                <a:solidFill>
                  <a:srgbClr val="1E293B"/>
                </a:solidFill>
              </a:defRPr>
            </a:pPr>
            <a:r>
              <a:t>✔ Top-k Alternatives: Transparent ranking of top-3 candidate categories.</a:t>
            </a:r>
          </a:p>
          <a:p>
            <a:pPr>
              <a:spcBef>
                <a:spcPts val="600"/>
              </a:spcBef>
              <a:defRPr sz="1400">
                <a:solidFill>
                  <a:srgbClr val="1E293B"/>
                </a:solidFill>
              </a:defRPr>
            </a:pPr>
            <a:r>
              <a:t>✔ Fast Inference: Sub-2 millisecond latency per single clause.</a:t>
            </a:r>
          </a:p>
          <a:p>
            <a:pPr>
              <a:spcBef>
                <a:spcPts val="600"/>
              </a:spcBef>
              <a:defRPr sz="1400">
                <a:solidFill>
                  <a:srgbClr val="1E293B"/>
                </a:solidFill>
              </a:defRPr>
            </a:pPr>
            <a:r>
              <a:t>✔ Serialized Artifact: models/logistic_regression.pkl (3.28 MB).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737360"/>
            <a:ext cx="5120640" cy="438912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92024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2563EB"/>
                </a:solidFill>
              </a:defRPr>
            </a:pPr>
            <a:r>
              <a:t>Inference Pipeline in Practice</a:t>
            </a:r>
          </a:p>
          <a:p>
            <a:pPr>
              <a:spcBef>
                <a:spcPts val="800"/>
              </a:spcBef>
              <a:defRPr sz="1350">
                <a:solidFill>
                  <a:srgbClr val="1E293B"/>
                </a:solidFill>
              </a:defRPr>
            </a:pPr>
            <a:r>
              <a:t>Step 1: Input text normalized by clean_text().</a:t>
            </a:r>
          </a:p>
          <a:p>
            <a:pPr>
              <a:spcBef>
                <a:spcPts val="800"/>
              </a:spcBef>
              <a:defRPr sz="1350">
                <a:solidFill>
                  <a:srgbClr val="1E293B"/>
                </a:solidFill>
              </a:defRPr>
            </a:pPr>
            <a:r>
              <a:t>Step 2: Transformed into 10,000-dim sparse vector by vectorizer.</a:t>
            </a:r>
          </a:p>
          <a:p>
            <a:pPr>
              <a:spcBef>
                <a:spcPts val="800"/>
              </a:spcBef>
              <a:defRPr sz="1350">
                <a:solidFill>
                  <a:srgbClr val="1E293B"/>
                </a:solidFill>
              </a:defRPr>
            </a:pPr>
            <a:r>
              <a:t>Step 3: Classifier executes predict_proba(X).</a:t>
            </a:r>
          </a:p>
          <a:p>
            <a:pPr>
              <a:spcBef>
                <a:spcPts val="800"/>
              </a:spcBef>
              <a:defRPr sz="1350">
                <a:solidFill>
                  <a:srgbClr val="1E293B"/>
                </a:solidFill>
              </a:defRPr>
            </a:pPr>
            <a:r>
              <a:t>Step 4: Top class extracted via np.argmax(probs).</a:t>
            </a:r>
          </a:p>
          <a:p>
            <a:pPr>
              <a:spcBef>
                <a:spcPts val="800"/>
              </a:spcBef>
              <a:defRPr sz="1350">
                <a:solidFill>
                  <a:srgbClr val="1E293B"/>
                </a:solidFill>
              </a:defRPr>
            </a:pPr>
            <a:r>
              <a:t>Step 5: Top-3 alternative classes extracted via argsort(-probs).</a:t>
            </a:r>
          </a:p>
          <a:p>
            <a:pPr>
              <a:spcBef>
                <a:spcPts val="800"/>
              </a:spcBef>
              <a:defRPr sz="1350">
                <a:solidFill>
                  <a:srgbClr val="1E293B"/>
                </a:solidFill>
              </a:defRPr>
            </a:pPr>
            <a:r>
              <a:t>Step 6: Labels mapped through label_encoder.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82880" y="182880"/>
            <a:ext cx="11823192" cy="6492240"/>
          </a:xfrm>
          <a:prstGeom prst="rect">
            <a:avLst/>
          </a:prstGeom>
          <a:noFill/>
          <a:ln w="1905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47472"/>
            <a:ext cx="2377440" cy="329184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2563EB"/>
                </a:solidFill>
                <a:latin typeface="Trebuchet MS"/>
              </a:defRPr>
            </a:pPr>
            <a:r>
              <a:t>SPRINT 2: SEARCH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11091672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Trebuchet MS"/>
              </a:defRPr>
            </a:pPr>
            <a:r>
              <a:t>Intelligent Clause Search Engine</a:t>
            </a:r>
          </a:p>
          <a:p>
            <a:pPr>
              <a:defRPr sz="1600">
                <a:solidFill>
                  <a:srgbClr val="475569"/>
                </a:solidFill>
                <a:latin typeface="Calibri"/>
              </a:defRPr>
            </a:pPr>
            <a:r>
              <a:t>Fast vector space retrieval over 12,204 pre-indexed contract clauses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59436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Calibri"/>
              </a:defRPr>
            </a:pPr>
            <a:r>
              <a:t>ClauseIQ — Contract Clause Classification &amp; Intelligent Search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0" y="6446520"/>
            <a:ext cx="4782312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100">
                <a:solidFill>
                  <a:srgbClr val="64748B"/>
                </a:solidFill>
                <a:latin typeface="Calibri"/>
              </a:defRPr>
            </a:pPr>
            <a:r>
              <a:t>Dept. of Computer Applications, MACE | Slide 9 of 20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737360"/>
            <a:ext cx="512064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92024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E3A8A"/>
                </a:solidFill>
              </a:defRPr>
            </a:pPr>
            <a:r>
              <a:t>Search Architecture (src/search.py)</a:t>
            </a:r>
          </a:p>
          <a:p>
            <a:pPr>
              <a:spcBef>
                <a:spcPts val="800"/>
              </a:spcBef>
              <a:defRPr sz="1400">
                <a:solidFill>
                  <a:srgbClr val="1E293B"/>
                </a:solidFill>
              </a:defRPr>
            </a:pPr>
            <a:r>
              <a:t>• In-Memory Pre-Indexed CSR Corpus: 12,204 clauses × 10,000 features.</a:t>
            </a:r>
          </a:p>
          <a:p>
            <a:pPr>
              <a:spcBef>
                <a:spcPts val="800"/>
              </a:spcBef>
              <a:defRPr sz="1400">
                <a:solidFill>
                  <a:srgbClr val="1E293B"/>
                </a:solidFill>
              </a:defRPr>
            </a:pPr>
            <a:r>
              <a:t>• L2-Normalized Sparse Cosine Similarity: Fast BLAS dot product.</a:t>
            </a:r>
          </a:p>
          <a:p>
            <a:pPr>
              <a:spcBef>
                <a:spcPts val="800"/>
              </a:spcBef>
              <a:defRPr sz="1400">
                <a:solidFill>
                  <a:srgbClr val="1E293B"/>
                </a:solidFill>
              </a:defRPr>
            </a:pPr>
            <a:r>
              <a:t>• Sub-10ms Latency: Real-time interactive query execution.</a:t>
            </a:r>
          </a:p>
          <a:p>
            <a:pPr>
              <a:spcBef>
                <a:spcPts val="800"/>
              </a:spcBef>
              <a:defRPr sz="1400">
                <a:solidFill>
                  <a:srgbClr val="1E293B"/>
                </a:solidFill>
              </a:defRPr>
            </a:pPr>
            <a:r>
              <a:t>• Optional Category Filtering: Narrows candidates by legal category.</a:t>
            </a:r>
          </a:p>
          <a:p>
            <a:pPr>
              <a:spcBef>
                <a:spcPts val="800"/>
              </a:spcBef>
              <a:defRPr sz="1400">
                <a:solidFill>
                  <a:srgbClr val="1E293B"/>
                </a:solidFill>
              </a:defRPr>
            </a:pPr>
            <a:r>
              <a:t>• Score Thresholding: Prunes low-similarity out-of-vocabulary noise.</a:t>
            </a:r>
          </a:p>
          <a:p>
            <a:pPr>
              <a:spcBef>
                <a:spcPts val="800"/>
              </a:spcBef>
              <a:defRPr sz="1400">
                <a:solidFill>
                  <a:srgbClr val="1E293B"/>
                </a:solidFill>
              </a:defRPr>
            </a:pPr>
            <a:r>
              <a:t>• Reuses Same Vectorizer: Zero feature discrepancy between search &amp; classification.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737360"/>
            <a:ext cx="5120640" cy="4389120"/>
          </a:xfrm>
          <a:prstGeom prst="roundRect">
            <a:avLst/>
          </a:prstGeom>
          <a:solidFill>
            <a:srgbClr val="ECFDF5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92024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59669"/>
                </a:solidFill>
              </a:defRPr>
            </a:pPr>
            <a:r>
              <a:t>Information Retrieval Metrics</a:t>
            </a:r>
          </a:p>
          <a:p>
            <a:pPr>
              <a:spcBef>
                <a:spcPts val="1000"/>
              </a:spcBef>
              <a:defRPr sz="1450">
                <a:solidFill>
                  <a:srgbClr val="1E293B"/>
                </a:solidFill>
              </a:defRPr>
            </a:pPr>
            <a:r>
              <a:t>✔ Macro Precision @ 1 (P@1): 80.00%</a:t>
            </a:r>
          </a:p>
          <a:p>
            <a:pPr>
              <a:spcBef>
                <a:spcPts val="1000"/>
              </a:spcBef>
              <a:defRPr sz="1450">
                <a:solidFill>
                  <a:srgbClr val="1E293B"/>
                </a:solidFill>
              </a:defRPr>
            </a:pPr>
            <a:r>
              <a:t>✔ Macro Precision @ 3 (P@3): 86.67%</a:t>
            </a:r>
          </a:p>
          <a:p>
            <a:pPr>
              <a:spcBef>
                <a:spcPts val="1000"/>
              </a:spcBef>
              <a:defRPr sz="1450">
                <a:solidFill>
                  <a:srgbClr val="1E293B"/>
                </a:solidFill>
              </a:defRPr>
            </a:pPr>
            <a:r>
              <a:t>✔ Macro Precision @ 5 (P@5): 88.00%</a:t>
            </a:r>
          </a:p>
          <a:p>
            <a:pPr>
              <a:spcBef>
                <a:spcPts val="1000"/>
              </a:spcBef>
              <a:defRPr sz="1450">
                <a:solidFill>
                  <a:srgbClr val="1E293B"/>
                </a:solidFill>
              </a:defRPr>
            </a:pPr>
            <a:r>
              <a:t>✔ 100% P@5 on 'Governing Law', 'Liability', 'Audit Rights'</a:t>
            </a:r>
          </a:p>
          <a:p>
            <a:pPr>
              <a:spcBef>
                <a:spcPts val="1000"/>
              </a:spcBef>
              <a:defRPr sz="1450">
                <a:solidFill>
                  <a:srgbClr val="1E293B"/>
                </a:solidFill>
              </a:defRPr>
            </a:pPr>
            <a:r>
              <a:t>✔ Empirical Ablation: Bigrams proved essential (dropping bigrams collapses P@1 by 20 points from 80% to 60%).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82880" y="182880"/>
            <a:ext cx="11823192" cy="6492240"/>
          </a:xfrm>
          <a:prstGeom prst="rect">
            <a:avLst/>
          </a:prstGeom>
          <a:noFill/>
          <a:ln w="1905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47472"/>
            <a:ext cx="2377440" cy="329184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2563EB"/>
                </a:solidFill>
                <a:latin typeface="Trebuchet MS"/>
              </a:defRPr>
            </a:pPr>
            <a:r>
              <a:t>SPRINT 3: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11091672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Trebuchet MS"/>
              </a:defRPr>
            </a:pPr>
            <a:r>
              <a:t>Final System Architecture (Sprint 3)</a:t>
            </a:r>
          </a:p>
          <a:p>
            <a:pPr>
              <a:defRPr sz="1600">
                <a:solidFill>
                  <a:srgbClr val="475569"/>
                </a:solidFill>
                <a:latin typeface="Calibri"/>
              </a:defRPr>
            </a:pPr>
            <a:r>
              <a:t>Complete full-stack integration topology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59436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Calibri"/>
              </a:defRPr>
            </a:pPr>
            <a:r>
              <a:t>ClauseIQ — Contract Clause Classification &amp; Intelligent Search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0" y="6446520"/>
            <a:ext cx="4782312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100">
                <a:solidFill>
                  <a:srgbClr val="64748B"/>
                </a:solidFill>
                <a:latin typeface="Calibri"/>
              </a:defRPr>
            </a:pPr>
            <a:r>
              <a:t>Dept. of Computer Applications, MACE | Slide 10 of 20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737360"/>
            <a:ext cx="10725912" cy="1051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828800"/>
            <a:ext cx="10360152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E3A8A"/>
                </a:solidFill>
              </a:defRPr>
            </a:pPr>
            <a:r>
              <a:t>Tier 1: React.js Web Frontend (Vite)</a:t>
            </a:r>
          </a:p>
          <a:p>
            <a:pPr>
              <a:spcBef>
                <a:spcPts val="300"/>
              </a:spcBef>
              <a:defRPr sz="1300">
                <a:solidFill>
                  <a:srgbClr val="1E293B"/>
                </a:solidFill>
              </a:defRPr>
            </a:pPr>
            <a:r>
              <a:t>• Interactive Single Page Application (SPA)   |   • Clause Classification &amp; PDF Upload   |   • Semantic Clause Search Portal   |   • Dynamic VITE_API_URL configuration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880360"/>
            <a:ext cx="10725912" cy="1051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971800"/>
            <a:ext cx="10360152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2563EB"/>
                </a:solidFill>
              </a:defRPr>
            </a:pPr>
            <a:r>
              <a:t>Tier 2: FastAPI RESTful Backend</a:t>
            </a:r>
          </a:p>
          <a:p>
            <a:pPr>
              <a:spcBef>
                <a:spcPts val="300"/>
              </a:spcBef>
              <a:defRPr sz="1300">
                <a:solidFill>
                  <a:srgbClr val="1E293B"/>
                </a:solidFill>
              </a:defRPr>
            </a:pPr>
            <a:r>
              <a:t>• High-performance asynchronous API   |   • Startup lifespan artifact loader   |   • PyMuPDF text extractor &amp; clause splitter   |   • CORS middleware &amp; Pydantic validation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023360"/>
            <a:ext cx="10725912" cy="1051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114800"/>
            <a:ext cx="10360152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6D28D9"/>
                </a:solidFill>
              </a:defRPr>
            </a:pPr>
            <a:r>
              <a:t>Tier 3: Classical ML &amp; Search Core</a:t>
            </a:r>
          </a:p>
          <a:p>
            <a:pPr>
              <a:spcBef>
                <a:spcPts val="300"/>
              </a:spcBef>
              <a:defRPr sz="1300">
                <a:solidFill>
                  <a:srgbClr val="1E293B"/>
                </a:solidFill>
              </a:defRPr>
            </a:pPr>
            <a:r>
              <a:t>• Logistic Regression model (3.28 MB)   |   • TF-IDF Vectorizer (10,000 features)   |   • Cosine similarity search engine (12,204 clauses)   |   • 100% Classical ML (No LLMs / No RAG)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5166360"/>
            <a:ext cx="10725912" cy="1051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5257800"/>
            <a:ext cx="10360152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59669"/>
                </a:solidFill>
              </a:defRPr>
            </a:pPr>
            <a:r>
              <a:t>Tier 4: Supabase PostgreSQL Database</a:t>
            </a:r>
          </a:p>
          <a:p>
            <a:pPr>
              <a:spcBef>
                <a:spcPts val="300"/>
              </a:spcBef>
              <a:defRPr sz="1300">
                <a:solidFill>
                  <a:srgbClr val="1E293B"/>
                </a:solidFill>
              </a:defRPr>
            </a:pPr>
            <a:r>
              <a:t>• contracts &amp; clauses tables   |   • classification_logs &amp; search_logs audit   |   • Row Level Security (RLS) enabled   |   • Graceful offline fallback mode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82880" y="182880"/>
            <a:ext cx="11823192" cy="6492240"/>
          </a:xfrm>
          <a:prstGeom prst="rect">
            <a:avLst/>
          </a:prstGeom>
          <a:noFill/>
          <a:ln w="1905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47472"/>
            <a:ext cx="2377440" cy="329184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2563EB"/>
                </a:solidFill>
                <a:latin typeface="Trebuchet MS"/>
              </a:defRPr>
            </a:pPr>
            <a:r>
              <a:t>SPRINT 3: BACKEND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11091672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Trebuchet MS"/>
              </a:defRPr>
            </a:pPr>
            <a:r>
              <a:t>FastAPI Backend &amp; RESTful API Design</a:t>
            </a:r>
          </a:p>
          <a:p>
            <a:pPr>
              <a:defRPr sz="1600">
                <a:solidFill>
                  <a:srgbClr val="475569"/>
                </a:solidFill>
                <a:latin typeface="Calibri"/>
              </a:defRPr>
            </a:pPr>
            <a:r>
              <a:t>Structured endpoints, validation, and single-instance loading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59436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Calibri"/>
              </a:defRPr>
            </a:pPr>
            <a:r>
              <a:t>ClauseIQ — Contract Clause Classification &amp; Intelligent Search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0" y="6446520"/>
            <a:ext cx="4782312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100">
                <a:solidFill>
                  <a:srgbClr val="64748B"/>
                </a:solidFill>
                <a:latin typeface="Calibri"/>
              </a:defRPr>
            </a:pPr>
            <a:r>
              <a:t>Dept. of Computer Applications, MACE | Slide 11 of 20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737360"/>
            <a:ext cx="10725912" cy="80467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83080"/>
            <a:ext cx="1036015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E3A8A"/>
                </a:solidFill>
              </a:defRPr>
            </a:pPr>
            <a:r>
              <a:t>GET /health  —  Health &amp; Telemetry</a:t>
            </a:r>
          </a:p>
          <a:p>
            <a:pPr>
              <a:defRPr sz="1250">
                <a:solidFill>
                  <a:srgbClr val="1E293B"/>
                </a:solidFill>
              </a:defRPr>
            </a:pPr>
            <a:r>
              <a:t>Verifies service health, model loading status, search corpus status, and Supabase connectivity.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633472"/>
            <a:ext cx="10725912" cy="80467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679191"/>
            <a:ext cx="1036015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563EB"/>
                </a:solidFill>
              </a:defRPr>
            </a:pPr>
            <a:r>
              <a:t>POST /classify  —  Single Clause Classification</a:t>
            </a:r>
          </a:p>
          <a:p>
            <a:pPr>
              <a:defRPr sz="1250">
                <a:solidFill>
                  <a:srgbClr val="1E293B"/>
                </a:solidFill>
              </a:defRPr>
            </a:pPr>
            <a:r>
              <a:t>Accepts clause_text; returns predicted category, true probability confidence, model name, and top-3 alternatives.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529584"/>
            <a:ext cx="10725912" cy="80467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575303"/>
            <a:ext cx="1036015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6D28D9"/>
                </a:solidFill>
              </a:defRPr>
            </a:pPr>
            <a:r>
              <a:t>POST /classify/file  —  Contract File Upload</a:t>
            </a:r>
          </a:p>
          <a:p>
            <a:pPr>
              <a:defRPr sz="1250">
                <a:solidFill>
                  <a:srgbClr val="1E293B"/>
                </a:solidFill>
              </a:defRPr>
            </a:pPr>
            <a:r>
              <a:t>Accepts contract PDF or TXT; extracts text, splits into sentence clauses, classifies all clauses, and logs to database.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425696"/>
            <a:ext cx="10725912" cy="80467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471416"/>
            <a:ext cx="1036015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59669"/>
                </a:solidFill>
              </a:defRPr>
            </a:pPr>
            <a:r>
              <a:t>POST /search  —  Cosine Clause Search</a:t>
            </a:r>
          </a:p>
          <a:p>
            <a:pPr>
              <a:defRPr sz="1250">
                <a:solidFill>
                  <a:srgbClr val="1E293B"/>
                </a:solidFill>
              </a:defRPr>
            </a:pPr>
            <a:r>
              <a:t>Accepts query, top_k (1-50), optional category_filter, min_score; returns ranked results with similarity scores.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5321808"/>
            <a:ext cx="10725912" cy="80467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5367528"/>
            <a:ext cx="1036015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D97706"/>
                </a:solidFill>
              </a:defRPr>
            </a:pPr>
            <a:r>
              <a:t>GET /categories  —  Metadata</a:t>
            </a:r>
          </a:p>
          <a:p>
            <a:pPr>
              <a:defRPr sz="1250">
                <a:solidFill>
                  <a:srgbClr val="1E293B"/>
                </a:solidFill>
              </a:defRPr>
            </a:pPr>
            <a:r>
              <a:t>Returns all 41 legal categories supported by the CUAD v1 benchmark.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82880" y="182880"/>
            <a:ext cx="11823192" cy="6492240"/>
          </a:xfrm>
          <a:prstGeom prst="rect">
            <a:avLst/>
          </a:prstGeom>
          <a:noFill/>
          <a:ln w="1905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47472"/>
            <a:ext cx="2377440" cy="329184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2563EB"/>
                </a:solidFill>
                <a:latin typeface="Trebuchet MS"/>
              </a:defRPr>
            </a:pPr>
            <a:r>
              <a:t>SPRINT 3: EXTRACTION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11091672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Trebuchet MS"/>
              </a:defRPr>
            </a:pPr>
            <a:r>
              <a:t>Document Extraction &amp; Clause Splitting</a:t>
            </a:r>
          </a:p>
          <a:p>
            <a:pPr>
              <a:defRPr sz="1600">
                <a:solidFill>
                  <a:srgbClr val="475569"/>
                </a:solidFill>
                <a:latin typeface="Calibri"/>
              </a:defRPr>
            </a:pPr>
            <a:r>
              <a:t>Treating contracts as collections of clauses, not monolithic text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59436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Calibri"/>
              </a:defRPr>
            </a:pPr>
            <a:r>
              <a:t>ClauseIQ — Contract Clause Classification &amp; Intelligent Search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0" y="6446520"/>
            <a:ext cx="4782312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100">
                <a:solidFill>
                  <a:srgbClr val="64748B"/>
                </a:solidFill>
                <a:latin typeface="Calibri"/>
              </a:defRPr>
            </a:pPr>
            <a:r>
              <a:t>Dept. of Computer Applications, MACE | Slide 12 of 20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737360"/>
            <a:ext cx="512064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92024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E3A8A"/>
                </a:solidFill>
              </a:defRPr>
            </a:pPr>
            <a:r>
              <a:t>Document Extraction Pipeline</a:t>
            </a:r>
          </a:p>
          <a:p>
            <a:pPr>
              <a:spcBef>
                <a:spcPts val="800"/>
              </a:spcBef>
              <a:defRPr sz="1400">
                <a:solidFill>
                  <a:srgbClr val="1E293B"/>
                </a:solidFill>
              </a:defRPr>
            </a:pPr>
            <a:r>
              <a:t>• Uploaded File Ingestion: In-memory byte streaming (no raw files saved to disk).</a:t>
            </a:r>
          </a:p>
          <a:p>
            <a:pPr>
              <a:spcBef>
                <a:spcPts val="800"/>
              </a:spcBef>
              <a:defRPr sz="1400">
                <a:solidFill>
                  <a:srgbClr val="1E293B"/>
                </a:solidFill>
              </a:defRPr>
            </a:pPr>
            <a:r>
              <a:t>• PDF Text Extraction: PyMuPDF (fitz) extracts text page-by-page.</a:t>
            </a:r>
          </a:p>
          <a:p>
            <a:pPr>
              <a:spcBef>
                <a:spcPts val="800"/>
              </a:spcBef>
              <a:defRPr sz="1400">
                <a:solidFill>
                  <a:srgbClr val="1E293B"/>
                </a:solidFill>
              </a:defRPr>
            </a:pPr>
            <a:r>
              <a:t>• Plain Text Extraction: Multi-encoding decode (UTF-8 with latin-1 fallback).</a:t>
            </a:r>
          </a:p>
          <a:p>
            <a:pPr>
              <a:spcBef>
                <a:spcPts val="800"/>
              </a:spcBef>
              <a:defRPr sz="1400">
                <a:solidFill>
                  <a:srgbClr val="1E293B"/>
                </a:solidFill>
              </a:defRPr>
            </a:pPr>
            <a:r>
              <a:t>• Clause Segmentation (clause_splitter.py): Sentence boundary detection.</a:t>
            </a:r>
          </a:p>
          <a:p>
            <a:pPr>
              <a:spcBef>
                <a:spcPts val="800"/>
              </a:spcBef>
              <a:defRPr sz="1400">
                <a:solidFill>
                  <a:srgbClr val="1E293B"/>
                </a:solidFill>
              </a:defRPr>
            </a:pPr>
            <a:r>
              <a:t>• Cross-Platform Fallback: Regex sentence boundary fallback ensures zero DLL crashes on restricted OS policies.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737360"/>
            <a:ext cx="5120640" cy="438912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92024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2563EB"/>
                </a:solidFill>
              </a:defRPr>
            </a:pPr>
            <a:r>
              <a:t>Sample Contract Verification</a:t>
            </a:r>
          </a:p>
          <a:p>
            <a:pPr>
              <a:spcBef>
                <a:spcPts val="800"/>
              </a:spcBef>
              <a:defRPr sz="1400">
                <a:solidFill>
                  <a:srgbClr val="1E293B"/>
                </a:solidFill>
              </a:defRPr>
            </a:pPr>
            <a:r>
              <a:t>✔ Tested on: data/raw_pdfs/sample_contract.pdf (28.8 KB).</a:t>
            </a:r>
          </a:p>
          <a:p>
            <a:pPr>
              <a:spcBef>
                <a:spcPts val="800"/>
              </a:spcBef>
              <a:defRPr sz="1400">
                <a:solidFill>
                  <a:srgbClr val="1E293B"/>
                </a:solidFill>
              </a:defRPr>
            </a:pPr>
            <a:r>
              <a:t>✔ Extracted: 29 discrete legal clauses.</a:t>
            </a:r>
          </a:p>
          <a:p>
            <a:pPr>
              <a:spcBef>
                <a:spcPts val="800"/>
              </a:spcBef>
              <a:defRPr sz="1400">
                <a:solidFill>
                  <a:srgbClr val="1E293B"/>
                </a:solidFill>
              </a:defRPr>
            </a:pPr>
            <a:r>
              <a:t>✔ Sample Clause 1: 'SAMPLE SERVICE AGREEMENT...'</a:t>
            </a:r>
          </a:p>
          <a:p>
            <a:pPr>
              <a:spcBef>
                <a:spcPts val="800"/>
              </a:spcBef>
              <a:defRPr sz="1400">
                <a:solidFill>
                  <a:srgbClr val="1E293B"/>
                </a:solidFill>
              </a:defRPr>
            </a:pPr>
            <a:r>
              <a:t>✔ Sample Clause 2: 'Each party agrees to maintain confidentiality...'</a:t>
            </a:r>
          </a:p>
          <a:p>
            <a:pPr>
              <a:spcBef>
                <a:spcPts val="800"/>
              </a:spcBef>
              <a:defRPr sz="1400">
                <a:solidFill>
                  <a:srgbClr val="1E293B"/>
                </a:solidFill>
              </a:defRPr>
            </a:pPr>
            <a:r>
              <a:t>✔ Classification: Correctly identified Governing Law, Confidentiality, and Termination.</a:t>
            </a:r>
          </a:p>
          <a:p>
            <a:pPr>
              <a:spcBef>
                <a:spcPts val="800"/>
              </a:spcBef>
              <a:defRPr sz="1400">
                <a:solidFill>
                  <a:srgbClr val="1E293B"/>
                </a:solidFill>
              </a:defRPr>
            </a:pPr>
            <a:r>
              <a:t>✔ Verified in automated suite: test_classify_pdf_document_upload PASSED.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82880" y="182880"/>
            <a:ext cx="11823192" cy="6492240"/>
          </a:xfrm>
          <a:prstGeom prst="rect">
            <a:avLst/>
          </a:prstGeom>
          <a:noFill/>
          <a:ln w="1905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47472"/>
            <a:ext cx="2377440" cy="329184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2563EB"/>
                </a:solidFill>
                <a:latin typeface="Trebuchet MS"/>
              </a:defRPr>
            </a:pPr>
            <a:r>
              <a:t>SPRINT 3: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11091672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Trebuchet MS"/>
              </a:defRPr>
            </a:pPr>
            <a:r>
              <a:t>Supabase PostgreSQL Database Schema</a:t>
            </a:r>
          </a:p>
          <a:p>
            <a:pPr>
              <a:defRPr sz="1600">
                <a:solidFill>
                  <a:srgbClr val="475569"/>
                </a:solidFill>
                <a:latin typeface="Calibri"/>
              </a:defRPr>
            </a:pPr>
            <a:r>
              <a:t>Relational metadata storage, audit logging, and security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59436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Calibri"/>
              </a:defRPr>
            </a:pPr>
            <a:r>
              <a:t>ClauseIQ — Contract Clause Classification &amp; Intelligent Search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0" y="6446520"/>
            <a:ext cx="4782312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100">
                <a:solidFill>
                  <a:srgbClr val="64748B"/>
                </a:solidFill>
                <a:latin typeface="Calibri"/>
              </a:defRPr>
            </a:pPr>
            <a:r>
              <a:t>Dept. of Computer Applications, MACE | Slide 13 of 20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737360"/>
            <a:ext cx="10725912" cy="868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810512"/>
            <a:ext cx="1036015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E3A8A"/>
                </a:solidFill>
              </a:defRPr>
            </a:pPr>
            <a:r>
              <a:t>Table: contracts  (Document Metadata)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Columns: id (UUID PK), document_name (TEXT), created_at (TIMESTAMPTZ)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697480"/>
            <a:ext cx="10725912" cy="868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770632"/>
            <a:ext cx="1036015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563EB"/>
                </a:solidFill>
              </a:defRPr>
            </a:pPr>
            <a:r>
              <a:t>Table: clauses  (Extracted Clauses)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Columns: id (UUID PK), contract_id (FK), clause_text (TEXT), category (TEXT), confidence_score (FLOAT)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657600"/>
            <a:ext cx="10725912" cy="868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730752"/>
            <a:ext cx="1036015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6D28D9"/>
                </a:solidFill>
              </a:defRPr>
            </a:pPr>
            <a:r>
              <a:t>Table: classification_logs  (Classification Telemetry)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Columns: id (UUID PK), input_text (TEXT), predicted_category (TEXT), confidence_score (FLOAT), created_at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617720"/>
            <a:ext cx="10725912" cy="868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690872"/>
            <a:ext cx="1036015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59669"/>
                </a:solidFill>
              </a:defRPr>
            </a:pPr>
            <a:r>
              <a:t>Table: search_logs  (Search Audit Telemetry)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Columns: id (UUID PK), query (TEXT), category_filter (TEXT), top_k (INT), results_count (INT), created_at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5623560"/>
            <a:ext cx="10725912" cy="7315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5669280"/>
            <a:ext cx="10360152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64748B"/>
                </a:solidFill>
              </a:defRPr>
            </a:pPr>
            <a:r>
              <a:t>Security &amp; Fallback: Row Level Security (RLS) active. No raw PDFs stored. Graceful offline fallback when credentials are not configured.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82880" y="182880"/>
            <a:ext cx="11823192" cy="6492240"/>
          </a:xfrm>
          <a:prstGeom prst="rect">
            <a:avLst/>
          </a:prstGeom>
          <a:noFill/>
          <a:ln w="1905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47472"/>
            <a:ext cx="2377440" cy="329184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2563EB"/>
                </a:solidFill>
                <a:latin typeface="Trebuchet MS"/>
              </a:defRPr>
            </a:pPr>
            <a:r>
              <a:t>SPRINT 3: FRONTEND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11091672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Trebuchet MS"/>
              </a:defRPr>
            </a:pPr>
            <a:r>
              <a:t>React.js Web Frontend Implementation</a:t>
            </a:r>
          </a:p>
          <a:p>
            <a:pPr>
              <a:defRPr sz="1600">
                <a:solidFill>
                  <a:srgbClr val="475569"/>
                </a:solidFill>
                <a:latin typeface="Calibri"/>
              </a:defRPr>
            </a:pPr>
            <a:r>
              <a:t>Responsive modern user interface built with React &amp; Vite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59436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Calibri"/>
              </a:defRPr>
            </a:pPr>
            <a:r>
              <a:t>ClauseIQ — Contract Clause Classification &amp; Intelligent Search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0" y="6446520"/>
            <a:ext cx="4782312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100">
                <a:solidFill>
                  <a:srgbClr val="64748B"/>
                </a:solidFill>
                <a:latin typeface="Calibri"/>
              </a:defRPr>
            </a:pPr>
            <a:r>
              <a:t>Dept. of Computer Applications, MACE | Slide 14 of 20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737360"/>
            <a:ext cx="512064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92024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E3A8A"/>
                </a:solidFill>
              </a:defRPr>
            </a:pPr>
            <a:r>
              <a:t>User Interface Views</a:t>
            </a:r>
          </a:p>
          <a:p>
            <a:pPr>
              <a:spcBef>
                <a:spcPts val="800"/>
              </a:spcBef>
              <a:defRPr sz="1400">
                <a:solidFill>
                  <a:srgbClr val="1E293B"/>
                </a:solidFill>
              </a:defRPr>
            </a:pPr>
            <a:r>
              <a:t>• Clause Classifier View: Paste text or drag &amp; drop PDF/TXT contract files.</a:t>
            </a:r>
          </a:p>
          <a:p>
            <a:pPr>
              <a:spcBef>
                <a:spcPts val="800"/>
              </a:spcBef>
              <a:defRPr sz="1400">
                <a:solidFill>
                  <a:srgbClr val="1E293B"/>
                </a:solidFill>
              </a:defRPr>
            </a:pPr>
            <a:r>
              <a:t>• Interactive Benchmark Chips: 1-click sample loading for Governing Law, Confidentiality, Termination, Non-Compete.</a:t>
            </a:r>
          </a:p>
          <a:p>
            <a:pPr>
              <a:spcBef>
                <a:spcPts val="800"/>
              </a:spcBef>
              <a:defRPr sz="1400">
                <a:solidFill>
                  <a:srgbClr val="1E293B"/>
                </a:solidFill>
              </a:defRPr>
            </a:pPr>
            <a:r>
              <a:t>• Probability Progress Meters: Color-coded visual probability displays.</a:t>
            </a:r>
          </a:p>
          <a:p>
            <a:pPr>
              <a:spcBef>
                <a:spcPts val="800"/>
              </a:spcBef>
              <a:defRPr sz="1400">
                <a:solidFill>
                  <a:srgbClr val="1E293B"/>
                </a:solidFill>
              </a:defRPr>
            </a:pPr>
            <a:r>
              <a:t>• Top-3 Alternative Categories: Transparent secondary predictions with calibrated percentages.</a:t>
            </a:r>
          </a:p>
          <a:p>
            <a:pPr>
              <a:spcBef>
                <a:spcPts val="800"/>
              </a:spcBef>
              <a:defRPr sz="1400">
                <a:solidFill>
                  <a:srgbClr val="1E293B"/>
                </a:solidFill>
              </a:defRPr>
            </a:pPr>
            <a:r>
              <a:t>• Multi-Clause Document Table: Shows all clauses extracted from uploaded contracts.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737360"/>
            <a:ext cx="5120640" cy="4389120"/>
          </a:xfrm>
          <a:prstGeom prst="roundRect">
            <a:avLst/>
          </a:prstGeom>
          <a:solidFill>
            <a:srgbClr val="F5F3FF"/>
          </a:solidFill>
          <a:ln w="1905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92024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6D28D9"/>
                </a:solidFill>
              </a:defRPr>
            </a:pPr>
            <a:r>
              <a:t>Intelligent Search Portal</a:t>
            </a:r>
          </a:p>
          <a:p>
            <a:pPr>
              <a:spcBef>
                <a:spcPts val="800"/>
              </a:spcBef>
              <a:defRPr sz="1400">
                <a:solidFill>
                  <a:srgbClr val="1E293B"/>
                </a:solidFill>
              </a:defRPr>
            </a:pPr>
            <a:r>
              <a:t>✔ Natural-Language Search Bar: Query legal terms and conditions.</a:t>
            </a:r>
          </a:p>
          <a:p>
            <a:pPr>
              <a:spcBef>
                <a:spcPts val="800"/>
              </a:spcBef>
              <a:defRPr sz="1400">
                <a:solidFill>
                  <a:srgbClr val="1E293B"/>
                </a:solidFill>
              </a:defRPr>
            </a:pPr>
            <a:r>
              <a:t>✔ Dynamic Top-K Slider: User-adjustable cutoff from 1 to 25 results.</a:t>
            </a:r>
          </a:p>
          <a:p>
            <a:pPr>
              <a:spcBef>
                <a:spcPts val="800"/>
              </a:spcBef>
              <a:defRPr sz="1400">
                <a:solidFill>
                  <a:srgbClr val="1E293B"/>
                </a:solidFill>
              </a:defRPr>
            </a:pPr>
            <a:r>
              <a:t>✔ Live Category Filter: Dropdown populated dynamically from /categories API.</a:t>
            </a:r>
          </a:p>
          <a:p>
            <a:pPr>
              <a:spcBef>
                <a:spcPts val="800"/>
              </a:spcBef>
              <a:defRPr sz="1400">
                <a:solidFill>
                  <a:srgbClr val="1E293B"/>
                </a:solidFill>
              </a:defRPr>
            </a:pPr>
            <a:r>
              <a:t>✔ Ranked Results Display: Rank # badges, similarity match percentages, source contract IDs, and full clause text.</a:t>
            </a:r>
          </a:p>
          <a:p>
            <a:pPr>
              <a:spcBef>
                <a:spcPts val="800"/>
              </a:spcBef>
              <a:defRPr sz="1400">
                <a:solidFill>
                  <a:srgbClr val="1E293B"/>
                </a:solidFill>
              </a:defRPr>
            </a:pPr>
            <a:r>
              <a:t>✔ Environment Config: Consumes VITE_API_URL without hardcoding localhost.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82880" y="182880"/>
            <a:ext cx="11823192" cy="6492240"/>
          </a:xfrm>
          <a:prstGeom prst="rect">
            <a:avLst/>
          </a:prstGeom>
          <a:noFill/>
          <a:ln w="1905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47472"/>
            <a:ext cx="2377440" cy="329184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2563EB"/>
                </a:solidFill>
                <a:latin typeface="Trebuchet MS"/>
              </a:defRPr>
            </a:pPr>
            <a:r>
              <a:t>SPRINT 3: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11091672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Trebuchet MS"/>
              </a:defRPr>
            </a:pPr>
            <a:r>
              <a:t>End-to-End User Workflows</a:t>
            </a:r>
          </a:p>
          <a:p>
            <a:pPr>
              <a:defRPr sz="1600">
                <a:solidFill>
                  <a:srgbClr val="475569"/>
                </a:solidFill>
                <a:latin typeface="Calibri"/>
              </a:defRPr>
            </a:pPr>
            <a:r>
              <a:t>Step-by-step interaction flows across classification and search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59436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Calibri"/>
              </a:defRPr>
            </a:pPr>
            <a:r>
              <a:t>ClauseIQ — Contract Clause Classification &amp; Intelligent Search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0" y="6446520"/>
            <a:ext cx="4782312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100">
                <a:solidFill>
                  <a:srgbClr val="64748B"/>
                </a:solidFill>
                <a:latin typeface="Calibri"/>
              </a:defRPr>
            </a:pPr>
            <a:r>
              <a:t>Dept. of Computer Applications, MACE | Slide 15 of 20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737360"/>
            <a:ext cx="512064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92024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E3A8A"/>
                </a:solidFill>
              </a:defRPr>
            </a:pPr>
            <a:r>
              <a:t>Workflow A: Clause Classification</a:t>
            </a:r>
          </a:p>
          <a:p>
            <a:pPr>
              <a:spcBef>
                <a:spcPts val="500"/>
              </a:spcBef>
              <a:defRPr sz="1350">
                <a:solidFill>
                  <a:srgbClr val="1E293B"/>
                </a:solidFill>
              </a:defRPr>
            </a:pPr>
            <a:r>
              <a:t>1. User enters text or uploads contract PDF.</a:t>
            </a:r>
          </a:p>
          <a:p>
            <a:pPr>
              <a:spcBef>
                <a:spcPts val="500"/>
              </a:spcBef>
              <a:defRPr sz="1350">
                <a:solidFill>
                  <a:srgbClr val="1E293B"/>
                </a:solidFill>
              </a:defRPr>
            </a:pPr>
            <a:r>
              <a:t>2. React sends POST request to FastAPI.</a:t>
            </a:r>
          </a:p>
          <a:p>
            <a:pPr>
              <a:spcBef>
                <a:spcPts val="500"/>
              </a:spcBef>
              <a:defRPr sz="1350">
                <a:solidFill>
                  <a:srgbClr val="1E293B"/>
                </a:solidFill>
              </a:defRPr>
            </a:pPr>
            <a:r>
              <a:t>3. Backend parses PDF (PyMuPDF) &amp; splits clauses.</a:t>
            </a:r>
          </a:p>
          <a:p>
            <a:pPr>
              <a:spcBef>
                <a:spcPts val="500"/>
              </a:spcBef>
              <a:defRPr sz="1350">
                <a:solidFill>
                  <a:srgbClr val="1E293B"/>
                </a:solidFill>
              </a:defRPr>
            </a:pPr>
            <a:r>
              <a:t>4. Preprocessor normalizes tokens.</a:t>
            </a:r>
          </a:p>
          <a:p>
            <a:pPr>
              <a:spcBef>
                <a:spcPts val="500"/>
              </a:spcBef>
              <a:defRPr sz="1350">
                <a:solidFill>
                  <a:srgbClr val="1E293B"/>
                </a:solidFill>
              </a:defRPr>
            </a:pPr>
            <a:r>
              <a:t>5. TF-IDF vectorizer extracts 10,000 features.</a:t>
            </a:r>
          </a:p>
          <a:p>
            <a:pPr>
              <a:spcBef>
                <a:spcPts val="500"/>
              </a:spcBef>
              <a:defRPr sz="1350">
                <a:solidFill>
                  <a:srgbClr val="1E293B"/>
                </a:solidFill>
              </a:defRPr>
            </a:pPr>
            <a:r>
              <a:t>6. Logistic Regression predicts category &amp; probabilities.</a:t>
            </a:r>
          </a:p>
          <a:p>
            <a:pPr>
              <a:spcBef>
                <a:spcPts val="500"/>
              </a:spcBef>
              <a:defRPr sz="1350">
                <a:solidFill>
                  <a:srgbClr val="1E293B"/>
                </a:solidFill>
              </a:defRPr>
            </a:pPr>
            <a:r>
              <a:t>7. Top category + top-3 alternatives returned to UI.</a:t>
            </a:r>
          </a:p>
          <a:p>
            <a:pPr>
              <a:spcBef>
                <a:spcPts val="500"/>
              </a:spcBef>
              <a:defRPr sz="1350">
                <a:solidFill>
                  <a:srgbClr val="1E293B"/>
                </a:solidFill>
              </a:defRPr>
            </a:pPr>
            <a:r>
              <a:t>8. Supabase logs classification telemetry.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737360"/>
            <a:ext cx="512064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92024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2563EB"/>
                </a:solidFill>
              </a:defRPr>
            </a:pPr>
            <a:r>
              <a:t>Workflow B: Semantic Search</a:t>
            </a:r>
          </a:p>
          <a:p>
            <a:pPr>
              <a:spcBef>
                <a:spcPts val="500"/>
              </a:spcBef>
              <a:defRPr sz="1350">
                <a:solidFill>
                  <a:srgbClr val="1E293B"/>
                </a:solidFill>
              </a:defRPr>
            </a:pPr>
            <a:r>
              <a:t>1. User submits query (e.g. 'termination for convenience').</a:t>
            </a:r>
          </a:p>
          <a:p>
            <a:pPr>
              <a:spcBef>
                <a:spcPts val="500"/>
              </a:spcBef>
              <a:defRPr sz="1350">
                <a:solidFill>
                  <a:srgbClr val="1E293B"/>
                </a:solidFill>
              </a:defRPr>
            </a:pPr>
            <a:r>
              <a:t>2. User selects optional category filter &amp; top-k.</a:t>
            </a:r>
          </a:p>
          <a:p>
            <a:pPr>
              <a:spcBef>
                <a:spcPts val="500"/>
              </a:spcBef>
              <a:defRPr sz="1350">
                <a:solidFill>
                  <a:srgbClr val="1E293B"/>
                </a:solidFill>
              </a:defRPr>
            </a:pPr>
            <a:r>
              <a:t>3. React dispatches POST /search.</a:t>
            </a:r>
          </a:p>
          <a:p>
            <a:pPr>
              <a:spcBef>
                <a:spcPts val="500"/>
              </a:spcBef>
              <a:defRPr sz="1350">
                <a:solidFill>
                  <a:srgbClr val="1E293B"/>
                </a:solidFill>
              </a:defRPr>
            </a:pPr>
            <a:r>
              <a:t>4. Query normalized and transformed by TF-IDF.</a:t>
            </a:r>
          </a:p>
          <a:p>
            <a:pPr>
              <a:spcBef>
                <a:spcPts val="500"/>
              </a:spcBef>
              <a:defRPr sz="1350">
                <a:solidFill>
                  <a:srgbClr val="1E293B"/>
                </a:solidFill>
              </a:defRPr>
            </a:pPr>
            <a:r>
              <a:t>5. Cosine similarity computed against 12,204 clauses.</a:t>
            </a:r>
          </a:p>
          <a:p>
            <a:pPr>
              <a:spcBef>
                <a:spcPts val="500"/>
              </a:spcBef>
              <a:defRPr sz="1350">
                <a:solidFill>
                  <a:srgbClr val="1E293B"/>
                </a:solidFill>
              </a:defRPr>
            </a:pPr>
            <a:r>
              <a:t>6. Results thresholded, ranked, and sliced to top-k.</a:t>
            </a:r>
          </a:p>
          <a:p>
            <a:pPr>
              <a:spcBef>
                <a:spcPts val="500"/>
              </a:spcBef>
              <a:defRPr sz="1350">
                <a:solidFill>
                  <a:srgbClr val="1E293B"/>
                </a:solidFill>
              </a:defRPr>
            </a:pPr>
            <a:r>
              <a:t>7. Response rendered with similarity score bars.</a:t>
            </a:r>
          </a:p>
          <a:p>
            <a:pPr>
              <a:spcBef>
                <a:spcPts val="500"/>
              </a:spcBef>
              <a:defRPr sz="1350">
                <a:solidFill>
                  <a:srgbClr val="1E293B"/>
                </a:solidFill>
              </a:defRPr>
            </a:pPr>
            <a:r>
              <a:t>8. Supabase logs search telemetry.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82880" y="182880"/>
            <a:ext cx="11823192" cy="6492240"/>
          </a:xfrm>
          <a:prstGeom prst="rect">
            <a:avLst/>
          </a:prstGeom>
          <a:noFill/>
          <a:ln w="1905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47472"/>
            <a:ext cx="2377440" cy="329184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2563EB"/>
                </a:solidFill>
                <a:latin typeface="Trebuchet MS"/>
              </a:defRPr>
            </a:pPr>
            <a:r>
              <a:t>SPRINT 3: TESTING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11091672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Trebuchet MS"/>
              </a:defRPr>
            </a:pPr>
            <a:r>
              <a:t>Automated Testing &amp; Quality Assurance</a:t>
            </a:r>
          </a:p>
          <a:p>
            <a:pPr>
              <a:defRPr sz="1600">
                <a:solidFill>
                  <a:srgbClr val="475569"/>
                </a:solidFill>
                <a:latin typeface="Calibri"/>
              </a:defRPr>
            </a:pPr>
            <a:r>
              <a:t>Comprehensive Pytest test suite covering all 3 sprints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59436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Calibri"/>
              </a:defRPr>
            </a:pPr>
            <a:r>
              <a:t>ClauseIQ — Contract Clause Classification &amp; Intelligent Search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0" y="6446520"/>
            <a:ext cx="4782312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100">
                <a:solidFill>
                  <a:srgbClr val="64748B"/>
                </a:solidFill>
                <a:latin typeface="Calibri"/>
              </a:defRPr>
            </a:pPr>
            <a:r>
              <a:t>Dept. of Computer Applications, MACE | Slide 16 of 20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737360"/>
            <a:ext cx="342900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920240"/>
            <a:ext cx="31546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E3A8A"/>
                </a:solidFill>
              </a:defRPr>
            </a:pPr>
            <a:r>
              <a:t>Sprint 1 Core Suite</a:t>
            </a:r>
          </a:p>
          <a:p>
            <a:pPr>
              <a:spcBef>
                <a:spcPts val="600"/>
              </a:spcBef>
              <a:defRPr sz="1600" b="1">
                <a:solidFill>
                  <a:srgbClr val="059669"/>
                </a:solidFill>
              </a:defRPr>
            </a:pPr>
            <a:r>
              <a:t>✔ 9 Tests PASSED</a:t>
            </a:r>
          </a:p>
          <a:p>
            <a:pPr>
              <a:spcBef>
                <a:spcPts val="1000"/>
              </a:spcBef>
              <a:defRPr sz="1300">
                <a:solidFill>
                  <a:srgbClr val="1E293B"/>
                </a:solidFill>
              </a:defRPr>
            </a:pPr>
            <a:r>
              <a:t>tests/test_sprint1.py</a:t>
            </a:r>
            <a:br/>
            <a:r>
              <a:t>• Text cleaning &amp; normalization</a:t>
            </a:r>
            <a:br/>
            <a:r>
              <a:t>• Clause splitting &amp; regex fallback</a:t>
            </a:r>
            <a:br/>
            <a:r>
              <a:t>• PDF extraction from sample contract</a:t>
            </a:r>
            <a:br/>
            <a:r>
              <a:t>• Model artifact verification</a:t>
            </a:r>
            <a:br/>
            <a:r>
              <a:t>• Baseline model inference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737360"/>
            <a:ext cx="342900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0560" y="1920240"/>
            <a:ext cx="31546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6D28D9"/>
                </a:solidFill>
              </a:defRPr>
            </a:pPr>
            <a:r>
              <a:t>Sprint 2 Search Suite</a:t>
            </a:r>
          </a:p>
          <a:p>
            <a:pPr>
              <a:spcBef>
                <a:spcPts val="600"/>
              </a:spcBef>
              <a:defRPr sz="1600" b="1">
                <a:solidFill>
                  <a:srgbClr val="059669"/>
                </a:solidFill>
              </a:defRPr>
            </a:pPr>
            <a:r>
              <a:t>✔ 15 Tests PASSED</a:t>
            </a:r>
          </a:p>
          <a:p>
            <a:pPr>
              <a:spcBef>
                <a:spcPts val="1000"/>
              </a:spcBef>
              <a:defRPr sz="1300">
                <a:solidFill>
                  <a:srgbClr val="1E293B"/>
                </a:solidFill>
              </a:defRPr>
            </a:pPr>
            <a:r>
              <a:t>tests/test_sprint2.py</a:t>
            </a:r>
            <a:br/>
            <a:r>
              <a:t>• Cosine similarity search logic</a:t>
            </a:r>
            <a:br/>
            <a:r>
              <a:t>• Monotonic ranking order verification</a:t>
            </a:r>
            <a:br/>
            <a:r>
              <a:t>• Top-k bounds &amp; category filters</a:t>
            </a:r>
            <a:br/>
            <a:r>
              <a:t>• Empty &amp; invalid query handling</a:t>
            </a:r>
            <a:br/>
            <a:r>
              <a:t>• API search &amp; classify endpoints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55280" y="1737360"/>
            <a:ext cx="342900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92440" y="1920240"/>
            <a:ext cx="31546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59669"/>
                </a:solidFill>
              </a:defRPr>
            </a:pPr>
            <a:r>
              <a:t>Sprint 3 Integration Suite</a:t>
            </a:r>
          </a:p>
          <a:p>
            <a:pPr>
              <a:spcBef>
                <a:spcPts val="600"/>
              </a:spcBef>
              <a:defRPr sz="1600" b="1">
                <a:solidFill>
                  <a:srgbClr val="059669"/>
                </a:solidFill>
              </a:defRPr>
            </a:pPr>
            <a:r>
              <a:t>✔ 17 Tests PASSED</a:t>
            </a:r>
          </a:p>
          <a:p>
            <a:pPr>
              <a:spcBef>
                <a:spcPts val="1000"/>
              </a:spcBef>
              <a:defRPr sz="1300">
                <a:solidFill>
                  <a:srgbClr val="1E293B"/>
                </a:solidFill>
              </a:defRPr>
            </a:pPr>
            <a:r>
              <a:t>tests/test_sprint3.py</a:t>
            </a:r>
            <a:br/>
            <a:r>
              <a:t>• GET /health &amp; telemetry</a:t>
            </a:r>
            <a:br/>
            <a:r>
              <a:t>• Top-3 alternatives probability checks</a:t>
            </a:r>
            <a:br/>
            <a:r>
              <a:t>• PDF document upload &amp; clause splitting</a:t>
            </a:r>
            <a:br/>
            <a:r>
              <a:t>• Special character &amp; long query checks</a:t>
            </a:r>
            <a:br/>
            <a:r>
              <a:t>• CORS headers &amp; Supabase fallback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82880" y="182880"/>
            <a:ext cx="11823192" cy="6492240"/>
          </a:xfrm>
          <a:prstGeom prst="rect">
            <a:avLst/>
          </a:prstGeom>
          <a:noFill/>
          <a:ln w="1905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47472"/>
            <a:ext cx="2377440" cy="329184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2563EB"/>
                </a:solidFill>
                <a:latin typeface="Trebuchet MS"/>
              </a:defRPr>
            </a:pPr>
            <a:r>
              <a:t>SPRINT 3: 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11091672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Trebuchet MS"/>
              </a:defRPr>
            </a:pPr>
            <a:r>
              <a:t>Sprint 2 Metric Re-Verification</a:t>
            </a:r>
          </a:p>
          <a:p>
            <a:pPr>
              <a:defRPr sz="1600">
                <a:solidFill>
                  <a:srgbClr val="475569"/>
                </a:solidFill>
                <a:latin typeface="Calibri"/>
              </a:defRPr>
            </a:pPr>
            <a:r>
              <a:t>Confirming zero silent drift or degradation in the deployed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59436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Calibri"/>
              </a:defRPr>
            </a:pPr>
            <a:r>
              <a:t>ClauseIQ — Contract Clause Classification &amp; Intelligent Search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0" y="6446520"/>
            <a:ext cx="4782312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100">
                <a:solidFill>
                  <a:srgbClr val="64748B"/>
                </a:solidFill>
                <a:latin typeface="Calibri"/>
              </a:defRPr>
            </a:pPr>
            <a:r>
              <a:t>Dept. of Computer Applications, MACE | Slide 17 of 20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737360"/>
            <a:ext cx="5120640" cy="4389120"/>
          </a:xfrm>
          <a:prstGeom prst="roundRect">
            <a:avLst/>
          </a:prstGeom>
          <a:solidFill>
            <a:srgbClr val="ECFDF5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92024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59669"/>
                </a:solidFill>
              </a:defRPr>
            </a:pPr>
            <a:r>
              <a:t>Re-Evaluation Outcome: 100% Identical</a:t>
            </a:r>
          </a:p>
          <a:p>
            <a:pPr>
              <a:spcBef>
                <a:spcPts val="800"/>
              </a:spcBef>
              <a:defRPr sz="1400">
                <a:solidFill>
                  <a:srgbClr val="1E293B"/>
                </a:solidFill>
              </a:defRPr>
            </a:pPr>
            <a:r>
              <a:t>✔ Evaluated on: Exact held-out test split (N = 2,441).</a:t>
            </a:r>
          </a:p>
          <a:p>
            <a:pPr>
              <a:spcBef>
                <a:spcPts val="800"/>
              </a:spcBef>
              <a:defRPr sz="1400">
                <a:solidFill>
                  <a:srgbClr val="1E293B"/>
                </a:solidFill>
              </a:defRPr>
            </a:pPr>
            <a:r>
              <a:t>✔ Logistic Regression Accuracy: 0.7190 (Exact match).</a:t>
            </a:r>
          </a:p>
          <a:p>
            <a:pPr>
              <a:spcBef>
                <a:spcPts val="800"/>
              </a:spcBef>
              <a:defRPr sz="1400">
                <a:solidFill>
                  <a:srgbClr val="1E293B"/>
                </a:solidFill>
              </a:defRPr>
            </a:pPr>
            <a:r>
              <a:t>✔ Macro F1-Score: 0.6474 (Exact match).</a:t>
            </a:r>
          </a:p>
          <a:p>
            <a:pPr>
              <a:spcBef>
                <a:spcPts val="800"/>
              </a:spcBef>
              <a:defRPr sz="1400">
                <a:solidFill>
                  <a:srgbClr val="1E293B"/>
                </a:solidFill>
              </a:defRPr>
            </a:pPr>
            <a:r>
              <a:t>✔ Weighted F1-Score: 0.7196 (Exact match).</a:t>
            </a:r>
          </a:p>
          <a:p>
            <a:pPr>
              <a:spcBef>
                <a:spcPts val="800"/>
              </a:spcBef>
              <a:defRPr sz="1400">
                <a:solidFill>
                  <a:srgbClr val="1E293B"/>
                </a:solidFill>
              </a:defRPr>
            </a:pPr>
            <a:r>
              <a:t>✔ Macro Precision: 0.6481 (Exact match).</a:t>
            </a:r>
          </a:p>
          <a:p>
            <a:pPr>
              <a:spcBef>
                <a:spcPts val="800"/>
              </a:spcBef>
              <a:defRPr sz="1400">
                <a:solidFill>
                  <a:srgbClr val="1E293B"/>
                </a:solidFill>
              </a:defRPr>
            </a:pPr>
            <a:r>
              <a:t>✔ Macro Recall: 0.6622 (Exact match).</a:t>
            </a:r>
          </a:p>
          <a:p>
            <a:pPr>
              <a:spcBef>
                <a:spcPts val="800"/>
              </a:spcBef>
              <a:defRPr sz="1400">
                <a:solidFill>
                  <a:srgbClr val="1E293B"/>
                </a:solidFill>
              </a:defRPr>
            </a:pPr>
            <a:r>
              <a:t>✔ Conclusion: Deployed model artifact has NOT drifted or degraded.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737360"/>
            <a:ext cx="512064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92024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E3A8A"/>
                </a:solidFill>
              </a:defRPr>
            </a:pPr>
            <a:r>
              <a:t>Real Bugs Diagnosed &amp; Fixed</a:t>
            </a:r>
          </a:p>
          <a:p>
            <a:pPr>
              <a:spcBef>
                <a:spcPts val="1000"/>
              </a:spcBef>
              <a:defRPr sz="1350">
                <a:solidFill>
                  <a:srgbClr val="1E293B"/>
                </a:solidFill>
              </a:defRPr>
            </a:pPr>
            <a:r>
              <a:t>• Bug 1 (Windows App Control): spaCy token.pyd blocked by OS policy. Fixed by adding graceful regex fallback tokenizer.</a:t>
            </a:r>
          </a:p>
          <a:p>
            <a:pPr>
              <a:spcBef>
                <a:spcPts val="1000"/>
              </a:spcBef>
              <a:defRPr sz="1350">
                <a:solidFill>
                  <a:srgbClr val="1E293B"/>
                </a:solidFill>
              </a:defRPr>
            </a:pPr>
            <a:r>
              <a:t>• Bug 2 (FastAPI Multipart): UploadFile required python-multipart. Fixed by installing and documenting in requirements.txt.</a:t>
            </a:r>
          </a:p>
          <a:p>
            <a:pPr>
              <a:spcBef>
                <a:spcPts val="1000"/>
              </a:spcBef>
              <a:defRPr sz="1350">
                <a:solidFill>
                  <a:srgbClr val="1E293B"/>
                </a:solidFill>
              </a:defRPr>
            </a:pPr>
            <a:r>
              <a:t>• Bug 3 (Category Label): Test expected generic 'Termination' instead of 'Termination For Convenience'. Fixed test assertion.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82880" y="182880"/>
            <a:ext cx="11823192" cy="6492240"/>
          </a:xfrm>
          <a:prstGeom prst="rect">
            <a:avLst/>
          </a:prstGeom>
          <a:noFill/>
          <a:ln w="1905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47472"/>
            <a:ext cx="2377440" cy="329184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2563EB"/>
                </a:solidFill>
                <a:latin typeface="Trebuchet MS"/>
              </a:defRPr>
            </a:pPr>
            <a:r>
              <a:t>SYSTEM LIMITATIONS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11091672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Trebuchet MS"/>
              </a:defRPr>
            </a:pPr>
            <a:r>
              <a:t>Current System Limitations</a:t>
            </a:r>
          </a:p>
          <a:p>
            <a:pPr>
              <a:defRPr sz="1600">
                <a:solidFill>
                  <a:srgbClr val="475569"/>
                </a:solidFill>
                <a:latin typeface="Calibri"/>
              </a:defRPr>
            </a:pPr>
            <a:r>
              <a:t>Boundaries and constraints of the classical ML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59436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Calibri"/>
              </a:defRPr>
            </a:pPr>
            <a:r>
              <a:t>ClauseIQ — Contract Clause Classification &amp; Intelligent Search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0" y="6446520"/>
            <a:ext cx="4782312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100">
                <a:solidFill>
                  <a:srgbClr val="64748B"/>
                </a:solidFill>
                <a:latin typeface="Calibri"/>
              </a:defRPr>
            </a:pPr>
            <a:r>
              <a:t>Dept. of Computer Applications, MACE | Slide 18 of 20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737360"/>
            <a:ext cx="10725912" cy="1051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828800"/>
            <a:ext cx="10360152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E3A8A"/>
                </a:solidFill>
              </a:defRPr>
            </a:pPr>
            <a:r>
              <a:t>Single-Label Classification</a:t>
            </a:r>
          </a:p>
          <a:p>
            <a:pPr>
              <a:spcBef>
                <a:spcPts val="300"/>
              </a:spcBef>
              <a:defRPr sz="1300">
                <a:solidFill>
                  <a:srgbClr val="1E293B"/>
                </a:solidFill>
              </a:defRPr>
            </a:pPr>
            <a:r>
              <a:t>Currently assigns each clause strictly to its single primary category. Complex provisions that combine multiple covenants (e.g. intellectual property license + audit obligation) are not decomposed into multi-label tags.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880360"/>
            <a:ext cx="10725912" cy="1051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971800"/>
            <a:ext cx="10360152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D97706"/>
                </a:solidFill>
              </a:defRPr>
            </a:pPr>
            <a:r>
              <a:t>Lexical Vocabulary Matching</a:t>
            </a:r>
          </a:p>
          <a:p>
            <a:pPr>
              <a:spcBef>
                <a:spcPts val="300"/>
              </a:spcBef>
              <a:defRPr sz="1300">
                <a:solidFill>
                  <a:srgbClr val="1E293B"/>
                </a:solidFill>
              </a:defRPr>
            </a:pPr>
            <a:r>
              <a:t>Classical TF-IDF relies on n-gram token overlap. Clauses expressing identical legal concepts using completely disparate legal synonyms without common tokens can experience lower cosine similarity scores.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023360"/>
            <a:ext cx="10725912" cy="1051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114800"/>
            <a:ext cx="10360152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6D28D9"/>
                </a:solidFill>
              </a:defRPr>
            </a:pPr>
            <a:r>
              <a:t>Plain-Text PDF Extraction Boundaries</a:t>
            </a:r>
          </a:p>
          <a:p>
            <a:pPr>
              <a:spcBef>
                <a:spcPts val="300"/>
              </a:spcBef>
              <a:defRPr sz="1300">
                <a:solidFill>
                  <a:srgbClr val="1E293B"/>
                </a:solidFill>
              </a:defRPr>
            </a:pPr>
            <a:r>
              <a:t>PyMuPDF linearly streams text. Multi-column tables, scanned image contracts requiring optical character recognition (OCR), or complex borders require future specialized computer vision extraction.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5166360"/>
            <a:ext cx="10725912" cy="1051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5257800"/>
            <a:ext cx="10360152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64748B"/>
                </a:solidFill>
              </a:defRPr>
            </a:pPr>
            <a:r>
              <a:t>Corpus Scope Boundaries</a:t>
            </a:r>
          </a:p>
          <a:p>
            <a:pPr>
              <a:spcBef>
                <a:spcPts val="300"/>
              </a:spcBef>
              <a:defRPr sz="1300">
                <a:solidFill>
                  <a:srgbClr val="1E293B"/>
                </a:solidFill>
              </a:defRPr>
            </a:pPr>
            <a:r>
              <a:t>Trained specifically on CUAD v1 commercial agreements. Sovereign treaties, patent prosecution claims, and criminal statutes fall outside the domain distribution.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82880" y="182880"/>
            <a:ext cx="11823192" cy="6492240"/>
          </a:xfrm>
          <a:prstGeom prst="rect">
            <a:avLst/>
          </a:prstGeom>
          <a:noFill/>
          <a:ln w="1905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47472"/>
            <a:ext cx="2377440" cy="329184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2563EB"/>
                </a:solidFill>
                <a:latin typeface="Trebuchet MS"/>
              </a:defRPr>
            </a:pPr>
            <a:r>
              <a:t>FUTURE RESEARCH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11091672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Trebuchet MS"/>
              </a:defRPr>
            </a:pPr>
            <a:r>
              <a:t>Future Scope: DocuMind AI Concept</a:t>
            </a:r>
          </a:p>
          <a:p>
            <a:pPr>
              <a:defRPr sz="1600">
                <a:solidFill>
                  <a:srgbClr val="475569"/>
                </a:solidFill>
                <a:latin typeface="Calibri"/>
              </a:defRPr>
            </a:pPr>
            <a:r>
              <a:t>Prospective MCA Main Project concept building on ClauseIQ's foundation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59436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Calibri"/>
              </a:defRPr>
            </a:pPr>
            <a:r>
              <a:t>ClauseIQ — Contract Clause Classification &amp; Intelligent Search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0" y="6446520"/>
            <a:ext cx="4782312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100">
                <a:solidFill>
                  <a:srgbClr val="64748B"/>
                </a:solidFill>
                <a:latin typeface="Calibri"/>
              </a:defRPr>
            </a:pPr>
            <a:r>
              <a:t>Dept. of Computer Applications, MACE | Slide 19 of 20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737360"/>
            <a:ext cx="5120640" cy="4389120"/>
          </a:xfrm>
          <a:prstGeom prst="roundRect">
            <a:avLst/>
          </a:prstGeom>
          <a:solidFill>
            <a:srgbClr val="F5F3FF"/>
          </a:solidFill>
          <a:ln w="1905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92024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6D28D9"/>
                </a:solidFill>
              </a:defRPr>
            </a:pPr>
            <a:r>
              <a:t>DocuMind AI Architecture</a:t>
            </a:r>
          </a:p>
          <a:p>
            <a:pPr>
              <a:spcBef>
                <a:spcPts val="800"/>
              </a:spcBef>
              <a:defRPr sz="1400">
                <a:solidFill>
                  <a:srgbClr val="1E293B"/>
                </a:solidFill>
              </a:defRPr>
            </a:pPr>
            <a:r>
              <a:t>• Enterprise Document Intelligence Concept for Main Project.</a:t>
            </a:r>
          </a:p>
          <a:p>
            <a:pPr>
              <a:spcBef>
                <a:spcPts val="800"/>
              </a:spcBef>
              <a:defRPr sz="1400">
                <a:solidFill>
                  <a:srgbClr val="1E293B"/>
                </a:solidFill>
              </a:defRPr>
            </a:pPr>
            <a:r>
              <a:t>• Hybrid Dense &amp; Sparse Retrieval: Combining ClauseIQ's high-speed TF-IDF lexical matching with Legal-BERT dense bi-encoder embeddings.</a:t>
            </a:r>
          </a:p>
          <a:p>
            <a:pPr>
              <a:spcBef>
                <a:spcPts val="800"/>
              </a:spcBef>
              <a:defRPr sz="1400">
                <a:solidFill>
                  <a:srgbClr val="1E293B"/>
                </a:solidFill>
              </a:defRPr>
            </a:pPr>
            <a:r>
              <a:t>• Reciprocal Rank Fusion (RRF): Blends semantic and keyword rankings for maximum retrieval recall.</a:t>
            </a:r>
          </a:p>
          <a:p>
            <a:pPr>
              <a:spcBef>
                <a:spcPts val="800"/>
              </a:spcBef>
              <a:defRPr sz="1400">
                <a:solidFill>
                  <a:srgbClr val="1E293B"/>
                </a:solidFill>
              </a:defRPr>
            </a:pPr>
            <a:r>
              <a:t>• Retrieval-Augmented Generation (RAG): Grounded compliance analysis and risk redlining using localized LLMs.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737360"/>
            <a:ext cx="512064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92024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E3A8A"/>
                </a:solidFill>
              </a:defRPr>
            </a:pPr>
            <a:r>
              <a:t>Advanced Extensions</a:t>
            </a:r>
          </a:p>
          <a:p>
            <a:pPr>
              <a:spcBef>
                <a:spcPts val="800"/>
              </a:spcBef>
              <a:defRPr sz="1400">
                <a:solidFill>
                  <a:srgbClr val="1E293B"/>
                </a:solidFill>
              </a:defRPr>
            </a:pPr>
            <a:r>
              <a:t>✔ Automated Named Entity Masking (NER): Privacy-preserving redaction of counterparty names, dates, and currency values.</a:t>
            </a:r>
          </a:p>
          <a:p>
            <a:pPr>
              <a:spcBef>
                <a:spcPts val="800"/>
              </a:spcBef>
              <a:defRPr sz="1400">
                <a:solidFill>
                  <a:srgbClr val="1E293B"/>
                </a:solidFill>
              </a:defRPr>
            </a:pPr>
            <a:r>
              <a:t>✔ Multi-Label Classification: Binary relevance classifiers per category for compound provisions.</a:t>
            </a:r>
          </a:p>
          <a:p>
            <a:pPr>
              <a:spcBef>
                <a:spcPts val="800"/>
              </a:spcBef>
              <a:defRPr sz="1400">
                <a:solidFill>
                  <a:srgbClr val="1E293B"/>
                </a:solidFill>
              </a:defRPr>
            </a:pPr>
            <a:r>
              <a:t>✔ Docker &amp; Kubernetes Containerization: Production-grade microservices deployment with automated scaling.</a:t>
            </a:r>
          </a:p>
          <a:p>
            <a:pPr>
              <a:spcBef>
                <a:spcPts val="800"/>
              </a:spcBef>
              <a:defRPr sz="1400">
                <a:solidFill>
                  <a:srgbClr val="1E293B"/>
                </a:solidFill>
              </a:defRPr>
            </a:pPr>
            <a:r>
              <a:t>✔ Important Note: Presented strictly as future main-project concept; not part of current ClauseIQ code.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097280"/>
            <a:ext cx="10360152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60A5FA"/>
                </a:solidFill>
                <a:latin typeface="Trebuchet MS"/>
              </a:defRPr>
            </a:pPr>
            <a:r>
              <a:t>CONCLUSION &amp; SPRINT 3 COMPLETION</a:t>
            </a:r>
          </a:p>
          <a:p>
            <a:pPr>
              <a:spcBef>
                <a:spcPts val="1400"/>
              </a:spcBef>
              <a:defRPr sz="1600">
                <a:solidFill>
                  <a:srgbClr val="FFFFFF"/>
                </a:solidFill>
              </a:defRPr>
            </a:pPr>
            <a:r>
              <a:t>✔  Sprint 1 Completed: 12,204 CUAD clauses cleaned, stratified split (9,763 / 2,441), 10,000 TF-IDF features.</a:t>
            </a:r>
          </a:p>
          <a:p>
            <a:pPr>
              <a:spcBef>
                <a:spcPts val="1400"/>
              </a:spcBef>
              <a:defRPr sz="1600">
                <a:solidFill>
                  <a:srgbClr val="FFFFFF"/>
                </a:solidFill>
              </a:defRPr>
            </a:pPr>
            <a:r>
              <a:t>✔  Sprint 2 Completed: 4 classical algorithms tuned; Logistic Regression selected (Macro-F1 0.6474, Acc 71.90%); Cosine search built (88% P@5).</a:t>
            </a:r>
          </a:p>
          <a:p>
            <a:pPr>
              <a:spcBef>
                <a:spcPts val="1400"/>
              </a:spcBef>
              <a:defRPr sz="1600">
                <a:solidFill>
                  <a:srgbClr val="FFFFFF"/>
                </a:solidFill>
              </a:defRPr>
            </a:pPr>
            <a:r>
              <a:t>✔  Sprint 3 Completed: Full-stack integration with FastAPI backend, React.js web application, and Supabase PostgreSQL persistence.</a:t>
            </a:r>
          </a:p>
          <a:p>
            <a:pPr>
              <a:spcBef>
                <a:spcPts val="1400"/>
              </a:spcBef>
              <a:defRPr sz="1600">
                <a:solidFill>
                  <a:srgbClr val="FFFFFF"/>
                </a:solidFill>
              </a:defRPr>
            </a:pPr>
            <a:r>
              <a:t>✔  Verified Quality: 41 automated Pytest tests passed with 100% success rate; Sprint 2 metrics 100% re-verified.</a:t>
            </a:r>
          </a:p>
          <a:p>
            <a:pPr>
              <a:spcBef>
                <a:spcPts val="1400"/>
              </a:spcBef>
              <a:defRPr sz="1600">
                <a:solidFill>
                  <a:srgbClr val="FFFFFF"/>
                </a:solidFill>
              </a:defRPr>
            </a:pPr>
            <a:r>
              <a:t>✔  Strict Constraints Met: 100% Classical Machine Learning with zero generative hallucination or artificial metrics.</a:t>
            </a:r>
          </a:p>
          <a:p>
            <a:pPr>
              <a:spcBef>
                <a:spcPts val="2400"/>
              </a:spcBef>
              <a:defRPr sz="2200" b="1">
                <a:solidFill>
                  <a:srgbClr val="93C5FD"/>
                </a:solidFill>
                <a:latin typeface="Trebuchet MS"/>
              </a:defRPr>
            </a:pPr>
            <a:r>
              <a:t>Thank You! Questions &amp; Discussion.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