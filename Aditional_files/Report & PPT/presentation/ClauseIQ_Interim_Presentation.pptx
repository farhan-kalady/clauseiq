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and guide. </a:t>
            </a:r>
          </a:p>
          <a:p>
            <a:r>
              <a:t>I am Mohammed Farhan K, Register Number MAC25MCA-2042, presenting the Interim Project Presentation for my MCA mini project: 'ClauseIQ – Machine Learning-Based Contract Clause Classification and Intelligent Search System'.</a:t>
            </a:r>
          </a:p>
          <a:p>
            <a:r>
              <a:t>In our first presentation, we laid out the architectural plan and initial dataset profiling. Today, for this interim milestone, I am presenting the verified empirical results of our end-to-end machine learning pipeline, including four trained and hyperparameter-tuned classification models, comprehensive metric evaluations on our held-out test set, production model selection, error analysis via confusion matrix, and our intelligent search prototype.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I briefly revisit the project motivation while bridging directly to our implementation choices. </a:t>
            </a:r>
          </a:p>
          <a:p>
            <a:r>
              <a:t>Legal contract review is bottlenecked by manual review fatigue across dozens of pages, and standard keyword searches fail because legal drafting varies wildly across jurisdictions. </a:t>
            </a:r>
          </a:p>
          <a:p>
            <a:r>
              <a:t>Importantly, we chose a classical machine learning pipeline with TF-IDF vectorization rather than a heavy LLM. In an enterprise legal workflow, contracts are highly confidential, cloud LLM APIs introduce latency and data privacy risks, and generative models can hallucinate. Classical ML provides deterministic classification, sub-10 millisecond retrieval speeds, and complete data privacy locally.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3, we establish the boundary of this interim presentation. </a:t>
            </a:r>
          </a:p>
          <a:p>
            <a:r>
              <a:t>Our overall project targets four key deliverables: 41-class classification, semantic search, a FastAPI backend, and a web interface.</a:t>
            </a:r>
          </a:p>
          <a:p>
            <a:r>
              <a:t>For this interim milestone, we have completed the core machine learning lifecycle: the dataset curation, the text preprocessing pipeline, 10,000-dimensional TF-IDF feature extraction, training and tuning all four candidate classifiers, evaluating them on the exact same held-out test set, selecting Logistic Regression as our production model, and creating the search prototype and FastAPI serving endpoints with an automated test suite. The UI and database integration are in progress for the final phase.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presents our verified dataset specifications.</a:t>
            </a:r>
          </a:p>
          <a:p>
            <a:r>
              <a:t>The dataset is derived from CUAD v1, containing 510 contracts and exactly 12,204 labeled clause records across 41 legal categories. </a:t>
            </a:r>
          </a:p>
          <a:p>
            <a:r>
              <a:t>The schema has three columns: contract_id, clause_text, and category. </a:t>
            </a:r>
          </a:p>
          <a:p>
            <a:r>
              <a:t>Through our automated data cleaning scripts in src/clean_dataset.py, we verified 100% data integrity: zero missing values, zero empty strings, and zero exact duplicates. The average clause length is 24 words, representing concise, high-density legal provisions.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highlights a critical finding from our exploratory data analysis: the severe class imbalance in real-world legal contracts.</a:t>
            </a:r>
          </a:p>
          <a:p>
            <a:r>
              <a:t>The largest class, 'Parties', has 1,251 clauses, while the smallest, 'Price Restrictions', has only 27 clauses. That represents an extreme imbalance ratio of 46.33 to 1.</a:t>
            </a:r>
          </a:p>
          <a:p>
            <a:r>
              <a:t>Other rare provisions, such as 'Most Favored Nation' with 42 clauses and 'Source Code Escrow' with 65 clauses, carry tremendous legal risk. </a:t>
            </a:r>
          </a:p>
          <a:p>
            <a:r>
              <a:t>If an AI model were evaluated only on overall accuracy, it could completely ignore rare classes like Price Restrictions and still achieve 70%+ accuracy. This is why Macro-F1 is established as our primary evaluation metric.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details our data preprocessing pipeline implemented in src/text_cleaner.py.</a:t>
            </a:r>
          </a:p>
          <a:p>
            <a:r>
              <a:t>Rather than using generic NLP cleaning that might destroy legal meaning, we developed a targeted pipeline:</a:t>
            </a:r>
          </a:p>
          <a:p>
            <a:r>
              <a:t>First, raw clause text is ingested. Second, text is case-folded to lowercase. </a:t>
            </a:r>
          </a:p>
          <a:p>
            <a:r>
              <a:t>Third, URLs and email addresses are stripped via regular expressions to prevent arbitrary web links from distorting vocabulary.</a:t>
            </a:r>
          </a:p>
          <a:p>
            <a:r>
              <a:t>Fourth, non-standard symbols are filtered while preserving numeric terms, percentages, and dollar figures.</a:t>
            </a:r>
          </a:p>
          <a:p>
            <a:r>
              <a:t>Fifth, whitespace is collapsed and trimmed.</a:t>
            </a:r>
          </a:p>
          <a:p>
            <a:r>
              <a:t>On the slide, you can see a concrete before-and-after example from our test suite, demonstrating how noise is removed while retaining legal semantics.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explains our feature engineering strategy using TF-IDF.</a:t>
            </a:r>
          </a:p>
          <a:p>
            <a:r>
              <a:t>Our verified vectorizer configuration uses 10,000 max features, unigram plus bigram n-grams, sublinear TF scaling, min_df of 2, and max_df of 0.95.</a:t>
            </a:r>
          </a:p>
          <a:p>
            <a:r>
              <a:t>Notice why bigrams are essential: in contract law, words like 'governing' and 'law', or 'prior' and 'written' belong together. If we only look at unigrams, we lose the legal collocation.</a:t>
            </a:r>
          </a:p>
          <a:p>
            <a:r>
              <a:t>Sublinear TF scales term frequency logarithmically as 1 + log(tf), which prevents repetitive words from overwhelming rare informative terms.</a:t>
            </a:r>
          </a:p>
          <a:p>
            <a:r>
              <a:t>Crucially, to prevent data leakage, the vectorizer was fitted strictly on the training set, and the held-out test set was transformed using that fitted vocabulary.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describes our dataset partitioning strategy.</a:t>
            </a:r>
          </a:p>
          <a:p>
            <a:r>
              <a:t>We used an 80/20 stratified split with random_state=42, partitioning our 12,204 clauses into 9,763 training samples and 2,441 held-out test samples.</a:t>
            </a:r>
          </a:p>
          <a:p>
            <a:r>
              <a:t>Because our dataset contains 41 categories with extreme imbalance, stratification is essential. It guarantees that every single category—including Price Restrictions with only 27 total clauses—is represented proportionally: 22 in training, 5 in testing.</a:t>
            </a:r>
          </a:p>
          <a:p>
            <a:r>
              <a:t>Important clarification: this is a clause-level stratified split, not a contract-level split. Crucially, all four models were evaluated on the exact same 2,441 test instances, guaranteeing complete benchmark fairness.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outlines the four classical machine learning architectures evaluated in ClauseIQ.</a:t>
            </a:r>
          </a:p>
          <a:p>
            <a:r>
              <a:t>First, Multinomial Logistic Regression: it maps features through a linear combination and softmax function, providing natively calibrated probabilities.</a:t>
            </a:r>
          </a:p>
          <a:p>
            <a:r>
              <a:t>Second, Linear Support Vector Machine: it computes maximum-margin hyperplanes, well-known for exceptional performance in sparse, high-dimensional text spaces.</a:t>
            </a:r>
          </a:p>
          <a:p>
            <a:r>
              <a:t>Third, Multinomial Naive Bayes: a fast probabilistic generative baseline based on word frequencies.</a:t>
            </a:r>
          </a:p>
          <a:p>
            <a:r>
              <a:t>Fourth, Random Forest: a non-linear ensemble of decision trees, allowing us to empirically test whether non-linear tree bagging outperforms linear baselines on sparse text.</a:t>
            </a:r>
          </a:p>
          <a:p>
            <a:r>
              <a:t>All four models were trained on the identical 9,763 training samples using balanced class weighting.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hyperparameter tuning and cross-validation setup.</a:t>
            </a:r>
          </a:p>
          <a:p>
            <a:r>
              <a:t>All tuning was performed strictly on the training partition using StratifiedKFold and macro-F1 scoring.</a:t>
            </a:r>
          </a:p>
          <a:p>
            <a:r>
              <a:t>For Naive Bayes, GridSearchCV over alpha selected alpha=0.01 with a 5-fold CV macro-F1 of 0.5905.</a:t>
            </a:r>
          </a:p>
          <a:p>
            <a:r>
              <a:t>For Random Forest, RandomizedSearchCV with 8 iterations selected 200 estimators, max depth of 50, and min samples split of 10, achieving 0.5776 CV macro-F1.</a:t>
            </a:r>
          </a:p>
          <a:p>
            <a:r>
              <a:t>For Linear SVM, grid search over C selected C=0.1 with balanced class weights.</a:t>
            </a:r>
          </a:p>
          <a:p>
            <a:r>
              <a:t>For Logistic Regression, L2 regularization with L-BFGS solver and balanced class weighting achieved our benchmark-leading Macro-F1 of 64.74%.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fulfills the mandatory code snippet requirement, showing real Python code directly from src/feature_extraction.py and src/train_baseline.py.</a:t>
            </a:r>
          </a:p>
          <a:p>
            <a:r>
              <a:t>As visible on the slide:</a:t>
            </a:r>
          </a:p>
          <a:p>
            <a:r>
              <a:t>In block 1, we instantiate the TfidfVectorizer with 10,000 features, bigram range, and sublinear TF. Notice that fit_transform is called strictly on X_train_text, while X_test_text is transformed using transform(). This guarantees zero data leakage.</a:t>
            </a:r>
          </a:p>
          <a:p>
            <a:r>
              <a:t>In block 2, LogisticRegression is instantiated with class_weight='balanced'. This dynamically penalizes misclassifications on rare categories like Price Restrictions by computing class weights inversely proportional to class frequencies.</a:t>
            </a:r>
          </a:p>
          <a:p>
            <a:r>
              <a:t>Finally, in blocks 3 and 4, the model predicts labels for all 2,441 test clauses, computing Accuracy, Macro Precision, Macro Recall, Macro-F1, and Weighted-F1.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is the mandatory Model Evaluation Results slide containing our verified empirical metrics logged in results/model_comparison.csv.</a:t>
            </a:r>
          </a:p>
          <a:p>
            <a:r>
              <a:t>Let us examine the exact numbers:</a:t>
            </a:r>
          </a:p>
          <a:p>
            <a:r>
              <a:t>Logistic Regression achieved 71.90% Accuracy, 64.81% Macro Precision, 66.22% Macro Recall, 64.74% Macro-F1, and 71.96% Weighted-F1.</a:t>
            </a:r>
          </a:p>
          <a:p>
            <a:r>
              <a:t>Linear SVM achieved 72.63% Accuracy, 63.23% Macro Precision, 66.65% Macro Recall, 64.18% Macro-F1, and 72.26% Weighted-F1.</a:t>
            </a:r>
          </a:p>
          <a:p>
            <a:r>
              <a:t>Multinomial Naive Bayes achieved 69.27% Accuracy and 58.53% Macro-F1.</a:t>
            </a:r>
          </a:p>
          <a:p>
            <a:r>
              <a:t>Random Forest achieved 65.46% Accuracy and 56.34% Macro-F1.</a:t>
            </a:r>
          </a:p>
          <a:p>
            <a:r>
              <a:t>Notice that Linear SVM achieved the highest raw accuracy at 72.63%, but Logistic Regression achieved the highest Macro-F1 at 64.74%. </a:t>
            </a:r>
          </a:p>
          <a:p>
            <a:r>
              <a:t>Since Macro-F1 gives equal weight to all 41 classes regardless of size, it is our primary model selection metric.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embeds the verified model comparison graph from results/model_comparison.png, plotted at 300 DPI directly from our evaluation script.</a:t>
            </a:r>
          </a:p>
          <a:p>
            <a:r>
              <a:t>The three bars for each model represent Accuracy in navy blue, Macro-F1 in orange, and Weighted-F1 in purple.</a:t>
            </a:r>
          </a:p>
          <a:p>
            <a:r>
              <a:t>Visually, you can immediately observe two key phenomena:</a:t>
            </a:r>
          </a:p>
          <a:p>
            <a:r>
              <a:t>First, the linear classifiers—Logistic Regression and Linear SVM—decisively outperform the Naive Bayes and Random Forest classifiers across all three metrics.</a:t>
            </a:r>
          </a:p>
          <a:p>
            <a:r>
              <a:t>Second, while Linear SVM achieves a slightly taller blue bar for Accuracy at 72.63%, Logistic Regression achieves the tallest orange bar for Macro-F1 at 64.74%.</a:t>
            </a:r>
          </a:p>
          <a:p>
            <a:r>
              <a:t>Weighted-F1 closely mirrors overall Accuracy because it weights by category frequency, confirming why Macro-F1 is the truly discriminative metric for class balance.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addresses model selection, which is a key question evaluators often ask.</a:t>
            </a:r>
          </a:p>
          <a:p>
            <a:r>
              <a:t>Our selection rule is hierarchical: Macro-F1 is primary, and Accuracy is secondary.</a:t>
            </a:r>
          </a:p>
          <a:p>
            <a:r>
              <a:t>Under this rule, Logistic Regression is our selected model because it achieved the highest Macro-F1 of 64.74%, outperforming Linear SVM at 64.18%.</a:t>
            </a:r>
          </a:p>
          <a:p>
            <a:r>
              <a:t>We explicitly acknowledge that Linear SVM achieved higher accuracy—72.63% versus 71.90%. However, in a severely imbalanced 41-class problem, accuracy is deceptive: a model can score high accuracy simply by classifying majority boilerplate like Parties and Audit Rights while misclassifying rare, highly litigated clauses like Price Restrictions and Non-Compete.</a:t>
            </a:r>
          </a:p>
          <a:p>
            <a:r>
              <a:t>Furthermore, Logistic Regression provides a major software engineering advantage: its softmax output yields natively calibrated probabilities P(y=c|x), allowing our FastAPI backend to report reliable confidence scores for human-in-the-loop legal review.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provides a representative class-level breakdown from the verified Logistic Regression classification report in results/classification_reports/logistic_regression_report.csv.</a:t>
            </a:r>
          </a:p>
          <a:p>
            <a:r>
              <a:t>We observe three distinct performance tiers:</a:t>
            </a:r>
          </a:p>
          <a:p>
            <a:r>
              <a:t>First, high-performing categories like Governing Law with 98.34% F1, Parties with 96.99% F1, and Insurance with 95.93% F1. These categories have standardized, distinctive legal vocabulary.</a:t>
            </a:r>
          </a:p>
          <a:p>
            <a:r>
              <a:t>Second, rare classes like Price Restrictions with only 5 test samples maintained a viable 75.00% F1, proving that balanced class weighting prevented the classifier from ignoring minority provisions.</a:t>
            </a:r>
          </a:p>
          <a:p>
            <a:r>
              <a:t>Third, the most challenging categories are paired provisions, specifically Affiliate License-Licensee (28.12% F1) and Affiliate License-Licensor (14.63% F1). In these clauses, the vocabulary is almost identical, differing only in grammatical direction (who grants to whom), which is a known challenge for bag-of-words TF-IDF representations.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is the mandatory Confusion Matrix slide, displaying the full 41-by-41 confusion matrix for our selected Logistic Regression model, generated at 300 DPI from results/confusion_matrices/logistic_regression_cm.png.</a:t>
            </a:r>
          </a:p>
          <a:p>
            <a:r>
              <a:t>The vertical axis represents the True Category, the horizontal axis represents the Predicted Category, the bright diagonal represents correct classifications, and off-diagonal points represent misclassifications.</a:t>
            </a:r>
          </a:p>
          <a:p>
            <a:r>
              <a:t>With 2,441 test instances, you can see a very sharp diagonal across primary categories like Parties, Audit Rights, and Governing Law.</a:t>
            </a:r>
          </a:p>
          <a:p>
            <a:r>
              <a:t>However, as highlighted on the right, the off-diagonal errors are concentrated in three specific legal pairs documented in our interim report:</a:t>
            </a:r>
          </a:p>
          <a:p>
            <a:r>
              <a:t>First, Affiliate License-Licensee versus Licensor due to shared software licensing vocabulary;</a:t>
            </a:r>
          </a:p>
          <a:p>
            <a:r>
              <a:t>Second, Cap On Liability versus Uncapped Liability where subtle negation words alter the legal meaning;</a:t>
            </a:r>
          </a:p>
          <a:p>
            <a:r>
              <a:t>And third, Agreement Date versus Effective Date where both clauses consist of isolated date strings.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summarizes our core machine learning findings and presents our completed intelligent search engine prototype from src/search.py.</a:t>
            </a:r>
          </a:p>
          <a:p>
            <a:r>
              <a:t>First, on machine learning: linear models like Logistic Regression and SVM proved vastly superior to decision trees in our 10,000-dimensional sparse TF-IDF space. Setting class_weight='balanced' successfully protected rare clauses.</a:t>
            </a:r>
          </a:p>
          <a:p>
            <a:r>
              <a:t>Second, on search: we implemented an in-memory sparse CSR search engine with cosine similarity. In our empirical search evaluation across 5 legal query scenarios, the engine achieves 80% Precision@1 and 88% Precision@5 with sub-10 millisecond response times.</a:t>
            </a:r>
          </a:p>
          <a:p>
            <a:r>
              <a:t>Furthermore, our ablation study proved that bigrams are essential: restricting the index to unigrams dropped top-rank Precision@1 by a full 20 percentage points.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provides a transparent, honest academic audit of our project status.</a:t>
            </a:r>
          </a:p>
          <a:p>
            <a:r>
              <a:t>On the left, in green, is the work that has been fully completed and empirically verified in our repository: the entire machine learning pipeline, 4 models trained and tuned, comprehensive evaluation, model selection of Logistic Regression, 41x41 confusion matrix, the search engine prototype, FastAPI serving backend, and a 15-test automated pytest suite with a 100% pass rate.</a:t>
            </a:r>
          </a:p>
          <a:p>
            <a:r>
              <a:t>On the right, in amber, we clearly delineate what remains for the final phase: connecting the live Supabase PostgreSQL database, developing the interactive React web dashboard, conducting end-to-end integration testing, and final cloud deployment. </a:t>
            </a:r>
          </a:p>
          <a:p>
            <a:r>
              <a:t>We strictly follow academic integrity: no unfinished UI or deployment is claimed as completed today.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respected members of the evaluation panel and project guide, for your time and attention. </a:t>
            </a:r>
          </a:p>
          <a:p>
            <a:r>
              <a:t>In conclusion, ClauseIQ has completed its core empirical machine learning phase, validating our feature engineering, achieving 64.74% Macro-F1 with Logistic Regression on a 41-class imbalanced legal corpus, and building a high-precision search prototype and FastAPI serving layer.</a:t>
            </a:r>
          </a:p>
          <a:p>
            <a:r>
              <a:t>I am now open to your questions, feedback, and suggestions for our upcoming final phase.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544"/>
        </a:solidFill>
        <a:effectLst/>
      </p:bgPr>
    </p:bg>
    <p:spTree>
      <p:nvGrpSpPr>
        <p:cNvPr id="1" name=""/>
        <p:cNvGrpSpPr/>
        <p:nvPr/>
      </p:nvGrpSpPr>
      <p:grpSpPr/>
      <p:sp>
        <p:nvSpPr>
          <p:cNvPr id="2" name="Rectangle 1"/>
          <p:cNvSpPr/>
          <p:nvPr/>
        </p:nvSpPr>
        <p:spPr>
          <a:xfrm>
            <a:off x="274320" y="274320"/>
            <a:ext cx="11640312" cy="6309360"/>
          </a:xfrm>
          <a:prstGeom prst="rect">
            <a:avLst/>
          </a:prstGeom>
          <a:no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931920" y="777240"/>
            <a:ext cx="4325112" cy="365760"/>
          </a:xfrm>
          <a:prstGeom prst="roundRect">
            <a:avLst/>
          </a:prstGeom>
          <a:solidFill>
            <a:srgbClr val="1E3A8A"/>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DBEAFE"/>
                </a:solidFill>
                <a:latin typeface="Trebuchet MS"/>
              </a:defRPr>
            </a:pPr>
            <a:r>
              <a:t>MCA MINI PROJECT — INTERIM PROGRESS PRESENTATION</a:t>
            </a:r>
          </a:p>
        </p:txBody>
      </p:sp>
      <p:sp>
        <p:nvSpPr>
          <p:cNvPr id="4" name="TextBox 3"/>
          <p:cNvSpPr txBox="1"/>
          <p:nvPr/>
        </p:nvSpPr>
        <p:spPr>
          <a:xfrm>
            <a:off x="731520" y="1371600"/>
            <a:ext cx="10725912" cy="2103120"/>
          </a:xfrm>
          <a:prstGeom prst="rect">
            <a:avLst/>
          </a:prstGeom>
          <a:noFill/>
        </p:spPr>
        <p:txBody>
          <a:bodyPr wrap="square">
            <a:spAutoFit/>
          </a:bodyPr>
          <a:lstStyle/>
          <a:p>
            <a:pPr algn="ctr">
              <a:defRPr sz="4600" b="1">
                <a:solidFill>
                  <a:srgbClr val="FFFFFF"/>
                </a:solidFill>
                <a:latin typeface="Trebuchet MS"/>
              </a:defRPr>
            </a:pPr>
            <a:r>
              <a:t>ClauseIQ</a:t>
            </a:r>
          </a:p>
          <a:p>
            <a:pPr algn="ctr">
              <a:defRPr sz="2100" b="1">
                <a:solidFill>
                  <a:srgbClr val="93C5FD"/>
                </a:solidFill>
                <a:latin typeface="Trebuchet MS"/>
              </a:defRPr>
            </a:pPr>
            <a:r>
              <a:t>Machine Learning-Based Contract Clause Classification and Intelligent Search System</a:t>
            </a:r>
          </a:p>
          <a:p>
            <a:pPr algn="ctr">
              <a:defRPr sz="1350">
                <a:solidFill>
                  <a:srgbClr val="CBD5E1"/>
                </a:solidFill>
                <a:latin typeface="Calibri"/>
              </a:defRPr>
            </a:pPr>
            <a:r>
              <a:t>Empirical Model Evaluation, Architectural Selection, and Pipeline Verification</a:t>
            </a:r>
          </a:p>
        </p:txBody>
      </p:sp>
      <p:sp>
        <p:nvSpPr>
          <p:cNvPr id="5" name="Rounded Rectangle 4"/>
          <p:cNvSpPr/>
          <p:nvPr/>
        </p:nvSpPr>
        <p:spPr>
          <a:xfrm>
            <a:off x="1280160" y="3749039"/>
            <a:ext cx="4572000" cy="219456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100" b="1">
                <a:solidFill>
                  <a:srgbClr val="60A5FA"/>
                </a:solidFill>
                <a:latin typeface="Trebuchet MS"/>
              </a:defRPr>
            </a:pPr>
            <a:r>
              <a:t>PRESENTED BY:</a:t>
            </a:r>
          </a:p>
          <a:p>
            <a:pPr>
              <a:defRPr sz="1800" b="1">
                <a:solidFill>
                  <a:srgbClr val="FFFFFF"/>
                </a:solidFill>
                <a:latin typeface="Trebuchet MS"/>
              </a:defRPr>
            </a:pPr>
            <a:r>
              <a:t>MOHAMMED FARHAN K</a:t>
            </a:r>
          </a:p>
          <a:p>
            <a:pPr>
              <a:defRPr sz="1200">
                <a:solidFill>
                  <a:srgbClr val="CBD5E1"/>
                </a:solidFill>
                <a:latin typeface="Calibri"/>
              </a:defRPr>
            </a:pPr>
            <a:r>
              <a:t>Register No: MAC25MCA-2042</a:t>
            </a:r>
            <a:br/>
            <a:r>
              <a:t>Master of Computer Applications (MCA)</a:t>
            </a:r>
            <a:br/>
            <a:r>
              <a:t>Department of Computer Applications</a:t>
            </a:r>
          </a:p>
        </p:txBody>
      </p:sp>
      <p:sp>
        <p:nvSpPr>
          <p:cNvPr id="6" name="Rounded Rectangle 5"/>
          <p:cNvSpPr/>
          <p:nvPr/>
        </p:nvSpPr>
        <p:spPr>
          <a:xfrm>
            <a:off x="6336792" y="3749039"/>
            <a:ext cx="4572000" cy="219456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100" b="1">
                <a:solidFill>
                  <a:srgbClr val="60A5FA"/>
                </a:solidFill>
                <a:latin typeface="Trebuchet MS"/>
              </a:defRPr>
            </a:pPr>
            <a:r>
              <a:t>PROJECT GUIDANCE &amp; INSTITUTION:</a:t>
            </a:r>
          </a:p>
          <a:p>
            <a:pPr>
              <a:defRPr sz="1600" b="1">
                <a:solidFill>
                  <a:srgbClr val="FFFFFF"/>
                </a:solidFill>
                <a:latin typeface="Trebuchet MS"/>
              </a:defRPr>
            </a:pPr>
            <a:r>
              <a:t>Dr. SONIA ABRAHAM</a:t>
            </a:r>
          </a:p>
          <a:p>
            <a:pPr>
              <a:defRPr sz="1200">
                <a:solidFill>
                  <a:srgbClr val="CBD5E1"/>
                </a:solidFill>
                <a:latin typeface="Calibri"/>
              </a:defRPr>
            </a:pPr>
            <a:r>
              <a:t>Associate Professor, Dept. of Computer Applications</a:t>
            </a:r>
            <a:br/>
            <a:r>
              <a:t>Mar Athanasius College of Engineering (MACE)</a:t>
            </a:r>
            <a:br/>
            <a:r>
              <a:t>Kothamangalam, Kerala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CONTEXT &amp; MOTIVATION</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PROBLEM STATEMENT &amp; MOTIVATION</a:t>
            </a:r>
          </a:p>
          <a:p>
            <a:pPr>
              <a:defRPr sz="1200">
                <a:solidFill>
                  <a:srgbClr val="475569"/>
                </a:solidFill>
                <a:latin typeface="Calibri"/>
              </a:defRPr>
            </a:pPr>
            <a:r>
              <a:t>Operational Bottlenecks in Commercial Contract Review &amp; The Need for Classical ML</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2</a:t>
            </a:r>
          </a:p>
        </p:txBody>
      </p:sp>
      <p:sp>
        <p:nvSpPr>
          <p:cNvPr id="7" name="Rounded Rectangle 6"/>
          <p:cNvSpPr/>
          <p:nvPr/>
        </p:nvSpPr>
        <p:spPr>
          <a:xfrm>
            <a:off x="457200" y="1645920"/>
            <a:ext cx="356616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600" b="1">
                <a:solidFill>
                  <a:srgbClr val="0F172A"/>
                </a:solidFill>
                <a:latin typeface="Trebuchet MS"/>
              </a:defRPr>
            </a:pPr>
            <a:r>
              <a:t>1. Manual Review Bottleneck</a:t>
            </a:r>
          </a:p>
          <a:p>
            <a:pPr>
              <a:defRPr sz="1300">
                <a:solidFill>
                  <a:srgbClr val="334155"/>
                </a:solidFill>
                <a:latin typeface="Calibri"/>
              </a:defRPr>
            </a:pPr>
            <a:r>
              <a:t>• Massive Contract Volumes:</a:t>
            </a:r>
            <a:br/>
            <a:r>
              <a:t>Enterprise commercial agreements routinely span 30–100+ dense legal pages.</a:t>
            </a:r>
            <a:br/>
            <a:br/>
            <a:r>
              <a:t>• Cognitive Fatigue &amp; Errors:</a:t>
            </a:r>
            <a:br/>
            <a:r>
              <a:t>Manual legal review suffers severe human fatigue, creating major risk of overlooking critical clauses.</a:t>
            </a:r>
            <a:br/>
            <a:br/>
            <a:r>
              <a:t>• High Legal Costs:</a:t>
            </a:r>
            <a:br/>
            <a:r>
              <a:t>Due diligence and contract compliance costs are prohibitively high for small-to-midsize legal teams.</a:t>
            </a:r>
          </a:p>
        </p:txBody>
      </p:sp>
      <p:sp>
        <p:nvSpPr>
          <p:cNvPr id="8" name="Rounded Rectangle 7"/>
          <p:cNvSpPr/>
          <p:nvPr/>
        </p:nvSpPr>
        <p:spPr>
          <a:xfrm>
            <a:off x="4297680" y="1645920"/>
            <a:ext cx="356616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600" b="1">
                <a:solidFill>
                  <a:srgbClr val="0F172A"/>
                </a:solidFill>
                <a:latin typeface="Trebuchet MS"/>
              </a:defRPr>
            </a:pPr>
            <a:r>
              <a:t>2. Limitations of Keyword Search</a:t>
            </a:r>
          </a:p>
          <a:p>
            <a:pPr>
              <a:defRPr sz="1300">
                <a:solidFill>
                  <a:srgbClr val="334155"/>
                </a:solidFill>
                <a:latin typeface="Calibri"/>
              </a:defRPr>
            </a:pPr>
            <a:r>
              <a:t>• Literal Keyword Mismatch:</a:t>
            </a:r>
            <a:br/>
            <a:r>
              <a:t>Standard regex and Ctrl+F tools fail when drafting conventions use synonyms (e.g., 'cap on liability' vs 'aggregate exposure').</a:t>
            </a:r>
            <a:br/>
            <a:br/>
            <a:r>
              <a:t>• Lack of Legal Concept Awareness:</a:t>
            </a:r>
            <a:br/>
            <a:r>
              <a:t>Keyword search cannot group clauses by legal functionality.</a:t>
            </a:r>
            <a:br/>
            <a:br/>
            <a:r>
              <a:t>• Time-Consuming Triage:</a:t>
            </a:r>
            <a:br/>
            <a:r>
              <a:t>Attorneys spend up to 60% of review time merely locating clauses rather than analyzing liability.</a:t>
            </a:r>
          </a:p>
        </p:txBody>
      </p:sp>
      <p:sp>
        <p:nvSpPr>
          <p:cNvPr id="9" name="Rounded Rectangle 8"/>
          <p:cNvSpPr/>
          <p:nvPr/>
        </p:nvSpPr>
        <p:spPr>
          <a:xfrm>
            <a:off x="8138160" y="1645920"/>
            <a:ext cx="356616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600" b="1">
                <a:solidFill>
                  <a:srgbClr val="1E3A8A"/>
                </a:solidFill>
                <a:latin typeface="Trebuchet MS"/>
              </a:defRPr>
            </a:pPr>
            <a:r>
              <a:t>3. Why Classical ML Over LLMs?</a:t>
            </a:r>
          </a:p>
          <a:p>
            <a:pPr>
              <a:defRPr sz="1300">
                <a:solidFill>
                  <a:srgbClr val="334155"/>
                </a:solidFill>
                <a:latin typeface="Calibri"/>
              </a:defRPr>
            </a:pPr>
            <a:r>
              <a:t>• Zero Cloud API Latency:</a:t>
            </a:r>
            <a:br/>
            <a:r>
              <a:t>Processes clauses in sub-10 milliseconds without network overhead or token costs.</a:t>
            </a:r>
            <a:br/>
            <a:br/>
            <a:r>
              <a:t>• Data Privacy &amp; Sovereignty:</a:t>
            </a:r>
            <a:br/>
            <a:r>
              <a:t>Client contracts never leave the secure local environment (critical for legal confidentiality).</a:t>
            </a:r>
            <a:br/>
            <a:br/>
            <a:r>
              <a:t>• Zero Hallucination Risk:</a:t>
            </a:r>
            <a:br/>
            <a:r>
              <a:t>Deterministic classification and vector retrieval guarantee 100% factual clause extraction without generative fabrications.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OBJECTIVES &amp; SCOPE</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PROJECT OBJECTIVES &amp; CURRENT SCOPE</a:t>
            </a:r>
          </a:p>
          <a:p>
            <a:pPr>
              <a:defRPr sz="1200">
                <a:solidFill>
                  <a:srgbClr val="475569"/>
                </a:solidFill>
                <a:latin typeface="Calibri"/>
              </a:defRPr>
            </a:pPr>
            <a:r>
              <a:t>Deliverables Planned vs. Actually Completed at the Interim Milestone</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3</a:t>
            </a:r>
          </a:p>
        </p:txBody>
      </p:sp>
      <p:sp>
        <p:nvSpPr>
          <p:cNvPr id="7" name="Rounded Rectangle 6"/>
          <p:cNvSpPr/>
          <p:nvPr/>
        </p:nvSpPr>
        <p:spPr>
          <a:xfrm>
            <a:off x="457200" y="1645920"/>
            <a:ext cx="544068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700" b="1">
                <a:solidFill>
                  <a:srgbClr val="0F172A"/>
                </a:solidFill>
                <a:latin typeface="Trebuchet MS"/>
              </a:defRPr>
            </a:pPr>
            <a:r>
              <a:t>Core Project Deliverables</a:t>
            </a:r>
          </a:p>
          <a:p>
            <a:pPr>
              <a:defRPr sz="1250">
                <a:solidFill>
                  <a:srgbClr val="334155"/>
                </a:solidFill>
                <a:latin typeface="Calibri"/>
              </a:defRPr>
            </a:pPr>
            <a:r>
              <a:t>• Automated Multi-Class Classification: Categorize extracted contract clauses into 41 distinct legal categories with calibrated confidence scores.</a:t>
            </a:r>
          </a:p>
          <a:p>
            <a:pPr>
              <a:defRPr sz="1250">
                <a:solidFill>
                  <a:srgbClr val="334155"/>
                </a:solidFill>
                <a:latin typeface="Calibri"/>
              </a:defRPr>
            </a:pPr>
            <a:r>
              <a:t>• Intelligent Semantic Retrieval Engine: Enable conceptual search across 12,204 clauses using TF-IDF and cosine similarity without requiring exact keyword matches.</a:t>
            </a:r>
          </a:p>
          <a:p>
            <a:pPr>
              <a:defRPr sz="1250">
                <a:solidFill>
                  <a:srgbClr val="334155"/>
                </a:solidFill>
                <a:latin typeface="Calibri"/>
              </a:defRPr>
            </a:pPr>
            <a:r>
              <a:t>• Lightweight RESTful API Backend: Serve inference and search via FastAPI with Pydantic validation, CORS middleware, and lifespan resource management.</a:t>
            </a:r>
          </a:p>
          <a:p>
            <a:pPr>
              <a:defRPr sz="1250">
                <a:solidFill>
                  <a:srgbClr val="334155"/>
                </a:solidFill>
                <a:latin typeface="Calibri"/>
              </a:defRPr>
            </a:pPr>
            <a:r>
              <a:t>• Interactive Web Dashboard: Provide an attorney-facing web interface for contract upload, automated clause extraction, and visual risk inspection.</a:t>
            </a:r>
          </a:p>
        </p:txBody>
      </p:sp>
      <p:sp>
        <p:nvSpPr>
          <p:cNvPr id="8" name="Rounded Rectangle 7"/>
          <p:cNvSpPr/>
          <p:nvPr/>
        </p:nvSpPr>
        <p:spPr>
          <a:xfrm>
            <a:off x="6263640" y="1645920"/>
            <a:ext cx="544068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700" b="1">
                <a:solidFill>
                  <a:srgbClr val="059669"/>
                </a:solidFill>
                <a:latin typeface="Trebuchet MS"/>
              </a:defRPr>
            </a:pPr>
            <a:r>
              <a:t>Interim Milestone: What is Completed?</a:t>
            </a:r>
          </a:p>
          <a:p>
            <a:pPr>
              <a:defRPr sz="1200">
                <a:solidFill>
                  <a:srgbClr val="334155"/>
                </a:solidFill>
                <a:latin typeface="Calibri"/>
              </a:defRPr>
            </a:pPr>
            <a:r>
              <a:t>✔ Data Pipeline &amp; Validation: 12,204 clauses cleaned, verified 0 nulls, 41 categories mapped.</a:t>
            </a:r>
          </a:p>
          <a:p>
            <a:pPr>
              <a:defRPr sz="1200">
                <a:solidFill>
                  <a:srgbClr val="334155"/>
                </a:solidFill>
                <a:latin typeface="Calibri"/>
              </a:defRPr>
            </a:pPr>
            <a:r>
              <a:t>✔ Feature Engineering: 10,000-dimensional TF-IDF vector space fitted strictly on train split.</a:t>
            </a:r>
          </a:p>
          <a:p>
            <a:pPr>
              <a:defRPr sz="1200">
                <a:solidFill>
                  <a:srgbClr val="334155"/>
                </a:solidFill>
                <a:latin typeface="Calibri"/>
              </a:defRPr>
            </a:pPr>
            <a:r>
              <a:t>✔ 4 Candidate Models Trained &amp; Tuned: Logistic Regression, Linear SVM, Multinomial Naive Bayes, and Random Forest.</a:t>
            </a:r>
          </a:p>
          <a:p>
            <a:pPr>
              <a:defRPr sz="1200">
                <a:solidFill>
                  <a:srgbClr val="334155"/>
                </a:solidFill>
                <a:latin typeface="Calibri"/>
              </a:defRPr>
            </a:pPr>
            <a:r>
              <a:t>✔ Comprehensive Multi-Metric Evaluation: Accuracy, Macro/Weighted Precision, Recall, and F1 benchmarks.</a:t>
            </a:r>
          </a:p>
          <a:p>
            <a:pPr>
              <a:defRPr sz="1200">
                <a:solidFill>
                  <a:srgbClr val="334155"/>
                </a:solidFill>
                <a:latin typeface="Calibri"/>
              </a:defRPr>
            </a:pPr>
            <a:r>
              <a:t>✔ Model Selection &amp; Error Analysis: Selected Logistic Regression based on primary Macro-F1 metric; generated 41x41 confusion matrices.</a:t>
            </a:r>
          </a:p>
          <a:p>
            <a:pPr>
              <a:defRPr sz="1200">
                <a:solidFill>
                  <a:srgbClr val="334155"/>
                </a:solidFill>
                <a:latin typeface="Calibri"/>
              </a:defRPr>
            </a:pPr>
            <a:r>
              <a:t>✔ Search Engine &amp; FastAPI Prototype: Completed in-memory search prototype (P@1=80.0%, P@5=88.0%) and FastAPI endpoints with 15/15 passing tests.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DATASET ARCHITECTURE</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DATASET SPECIFICATIONS</a:t>
            </a:r>
          </a:p>
          <a:p>
            <a:pPr>
              <a:defRPr sz="1200">
                <a:solidFill>
                  <a:srgbClr val="475569"/>
                </a:solidFill>
                <a:latin typeface="Calibri"/>
              </a:defRPr>
            </a:pPr>
            <a:r>
              <a:t>CUAD-Derived Legal Contract Clause Corpus</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4</a:t>
            </a:r>
          </a:p>
        </p:txBody>
      </p:sp>
      <p:sp>
        <p:nvSpPr>
          <p:cNvPr id="7" name="Rounded Rectangle 6"/>
          <p:cNvSpPr/>
          <p:nvPr/>
        </p:nvSpPr>
        <p:spPr>
          <a:xfrm>
            <a:off x="457200" y="1645920"/>
            <a:ext cx="2606040" cy="1051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800" b="1">
                <a:solidFill>
                  <a:srgbClr val="2563EB"/>
                </a:solidFill>
                <a:latin typeface="Trebuchet MS"/>
              </a:defRPr>
            </a:pPr>
            <a:r>
              <a:t>510</a:t>
            </a:r>
          </a:p>
          <a:p>
            <a:pPr algn="ctr">
              <a:defRPr sz="1100">
                <a:solidFill>
                  <a:srgbClr val="334155"/>
                </a:solidFill>
                <a:latin typeface="Calibri"/>
              </a:defRPr>
            </a:pPr>
            <a:r>
              <a:t>Commercial Contracts</a:t>
            </a:r>
          </a:p>
        </p:txBody>
      </p:sp>
      <p:sp>
        <p:nvSpPr>
          <p:cNvPr id="8" name="Rounded Rectangle 7"/>
          <p:cNvSpPr/>
          <p:nvPr/>
        </p:nvSpPr>
        <p:spPr>
          <a:xfrm>
            <a:off x="3310128" y="1645920"/>
            <a:ext cx="2606040" cy="1051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800" b="1">
                <a:solidFill>
                  <a:srgbClr val="1E3A8A"/>
                </a:solidFill>
                <a:latin typeface="Trebuchet MS"/>
              </a:defRPr>
            </a:pPr>
            <a:r>
              <a:t>12,204</a:t>
            </a:r>
          </a:p>
          <a:p>
            <a:pPr algn="ctr">
              <a:defRPr sz="1100">
                <a:solidFill>
                  <a:srgbClr val="334155"/>
                </a:solidFill>
                <a:latin typeface="Calibri"/>
              </a:defRPr>
            </a:pPr>
            <a:r>
              <a:t>Labeled Clause Records</a:t>
            </a:r>
          </a:p>
        </p:txBody>
      </p:sp>
      <p:sp>
        <p:nvSpPr>
          <p:cNvPr id="9" name="Rounded Rectangle 8"/>
          <p:cNvSpPr/>
          <p:nvPr/>
        </p:nvSpPr>
        <p:spPr>
          <a:xfrm>
            <a:off x="6163056" y="1645920"/>
            <a:ext cx="2606040" cy="1051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800" b="1">
                <a:solidFill>
                  <a:srgbClr val="059669"/>
                </a:solidFill>
                <a:latin typeface="Trebuchet MS"/>
              </a:defRPr>
            </a:pPr>
            <a:r>
              <a:t>41</a:t>
            </a:r>
          </a:p>
          <a:p>
            <a:pPr algn="ctr">
              <a:defRPr sz="1100">
                <a:solidFill>
                  <a:srgbClr val="334155"/>
                </a:solidFill>
                <a:latin typeface="Calibri"/>
              </a:defRPr>
            </a:pPr>
            <a:r>
              <a:t>Legal Clause Categories</a:t>
            </a:r>
          </a:p>
        </p:txBody>
      </p:sp>
      <p:sp>
        <p:nvSpPr>
          <p:cNvPr id="10" name="Rounded Rectangle 9"/>
          <p:cNvSpPr/>
          <p:nvPr/>
        </p:nvSpPr>
        <p:spPr>
          <a:xfrm>
            <a:off x="9015984" y="1645920"/>
            <a:ext cx="2606040" cy="1051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800" b="1">
                <a:solidFill>
                  <a:srgbClr val="D97706"/>
                </a:solidFill>
                <a:latin typeface="Trebuchet MS"/>
              </a:defRPr>
            </a:pPr>
            <a:r>
              <a:t>100%</a:t>
            </a:r>
          </a:p>
          <a:p>
            <a:pPr algn="ctr">
              <a:defRPr sz="1100">
                <a:solidFill>
                  <a:srgbClr val="334155"/>
                </a:solidFill>
                <a:latin typeface="Calibri"/>
              </a:defRPr>
            </a:pPr>
            <a:r>
              <a:t>Data Integrity (0 Nulls)</a:t>
            </a:r>
          </a:p>
        </p:txBody>
      </p:sp>
      <p:sp>
        <p:nvSpPr>
          <p:cNvPr id="11" name="Rounded Rectangle 10"/>
          <p:cNvSpPr/>
          <p:nvPr/>
        </p:nvSpPr>
        <p:spPr>
          <a:xfrm>
            <a:off x="457200" y="2926080"/>
            <a:ext cx="5440680" cy="320040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0F172A"/>
                </a:solidFill>
                <a:latin typeface="Trebuchet MS"/>
              </a:defRPr>
            </a:pPr>
            <a:r>
              <a:t>Dataset Source &amp; Schema Design</a:t>
            </a:r>
          </a:p>
          <a:p>
            <a:pPr>
              <a:defRPr sz="1200">
                <a:solidFill>
                  <a:srgbClr val="334155"/>
                </a:solidFill>
                <a:latin typeface="Calibri"/>
              </a:defRPr>
            </a:pPr>
            <a:r>
              <a:t>• Provenance:</a:t>
            </a:r>
            <a:br/>
            <a:r>
              <a:t>Derived from the Contract Understanding Atticus Dataset (CUAD v1), curated by The Atticus Project and annotated by legal experts.</a:t>
            </a:r>
            <a:br/>
            <a:br/>
            <a:r>
              <a:t>• Schema Attributes (3 Core Columns):</a:t>
            </a:r>
            <a:br/>
            <a:r>
              <a:t>  1. contract_id: Unique string identifier linking clause to source contract.</a:t>
            </a:r>
            <a:br/>
            <a:r>
              <a:t>  2. clause_text: Raw textual content of the extracted clause provision.</a:t>
            </a:r>
            <a:br/>
            <a:r>
              <a:t>  3. category: Target ground-truth legal label (1 of 41 distinct classes).</a:t>
            </a:r>
            <a:br/>
            <a:br/>
            <a:r>
              <a:t>• Document Types:</a:t>
            </a:r>
            <a:br/>
            <a:r>
              <a:t>Commercial agreements, NDAs, Master Service Agreements (MSAs), Software Licenses, and Joint Ventures.</a:t>
            </a:r>
          </a:p>
        </p:txBody>
      </p:sp>
      <p:sp>
        <p:nvSpPr>
          <p:cNvPr id="12" name="Rounded Rectangle 11"/>
          <p:cNvSpPr/>
          <p:nvPr/>
        </p:nvSpPr>
        <p:spPr>
          <a:xfrm>
            <a:off x="6263640" y="2926080"/>
            <a:ext cx="5440680" cy="320040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0F172A"/>
                </a:solidFill>
                <a:latin typeface="Trebuchet MS"/>
              </a:defRPr>
            </a:pPr>
            <a:r>
              <a:t>Data Integrity &amp; Validation Metrics</a:t>
            </a:r>
          </a:p>
          <a:p>
            <a:pPr>
              <a:defRPr sz="1200">
                <a:solidFill>
                  <a:srgbClr val="334155"/>
                </a:solidFill>
                <a:latin typeface="Calibri"/>
              </a:defRPr>
            </a:pPr>
            <a:r>
              <a:t>• Zero Missing Values:</a:t>
            </a:r>
            <a:br/>
            <a:r>
              <a:t>Validation confirms exactly 0 null entries across all 12,204 rows.</a:t>
            </a:r>
            <a:br/>
            <a:br/>
            <a:r>
              <a:t>• Zero Empty Strings:</a:t>
            </a:r>
            <a:br/>
            <a:r>
              <a:t>Every record contains meaningful clause text (mean: 23.93 words, median: 19 words, standard deviation: 17.88 words).</a:t>
            </a:r>
            <a:br/>
            <a:br/>
            <a:r>
              <a:t>• Zero Duplicate Records:</a:t>
            </a:r>
            <a:br/>
            <a:r>
              <a:t>Redundant exact row duplicates purged during raw ingestion.</a:t>
            </a:r>
            <a:br/>
            <a:br/>
            <a:r>
              <a:t>• UTF-8 Sanitization:</a:t>
            </a:r>
            <a:br/>
            <a:r>
              <a:t>Enforced strict Unicode normalization to remove corrupted PDF extraction artifacts and unprintable byte sequences.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DATA PROFILING</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EXPLORATORY DATA ANALYSIS &amp; CLASS IMBALANCE</a:t>
            </a:r>
          </a:p>
          <a:p>
            <a:pPr>
              <a:defRPr sz="1200">
                <a:solidFill>
                  <a:srgbClr val="475569"/>
                </a:solidFill>
                <a:latin typeface="Calibri"/>
              </a:defRPr>
            </a:pPr>
            <a:r>
              <a:t>Quantifying Corpus Distribution: Severe 46.33 : 1 Imbalance Ratio</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5</a:t>
            </a:r>
          </a:p>
        </p:txBody>
      </p:sp>
      <p:sp>
        <p:nvSpPr>
          <p:cNvPr id="7" name="Rounded Rectangle 6"/>
          <p:cNvSpPr/>
          <p:nvPr/>
        </p:nvSpPr>
        <p:spPr>
          <a:xfrm>
            <a:off x="457200" y="1645920"/>
            <a:ext cx="548640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0F172A"/>
                </a:solidFill>
                <a:latin typeface="Trebuchet MS"/>
              </a:defRPr>
            </a:pPr>
            <a:r>
              <a:t>Class Distribution &amp; Extremes</a:t>
            </a:r>
          </a:p>
          <a:p>
            <a:pPr>
              <a:defRPr sz="1200">
                <a:solidFill>
                  <a:srgbClr val="334155"/>
                </a:solidFill>
                <a:latin typeface="Calibri"/>
              </a:defRPr>
            </a:pPr>
            <a:r>
              <a:t>• Severe Imbalance Ratio: 46.33 : 1</a:t>
            </a:r>
            <a:br/>
            <a:r>
              <a:t>The frequency ratio between the most and least represented legal categories is over 46 to 1.</a:t>
            </a:r>
            <a:br/>
            <a:br/>
            <a:r>
              <a:t>• Largest Category — Parties:</a:t>
            </a:r>
            <a:br/>
            <a:r>
              <a:t>  1,251 instances (10.25% of corpus). Frequent boilerplate identifying contracting entities.</a:t>
            </a:r>
            <a:br/>
            <a:br/>
            <a:r>
              <a:t>• Smallest Category — Price Restrictions:</a:t>
            </a:r>
            <a:br/>
            <a:r>
              <a:t>  Only 27 instances (0.22% of corpus). Highly consequential commercial pricing covenants.</a:t>
            </a:r>
            <a:br/>
            <a:br/>
            <a:r>
              <a:t>• Critical Minority Categories:</a:t>
            </a:r>
            <a:br/>
            <a:r>
              <a:t>  - Most Favored Nation: 42 records</a:t>
            </a:r>
            <a:br/>
            <a:r>
              <a:t>  - Source Code Escrow: 65 records</a:t>
            </a:r>
            <a:br/>
            <a:r>
              <a:t>  - Non-Disparagement: 66 records</a:t>
            </a:r>
            <a:br/>
            <a:r>
              <a:t>  - Liquidated Damages: 119 records</a:t>
            </a:r>
            <a:br/>
            <a:br/>
            <a:r>
              <a:t>• Architectural Consequence:</a:t>
            </a:r>
            <a:br/>
            <a:r>
              <a:t>Standard classifiers trained on raw accuracy will naturally collapse toward majority classes. Thus, Macro-F1 must be our primary metric!</a:t>
            </a:r>
          </a:p>
        </p:txBody>
      </p:sp>
      <p:sp>
        <p:nvSpPr>
          <p:cNvPr id="8" name="Rounded Rectangle 7"/>
          <p:cNvSpPr/>
          <p:nvPr/>
        </p:nvSpPr>
        <p:spPr>
          <a:xfrm>
            <a:off x="6217920" y="1645920"/>
            <a:ext cx="548640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lass_distribution.png"/>
          <p:cNvPicPr>
            <a:picLocks noChangeAspect="1"/>
          </p:cNvPicPr>
          <p:nvPr/>
        </p:nvPicPr>
        <p:blipFill>
          <a:blip r:embed="rId2"/>
          <a:stretch>
            <a:fillRect/>
          </a:stretch>
        </p:blipFill>
        <p:spPr>
          <a:xfrm>
            <a:off x="6355080" y="1783080"/>
            <a:ext cx="5212080" cy="4160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PREPROCESSING</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DATA PREPROCESSING PIPELINE</a:t>
            </a:r>
          </a:p>
          <a:p>
            <a:pPr>
              <a:defRPr sz="1200">
                <a:solidFill>
                  <a:srgbClr val="475569"/>
                </a:solidFill>
                <a:latin typeface="Calibri"/>
              </a:defRPr>
            </a:pPr>
            <a:r>
              <a:t>Standardized Text Normalization for Legal Terminology (src/text_cleaner.py)</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6</a:t>
            </a:r>
          </a:p>
        </p:txBody>
      </p:sp>
      <p:sp>
        <p:nvSpPr>
          <p:cNvPr id="7" name="Rounded Rectangle 6"/>
          <p:cNvSpPr/>
          <p:nvPr/>
        </p:nvSpPr>
        <p:spPr>
          <a:xfrm>
            <a:off x="457200" y="1645920"/>
            <a:ext cx="2057400" cy="201168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37160"/>
          <a:lstStyle/>
          <a:p>
            <a:pPr algn="ctr">
              <a:defRPr sz="1100" b="1">
                <a:solidFill>
                  <a:srgbClr val="2563EB"/>
                </a:solidFill>
                <a:latin typeface="Trebuchet MS"/>
              </a:defRPr>
            </a:pPr>
            <a:r>
              <a:t>Step 1</a:t>
            </a:r>
          </a:p>
          <a:p>
            <a:pPr>
              <a:defRPr sz="1300" b="1">
                <a:solidFill>
                  <a:srgbClr val="0F172A"/>
                </a:solidFill>
                <a:latin typeface="Trebuchet MS"/>
              </a:defRPr>
            </a:pPr>
            <a:r>
              <a:t>Raw Ingestion</a:t>
            </a:r>
          </a:p>
          <a:p>
            <a:pPr>
              <a:defRPr sz="1100">
                <a:solidFill>
                  <a:srgbClr val="334155"/>
                </a:solidFill>
                <a:latin typeface="Calibri"/>
              </a:defRPr>
            </a:pPr>
            <a:r>
              <a:t>Extract raw clause string from dataset.</a:t>
            </a:r>
          </a:p>
        </p:txBody>
      </p:sp>
      <p:sp>
        <p:nvSpPr>
          <p:cNvPr id="8" name="Rounded Rectangle 7"/>
          <p:cNvSpPr/>
          <p:nvPr/>
        </p:nvSpPr>
        <p:spPr>
          <a:xfrm>
            <a:off x="2743200" y="1645920"/>
            <a:ext cx="2057400" cy="201168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37160"/>
          <a:lstStyle/>
          <a:p>
            <a:pPr algn="ctr">
              <a:defRPr sz="1100" b="1">
                <a:solidFill>
                  <a:srgbClr val="2563EB"/>
                </a:solidFill>
                <a:latin typeface="Trebuchet MS"/>
              </a:defRPr>
            </a:pPr>
            <a:r>
              <a:t>Step 2</a:t>
            </a:r>
          </a:p>
          <a:p>
            <a:pPr>
              <a:defRPr sz="1300" b="1">
                <a:solidFill>
                  <a:srgbClr val="0F172A"/>
                </a:solidFill>
                <a:latin typeface="Trebuchet MS"/>
              </a:defRPr>
            </a:pPr>
            <a:r>
              <a:t>Case Folding</a:t>
            </a:r>
          </a:p>
          <a:p>
            <a:pPr>
              <a:defRPr sz="1100">
                <a:solidFill>
                  <a:srgbClr val="334155"/>
                </a:solidFill>
                <a:latin typeface="Calibri"/>
              </a:defRPr>
            </a:pPr>
            <a:r>
              <a:t>Convert all characters to lowercase.</a:t>
            </a:r>
          </a:p>
        </p:txBody>
      </p:sp>
      <p:sp>
        <p:nvSpPr>
          <p:cNvPr id="9" name="Rounded Rectangle 8"/>
          <p:cNvSpPr/>
          <p:nvPr/>
        </p:nvSpPr>
        <p:spPr>
          <a:xfrm>
            <a:off x="5029200" y="1645920"/>
            <a:ext cx="2057400" cy="201168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37160"/>
          <a:lstStyle/>
          <a:p>
            <a:pPr algn="ctr">
              <a:defRPr sz="1100" b="1">
                <a:solidFill>
                  <a:srgbClr val="2563EB"/>
                </a:solidFill>
                <a:latin typeface="Trebuchet MS"/>
              </a:defRPr>
            </a:pPr>
            <a:r>
              <a:t>Step 3</a:t>
            </a:r>
          </a:p>
          <a:p>
            <a:pPr>
              <a:defRPr sz="1300" b="1">
                <a:solidFill>
                  <a:srgbClr val="0F172A"/>
                </a:solidFill>
                <a:latin typeface="Trebuchet MS"/>
              </a:defRPr>
            </a:pPr>
            <a:r>
              <a:t>Entity Stripping</a:t>
            </a:r>
          </a:p>
          <a:p>
            <a:pPr>
              <a:defRPr sz="1100">
                <a:solidFill>
                  <a:srgbClr val="334155"/>
                </a:solidFill>
                <a:latin typeface="Calibri"/>
              </a:defRPr>
            </a:pPr>
            <a:r>
              <a:t>Remove URLs &amp; email strings via regex.</a:t>
            </a:r>
          </a:p>
        </p:txBody>
      </p:sp>
      <p:sp>
        <p:nvSpPr>
          <p:cNvPr id="10" name="Rounded Rectangle 9"/>
          <p:cNvSpPr/>
          <p:nvPr/>
        </p:nvSpPr>
        <p:spPr>
          <a:xfrm>
            <a:off x="7315200" y="1645920"/>
            <a:ext cx="2057400" cy="201168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37160"/>
          <a:lstStyle/>
          <a:p>
            <a:pPr algn="ctr">
              <a:defRPr sz="1100" b="1">
                <a:solidFill>
                  <a:srgbClr val="2563EB"/>
                </a:solidFill>
                <a:latin typeface="Trebuchet MS"/>
              </a:defRPr>
            </a:pPr>
            <a:r>
              <a:t>Step 4</a:t>
            </a:r>
          </a:p>
          <a:p>
            <a:pPr>
              <a:defRPr sz="1300" b="1">
                <a:solidFill>
                  <a:srgbClr val="0F172A"/>
                </a:solidFill>
                <a:latin typeface="Trebuchet MS"/>
              </a:defRPr>
            </a:pPr>
            <a:r>
              <a:t>Char Filtering</a:t>
            </a:r>
          </a:p>
          <a:p>
            <a:pPr>
              <a:defRPr sz="1100">
                <a:solidFill>
                  <a:srgbClr val="334155"/>
                </a:solidFill>
                <a:latin typeface="Calibri"/>
              </a:defRPr>
            </a:pPr>
            <a:r>
              <a:t>Strip noise; retain legal punctuation ($, %, -).</a:t>
            </a:r>
          </a:p>
        </p:txBody>
      </p:sp>
      <p:sp>
        <p:nvSpPr>
          <p:cNvPr id="11" name="Rounded Rectangle 10"/>
          <p:cNvSpPr/>
          <p:nvPr/>
        </p:nvSpPr>
        <p:spPr>
          <a:xfrm>
            <a:off x="9601200" y="1645920"/>
            <a:ext cx="2057400" cy="201168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37160"/>
          <a:lstStyle/>
          <a:p>
            <a:pPr algn="ctr">
              <a:defRPr sz="1100" b="1">
                <a:solidFill>
                  <a:srgbClr val="2563EB"/>
                </a:solidFill>
                <a:latin typeface="Trebuchet MS"/>
              </a:defRPr>
            </a:pPr>
            <a:r>
              <a:t>Step 5</a:t>
            </a:r>
          </a:p>
          <a:p>
            <a:pPr>
              <a:defRPr sz="1300" b="1">
                <a:solidFill>
                  <a:srgbClr val="0F172A"/>
                </a:solidFill>
                <a:latin typeface="Trebuchet MS"/>
              </a:defRPr>
            </a:pPr>
            <a:r>
              <a:t>Whitespace Norm</a:t>
            </a:r>
          </a:p>
          <a:p>
            <a:pPr>
              <a:defRPr sz="1100">
                <a:solidFill>
                  <a:srgbClr val="334155"/>
                </a:solidFill>
                <a:latin typeface="Calibri"/>
              </a:defRPr>
            </a:pPr>
            <a:r>
              <a:t>Collapse multi-spaces; trim string edges.</a:t>
            </a:r>
          </a:p>
        </p:txBody>
      </p:sp>
      <p:sp>
        <p:nvSpPr>
          <p:cNvPr id="12" name="Rounded Rectangle 11"/>
          <p:cNvSpPr/>
          <p:nvPr/>
        </p:nvSpPr>
        <p:spPr>
          <a:xfrm>
            <a:off x="457200" y="3886200"/>
            <a:ext cx="11274552" cy="2240280"/>
          </a:xfrm>
          <a:prstGeom prst="roundRect">
            <a:avLst/>
          </a:prstGeom>
          <a:solidFill>
            <a:srgbClr val="0F172A"/>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100" b="1">
                <a:solidFill>
                  <a:srgbClr val="60A5FA"/>
                </a:solidFill>
                <a:latin typeface="Consolas"/>
              </a:defRPr>
            </a:pPr>
            <a:r>
              <a:t>VERIFIED TEXT CLEANING TRANSFORMATION (from src/text_cleaner.py):</a:t>
            </a:r>
          </a:p>
          <a:p>
            <a:pPr>
              <a:defRPr sz="1050">
                <a:solidFill>
                  <a:srgbClr val="E2E8F0"/>
                </a:solidFill>
                <a:latin typeface="Consolas"/>
              </a:defRPr>
            </a:pPr>
            <a:r>
              <a:t>[RAW CLAUSE INPUT]:</a:t>
            </a:r>
            <a:br/>
            <a:r>
              <a:t>"This  AGREEMENT   shall be governed by the laws of Delaware! Contact legal@clauseiq.com or visit https://clauseiq.com/terms for 100% compliance."</a:t>
            </a:r>
            <a:br/>
            <a:br/>
            <a:r>
              <a:t>[CLEANED OUTPUT STRING]:</a:t>
            </a:r>
            <a:br/>
            <a:r>
              <a:t>"this agreement shall be governed by the laws of delaware contact for 100 compliance"</a:t>
            </a:r>
            <a:br/>
            <a:br/>
            <a:r>
              <a:t>• URLs removed via: re.sub(r'https?://\S+|www\.\S+', ' ', text)</a:t>
            </a:r>
            <a:br/>
            <a:r>
              <a:t>• Emails removed via: re.sub(r'\b[A-Za-z0-9._%+-]+@[A-Za-z0-9.-]+\.[A-Z|a-z]{2,}\b', ' ', text)</a:t>
            </a:r>
            <a:br/>
            <a:r>
              <a:t>• Punctuation normalized while preserving key numeric terms; whitespace collapsed with re.sub(r'\s+', ' ', 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FEATURE EXTRACTION</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TF-IDF FEATURE ENGINEERING</a:t>
            </a:r>
          </a:p>
          <a:p>
            <a:pPr>
              <a:defRPr sz="1200">
                <a:solidFill>
                  <a:srgbClr val="475569"/>
                </a:solidFill>
                <a:latin typeface="Calibri"/>
              </a:defRPr>
            </a:pPr>
            <a:r>
              <a:t>High-Dimensional Sparse Vector Space Modeling (10,000 Dimensions)</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7</a:t>
            </a:r>
          </a:p>
        </p:txBody>
      </p:sp>
      <p:sp>
        <p:nvSpPr>
          <p:cNvPr id="7" name="Rounded Rectangle 6"/>
          <p:cNvSpPr/>
          <p:nvPr/>
        </p:nvSpPr>
        <p:spPr>
          <a:xfrm>
            <a:off x="457200" y="1645920"/>
            <a:ext cx="356616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0F172A"/>
                </a:solidFill>
                <a:latin typeface="Trebuchet MS"/>
              </a:defRPr>
            </a:pPr>
            <a:r>
              <a:t>Verified Configuration</a:t>
            </a:r>
          </a:p>
          <a:p>
            <a:pPr>
              <a:defRPr sz="1200">
                <a:solidFill>
                  <a:srgbClr val="334155"/>
                </a:solidFill>
                <a:latin typeface="Calibri"/>
              </a:defRPr>
            </a:pPr>
            <a:r>
              <a:t>• max_features = 10,000:</a:t>
            </a:r>
            <a:br/>
            <a:r>
              <a:t>Limits the vocabulary to the top 10,000 most informative tokens, preventing curse of dimensionality.</a:t>
            </a:r>
            <a:br/>
            <a:br/>
            <a:r>
              <a:t>• ngram_range = (1, 2):</a:t>
            </a:r>
            <a:br/>
            <a:r>
              <a:t>Extracts both unigrams (single words) and bigrams (two-word phrases).</a:t>
            </a:r>
            <a:br/>
            <a:br/>
            <a:r>
              <a:t>• sublinear_tf = True:</a:t>
            </a:r>
            <a:br/>
            <a:r>
              <a:t>Applies logarithmic term frequency scaling: 1 + log(tf).</a:t>
            </a:r>
            <a:br/>
            <a:br/>
            <a:r>
              <a:t>• min_df = 2:</a:t>
            </a:r>
            <a:br/>
            <a:r>
              <a:t>Requires a token to appear in at least 2 distinct documents to eliminate unique misspellings.</a:t>
            </a:r>
            <a:br/>
            <a:br/>
            <a:r>
              <a:t>• max_df = 0.95:</a:t>
            </a:r>
            <a:br/>
            <a:r>
              <a:t>Filters out ubiquitous terms appearing in &gt;95% of documents.</a:t>
            </a:r>
          </a:p>
        </p:txBody>
      </p:sp>
      <p:sp>
        <p:nvSpPr>
          <p:cNvPr id="8" name="Rounded Rectangle 7"/>
          <p:cNvSpPr/>
          <p:nvPr/>
        </p:nvSpPr>
        <p:spPr>
          <a:xfrm>
            <a:off x="4297680" y="1645920"/>
            <a:ext cx="356616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0F172A"/>
                </a:solidFill>
                <a:latin typeface="Trebuchet MS"/>
              </a:defRPr>
            </a:pPr>
            <a:r>
              <a:t>Why (1, 2) N-Grams &amp; Sublinear TF?</a:t>
            </a:r>
          </a:p>
          <a:p>
            <a:pPr>
              <a:defRPr sz="1200">
                <a:solidFill>
                  <a:srgbClr val="334155"/>
                </a:solidFill>
                <a:latin typeface="Calibri"/>
              </a:defRPr>
            </a:pPr>
            <a:r>
              <a:t>• Critical Legal Collocations:</a:t>
            </a:r>
            <a:br/>
            <a:r>
              <a:t>Single words lose meaning in law. Bigrams capture crucial compound phrases:</a:t>
            </a:r>
            <a:br/>
            <a:r>
              <a:t>  - 'governing law'</a:t>
            </a:r>
            <a:br/>
            <a:r>
              <a:t>  - 'prior written consent'</a:t>
            </a:r>
            <a:br/>
            <a:r>
              <a:t>  - 'audit rights'</a:t>
            </a:r>
            <a:br/>
            <a:r>
              <a:t>  - 'source code escrow'</a:t>
            </a:r>
            <a:br/>
            <a:br/>
            <a:r>
              <a:t>• Sublinear TF Dampening:</a:t>
            </a:r>
            <a:br/>
            <a:r>
              <a:t>In legal clauses, words like 'shall' or 'party' repeat frequently. Sublinear scaling replaces raw count 'tf' with 1 + log(tf), preventing repetitive boilerplate from dominating feature weights.</a:t>
            </a:r>
            <a:br/>
            <a:br/>
            <a:r>
              <a:t>• High Dimensional Sparsity:</a:t>
            </a:r>
            <a:br/>
            <a:r>
              <a:t>Yields a matrix of shape (N, 10,000) with &gt;99% sparsity, optimal for linear algorithms.</a:t>
            </a:r>
          </a:p>
        </p:txBody>
      </p:sp>
      <p:sp>
        <p:nvSpPr>
          <p:cNvPr id="9" name="Rounded Rectangle 8"/>
          <p:cNvSpPr/>
          <p:nvPr/>
        </p:nvSpPr>
        <p:spPr>
          <a:xfrm>
            <a:off x="8138160" y="1645920"/>
            <a:ext cx="356616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059669"/>
                </a:solidFill>
                <a:latin typeface="Trebuchet MS"/>
              </a:defRPr>
            </a:pPr>
            <a:r>
              <a:t>Strict Anti-Leakage Protocol</a:t>
            </a:r>
          </a:p>
          <a:p>
            <a:pPr>
              <a:defRPr sz="1200">
                <a:solidFill>
                  <a:srgbClr val="334155"/>
                </a:solidFill>
                <a:latin typeface="Calibri"/>
              </a:defRPr>
            </a:pPr>
            <a:r>
              <a:t>• Split BEFORE Vectorization:</a:t>
            </a:r>
            <a:br/>
            <a:r>
              <a:t>The 80/20 train/test split was performed prior to fitting the vectorizer.</a:t>
            </a:r>
            <a:br/>
            <a:br/>
            <a:r>
              <a:t>• Fit Exclusively on Training Set:</a:t>
            </a:r>
            <a:br/>
            <a:r>
              <a:t>vectorizer.fit_transform(X_train_text)</a:t>
            </a:r>
            <a:br/>
            <a:r>
              <a:t>The vocabulary and IDF weights were computed strictly from the 9,763 training samples.</a:t>
            </a:r>
            <a:br/>
            <a:br/>
            <a:r>
              <a:t>• Transform Held-Out Test Set:</a:t>
            </a:r>
            <a:br/>
            <a:r>
              <a:t>vectorizer.transform(X_test_text)</a:t>
            </a:r>
            <a:br/>
            <a:r>
              <a:t>Test clauses were transformed using the fitted vocabulary without seeing test distributions.</a:t>
            </a:r>
            <a:br/>
            <a:br/>
            <a:r>
              <a:t>• Artifact Persistence:</a:t>
            </a:r>
            <a:br/>
            <a:r>
              <a:t>Saved as artifacts/tfidf_vectorizer.joblib for production serving.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SPLIT METHODOLOGY</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DATASET PARTITIONING STRATEGY</a:t>
            </a:r>
          </a:p>
          <a:p>
            <a:pPr>
              <a:defRPr sz="1200">
                <a:solidFill>
                  <a:srgbClr val="475569"/>
                </a:solidFill>
                <a:latin typeface="Calibri"/>
              </a:defRPr>
            </a:pPr>
            <a:r>
              <a:t>Stratified 80/20 Clause-Level Split Preserving All 41 Legal Classes</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8</a:t>
            </a:r>
          </a:p>
        </p:txBody>
      </p:sp>
      <p:sp>
        <p:nvSpPr>
          <p:cNvPr id="7" name="Rounded Rectangle 6"/>
          <p:cNvSpPr/>
          <p:nvPr/>
        </p:nvSpPr>
        <p:spPr>
          <a:xfrm>
            <a:off x="457200" y="1645920"/>
            <a:ext cx="3520440" cy="109728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800" b="1">
                <a:solidFill>
                  <a:srgbClr val="1E3A8A"/>
                </a:solidFill>
                <a:latin typeface="Trebuchet MS"/>
              </a:defRPr>
            </a:pPr>
            <a:r>
              <a:t>12,204</a:t>
            </a:r>
          </a:p>
          <a:p>
            <a:pPr algn="ctr">
              <a:defRPr sz="1100">
                <a:solidFill>
                  <a:srgbClr val="334155"/>
                </a:solidFill>
                <a:latin typeface="Calibri"/>
              </a:defRPr>
            </a:pPr>
            <a:r>
              <a:t>Total Clause Instances</a:t>
            </a:r>
          </a:p>
        </p:txBody>
      </p:sp>
      <p:sp>
        <p:nvSpPr>
          <p:cNvPr id="8" name="Rounded Rectangle 7"/>
          <p:cNvSpPr/>
          <p:nvPr/>
        </p:nvSpPr>
        <p:spPr>
          <a:xfrm>
            <a:off x="4297680" y="1645920"/>
            <a:ext cx="3520440" cy="109728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800" b="1">
                <a:solidFill>
                  <a:srgbClr val="2563EB"/>
                </a:solidFill>
                <a:latin typeface="Trebuchet MS"/>
              </a:defRPr>
            </a:pPr>
            <a:r>
              <a:t>9,763</a:t>
            </a:r>
          </a:p>
          <a:p>
            <a:pPr algn="ctr">
              <a:defRPr sz="1100">
                <a:solidFill>
                  <a:srgbClr val="334155"/>
                </a:solidFill>
                <a:latin typeface="Calibri"/>
              </a:defRPr>
            </a:pPr>
            <a:r>
              <a:t>Training Instances (80%)</a:t>
            </a:r>
          </a:p>
        </p:txBody>
      </p:sp>
      <p:sp>
        <p:nvSpPr>
          <p:cNvPr id="9" name="Rounded Rectangle 8"/>
          <p:cNvSpPr/>
          <p:nvPr/>
        </p:nvSpPr>
        <p:spPr>
          <a:xfrm>
            <a:off x="8138160" y="1645920"/>
            <a:ext cx="3520440" cy="109728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2800" b="1">
                <a:solidFill>
                  <a:srgbClr val="059669"/>
                </a:solidFill>
                <a:latin typeface="Trebuchet MS"/>
              </a:defRPr>
            </a:pPr>
            <a:r>
              <a:t>2,441</a:t>
            </a:r>
          </a:p>
          <a:p>
            <a:pPr algn="ctr">
              <a:defRPr sz="1100">
                <a:solidFill>
                  <a:srgbClr val="334155"/>
                </a:solidFill>
                <a:latin typeface="Calibri"/>
              </a:defRPr>
            </a:pPr>
            <a:r>
              <a:t>Held-Out Test Instances (20%)</a:t>
            </a:r>
          </a:p>
        </p:txBody>
      </p:sp>
      <p:sp>
        <p:nvSpPr>
          <p:cNvPr id="10" name="Rounded Rectangle 9"/>
          <p:cNvSpPr/>
          <p:nvPr/>
        </p:nvSpPr>
        <p:spPr>
          <a:xfrm>
            <a:off x="457200" y="2971800"/>
            <a:ext cx="5440680" cy="315468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0F172A"/>
                </a:solidFill>
                <a:latin typeface="Trebuchet MS"/>
              </a:defRPr>
            </a:pPr>
            <a:r>
              <a:t>Stratified Sampling Protocol</a:t>
            </a:r>
          </a:p>
          <a:p>
            <a:pPr>
              <a:defRPr sz="1200">
                <a:solidFill>
                  <a:srgbClr val="334155"/>
                </a:solidFill>
                <a:latin typeface="Calibri"/>
              </a:defRPr>
            </a:pPr>
            <a:r>
              <a:t>• Execution Syntax (from src/feature_extraction.py):</a:t>
            </a:r>
            <a:br/>
            <a:r>
              <a:t>train_test_split(X_raw, y_encoded, test_size=0.20, random_state=42, stratify=y_encoded)</a:t>
            </a:r>
            <a:br/>
            <a:br/>
            <a:r>
              <a:t>• Exact Class Representation:</a:t>
            </a:r>
            <a:br/>
            <a:r>
              <a:t>Stratification ensures all 41 categories maintain identical percentage distributions in both training and test sets.</a:t>
            </a:r>
            <a:br/>
            <a:br/>
            <a:r>
              <a:t>• Preserving Minority Classes:</a:t>
            </a:r>
            <a:br/>
            <a:r>
              <a:t>Even the smallest category (Price Restrictions, 27 total samples) is allocated exactly 22 training samples and 5 test samples.</a:t>
            </a:r>
            <a:br/>
            <a:br/>
            <a:r>
              <a:t>• Reproducibility Seed:</a:t>
            </a:r>
            <a:br/>
            <a:r>
              <a:t>random_state=42 guarantees 100% deterministic partitioning across all training runs.</a:t>
            </a:r>
          </a:p>
        </p:txBody>
      </p:sp>
      <p:sp>
        <p:nvSpPr>
          <p:cNvPr id="11" name="Rounded Rectangle 10"/>
          <p:cNvSpPr/>
          <p:nvPr/>
        </p:nvSpPr>
        <p:spPr>
          <a:xfrm>
            <a:off x="6263640" y="2971800"/>
            <a:ext cx="5440680" cy="315468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0F172A"/>
                </a:solidFill>
                <a:latin typeface="Trebuchet MS"/>
              </a:defRPr>
            </a:pPr>
            <a:r>
              <a:t>Clarification &amp; Fair Benchmark Rule</a:t>
            </a:r>
          </a:p>
          <a:p>
            <a:pPr>
              <a:defRPr sz="1200">
                <a:solidFill>
                  <a:srgbClr val="334155"/>
                </a:solidFill>
                <a:latin typeface="Calibri"/>
              </a:defRPr>
            </a:pPr>
            <a:r>
              <a:t>• Clause-Level Stratification (NOT Contract-Level):</a:t>
            </a:r>
            <a:br/>
            <a:r>
              <a:t>To ensure all 41 categories are present in both splits, stratification is applied at the clause level across the 12,204 labeled segments.</a:t>
            </a:r>
            <a:br/>
            <a:br/>
            <a:r>
              <a:t>• Identical Held-Out Test Set (N = 2,441):</a:t>
            </a:r>
            <a:br/>
            <a:r>
              <a:t>All four competing models (Logistic Regression, Linear SVM, Naive Bayes, Random Forest) are evaluated on the exact same 2,441 test samples.</a:t>
            </a:r>
            <a:br/>
            <a:br/>
            <a:r>
              <a:t>• Zero Evaluation Variance:</a:t>
            </a:r>
            <a:br/>
            <a:r>
              <a:t>No model had access to alternative test samples, ensuring a strictly fair and reproducible comparison.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MODEL ARCHITECTURES</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FOUR MACHINE LEARNING CANDIDATES</a:t>
            </a:r>
          </a:p>
          <a:p>
            <a:pPr>
              <a:defRPr sz="1200">
                <a:solidFill>
                  <a:srgbClr val="475569"/>
                </a:solidFill>
                <a:latin typeface="Calibri"/>
              </a:defRPr>
            </a:pPr>
            <a:r>
              <a:t>Architectural Working Principles and Selection Rationale for High-Dimensional Text</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9</a:t>
            </a:r>
          </a:p>
        </p:txBody>
      </p:sp>
      <p:sp>
        <p:nvSpPr>
          <p:cNvPr id="7" name="Rounded Rectangle 6"/>
          <p:cNvSpPr/>
          <p:nvPr/>
        </p:nvSpPr>
        <p:spPr>
          <a:xfrm>
            <a:off x="457200" y="1645920"/>
            <a:ext cx="260604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82880"/>
          <a:lstStyle/>
          <a:p>
            <a:pPr algn="ctr">
              <a:defRPr sz="1500" b="1">
                <a:solidFill>
                  <a:srgbClr val="0F172A"/>
                </a:solidFill>
                <a:latin typeface="Trebuchet MS"/>
              </a:defRPr>
            </a:pPr>
            <a:r>
              <a:t>1. Logistic Regression</a:t>
            </a:r>
          </a:p>
          <a:p>
            <a:pPr>
              <a:defRPr sz="1100" b="1">
                <a:solidFill>
                  <a:srgbClr val="2563EB"/>
                </a:solidFill>
                <a:latin typeface="Trebuchet MS"/>
              </a:defRPr>
            </a:pPr>
            <a:r>
              <a:t>Multinomial Linear Model</a:t>
            </a:r>
          </a:p>
          <a:p>
            <a:pPr>
              <a:defRPr sz="1150">
                <a:solidFill>
                  <a:srgbClr val="334155"/>
                </a:solidFill>
                <a:latin typeface="Calibri"/>
              </a:defRPr>
            </a:pPr>
            <a:r>
              <a:t>• Principle: Learns linear decision boundaries via cross-entropy loss.</a:t>
            </a:r>
            <a:br/>
            <a:r>
              <a:t>• Key Advantage: Natively outputs calibrated posterior probabilities P(y=c|x) via softmax.</a:t>
            </a:r>
            <a:br/>
            <a:r>
              <a:t>• Regularization: L2 penalty prevents overfitting on sparse 10k features.</a:t>
            </a:r>
            <a:br/>
            <a:r>
              <a:t>• Solver: L-BFGS for fast multi-class convergence.</a:t>
            </a:r>
          </a:p>
        </p:txBody>
      </p:sp>
      <p:sp>
        <p:nvSpPr>
          <p:cNvPr id="8" name="Rounded Rectangle 7"/>
          <p:cNvSpPr/>
          <p:nvPr/>
        </p:nvSpPr>
        <p:spPr>
          <a:xfrm>
            <a:off x="3310128" y="1645920"/>
            <a:ext cx="260604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82880"/>
          <a:lstStyle/>
          <a:p>
            <a:pPr algn="ctr">
              <a:defRPr sz="1500" b="1">
                <a:solidFill>
                  <a:srgbClr val="0F172A"/>
                </a:solidFill>
                <a:latin typeface="Trebuchet MS"/>
              </a:defRPr>
            </a:pPr>
            <a:r>
              <a:t>2. Linear SVM</a:t>
            </a:r>
          </a:p>
          <a:p>
            <a:pPr>
              <a:defRPr sz="1100" b="1">
                <a:solidFill>
                  <a:srgbClr val="2563EB"/>
                </a:solidFill>
                <a:latin typeface="Trebuchet MS"/>
              </a:defRPr>
            </a:pPr>
            <a:r>
              <a:t>Maximum-Margin Hyperplane</a:t>
            </a:r>
          </a:p>
          <a:p>
            <a:pPr>
              <a:defRPr sz="1150">
                <a:solidFill>
                  <a:srgbClr val="334155"/>
                </a:solidFill>
                <a:latin typeface="Calibri"/>
              </a:defRPr>
            </a:pPr>
            <a:r>
              <a:t>• Principle: Finds separating hyperplanes maximizing margin between classes.</a:t>
            </a:r>
            <a:br/>
            <a:r>
              <a:t>• Key Advantage: Exceptionally effective in high-dimensional sparse text spaces.</a:t>
            </a:r>
            <a:br/>
            <a:r>
              <a:t>• Kernel: Linear kernel (LinearSVC) avoids costly kernel matrix computations.</a:t>
            </a:r>
            <a:br/>
            <a:r>
              <a:t>• Limitation: Uncalibrated decision distances.</a:t>
            </a:r>
          </a:p>
        </p:txBody>
      </p:sp>
      <p:sp>
        <p:nvSpPr>
          <p:cNvPr id="9" name="Rounded Rectangle 8"/>
          <p:cNvSpPr/>
          <p:nvPr/>
        </p:nvSpPr>
        <p:spPr>
          <a:xfrm>
            <a:off x="6163056" y="1645920"/>
            <a:ext cx="260604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82880"/>
          <a:lstStyle/>
          <a:p>
            <a:pPr algn="ctr">
              <a:defRPr sz="1500" b="1">
                <a:solidFill>
                  <a:srgbClr val="0F172A"/>
                </a:solidFill>
                <a:latin typeface="Trebuchet MS"/>
              </a:defRPr>
            </a:pPr>
            <a:r>
              <a:t>3. Multinomial NB</a:t>
            </a:r>
          </a:p>
          <a:p>
            <a:pPr>
              <a:defRPr sz="1100" b="1">
                <a:solidFill>
                  <a:srgbClr val="2563EB"/>
                </a:solidFill>
                <a:latin typeface="Trebuchet MS"/>
              </a:defRPr>
            </a:pPr>
            <a:r>
              <a:t>Probabilistic Generative Model</a:t>
            </a:r>
          </a:p>
          <a:p>
            <a:pPr>
              <a:defRPr sz="1150">
                <a:solidFill>
                  <a:srgbClr val="334155"/>
                </a:solidFill>
                <a:latin typeface="Calibri"/>
              </a:defRPr>
            </a:pPr>
            <a:r>
              <a:t>• Principle: Models word frequency distributions using Bayes' theorem.</a:t>
            </a:r>
            <a:br/>
            <a:r>
              <a:t>• Assumption: Conditional independence between words given category.</a:t>
            </a:r>
            <a:br/>
            <a:r>
              <a:t>• Key Advantage: Ultra-fast training and minimal computational footprint.</a:t>
            </a:r>
            <a:br/>
            <a:r>
              <a:t>• Limitation: Independence assumption underweights compound legal phrases.</a:t>
            </a:r>
          </a:p>
        </p:txBody>
      </p:sp>
      <p:sp>
        <p:nvSpPr>
          <p:cNvPr id="10" name="Rounded Rectangle 9"/>
          <p:cNvSpPr/>
          <p:nvPr/>
        </p:nvSpPr>
        <p:spPr>
          <a:xfrm>
            <a:off x="9015984" y="1645920"/>
            <a:ext cx="260604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82880"/>
          <a:lstStyle/>
          <a:p>
            <a:pPr algn="ctr">
              <a:defRPr sz="1500" b="1">
                <a:solidFill>
                  <a:srgbClr val="0F172A"/>
                </a:solidFill>
                <a:latin typeface="Trebuchet MS"/>
              </a:defRPr>
            </a:pPr>
            <a:r>
              <a:t>4. Random Forest</a:t>
            </a:r>
          </a:p>
          <a:p>
            <a:pPr>
              <a:defRPr sz="1100" b="1">
                <a:solidFill>
                  <a:srgbClr val="2563EB"/>
                </a:solidFill>
                <a:latin typeface="Trebuchet MS"/>
              </a:defRPr>
            </a:pPr>
            <a:r>
              <a:t>Non-Linear Decision Forest</a:t>
            </a:r>
          </a:p>
          <a:p>
            <a:pPr>
              <a:defRPr sz="1150">
                <a:solidFill>
                  <a:srgbClr val="334155"/>
                </a:solidFill>
                <a:latin typeface="Calibri"/>
              </a:defRPr>
            </a:pPr>
            <a:r>
              <a:t>• Principle: Ensemble of decision trees trained on bootstrapped data subsets.</a:t>
            </a:r>
            <a:br/>
            <a:r>
              <a:t>• Key Advantage: Captures complex non-linear feature interactions.</a:t>
            </a:r>
            <a:br/>
            <a:r>
              <a:t>• Evaluation Goal: Tests whether ensemble non-linearity outperforms linear classifiers on text.</a:t>
            </a:r>
            <a:br/>
            <a:r>
              <a:t>• Limitation: Prone to sparsity challenges on 10,000 dimensions.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TRAINING &amp; TUNING</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TRAINING &amp; HYPERPARAMETER TUNING</a:t>
            </a:r>
          </a:p>
          <a:p>
            <a:pPr>
              <a:defRPr sz="1200">
                <a:solidFill>
                  <a:srgbClr val="475569"/>
                </a:solidFill>
                <a:latin typeface="Calibri"/>
              </a:defRPr>
            </a:pPr>
            <a:r>
              <a:t>Systematic Cross-Validation &amp; Optimization Parameters from Repository</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10</a:t>
            </a:r>
          </a:p>
        </p:txBody>
      </p:sp>
      <p:sp>
        <p:nvSpPr>
          <p:cNvPr id="7" name="Rounded Rectangle 6"/>
          <p:cNvSpPr/>
          <p:nvPr/>
        </p:nvSpPr>
        <p:spPr>
          <a:xfrm>
            <a:off x="457200" y="1645920"/>
            <a:ext cx="5440680" cy="214884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400" b="1">
                <a:solidFill>
                  <a:srgbClr val="0F172A"/>
                </a:solidFill>
                <a:latin typeface="Trebuchet MS"/>
              </a:defRPr>
            </a:pPr>
            <a:r>
              <a:t>Multinomial Naive Bayes Tuning (src/train_nb.py)</a:t>
            </a:r>
          </a:p>
          <a:p>
            <a:pPr>
              <a:defRPr sz="1150">
                <a:solidFill>
                  <a:srgbClr val="334155"/>
                </a:solidFill>
                <a:latin typeface="Calibri"/>
              </a:defRPr>
            </a:pPr>
            <a:r>
              <a:t>• Cross-Validation: 5-Fold StratifiedKFold (random_state=42)</a:t>
            </a:r>
            <a:br/>
            <a:r>
              <a:t>• Search Strategy: GridSearchCV over alpha in [0.001, 0.01, 0.05, 0.1, 0.2, 0.5, 1.0, 2.0]</a:t>
            </a:r>
            <a:br/>
            <a:r>
              <a:t>• Optimization Metric: scoring='f1_macro'</a:t>
            </a:r>
            <a:br/>
            <a:r>
              <a:t>• Verified Optimal Parameter: alpha = 0.01</a:t>
            </a:r>
            <a:br/>
            <a:r>
              <a:t>• Best 5-Fold CV Macro-F1: 0.5905</a:t>
            </a:r>
          </a:p>
        </p:txBody>
      </p:sp>
      <p:sp>
        <p:nvSpPr>
          <p:cNvPr id="8" name="Rounded Rectangle 7"/>
          <p:cNvSpPr/>
          <p:nvPr/>
        </p:nvSpPr>
        <p:spPr>
          <a:xfrm>
            <a:off x="6263640" y="1645920"/>
            <a:ext cx="5440680" cy="214884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400" b="1">
                <a:solidFill>
                  <a:srgbClr val="0F172A"/>
                </a:solidFill>
                <a:latin typeface="Trebuchet MS"/>
              </a:defRPr>
            </a:pPr>
            <a:r>
              <a:t>Random Forest Tuning (src/train_random_forest.py)</a:t>
            </a:r>
          </a:p>
          <a:p>
            <a:pPr>
              <a:defRPr sz="1150">
                <a:solidFill>
                  <a:srgbClr val="334155"/>
                </a:solidFill>
                <a:latin typeface="Calibri"/>
              </a:defRPr>
            </a:pPr>
            <a:r>
              <a:t>• Cross-Validation: 3-Fold StratifiedKFold (random_state=42)</a:t>
            </a:r>
            <a:br/>
            <a:r>
              <a:t>• Search Strategy: RandomizedSearchCV (8 iterations, n_jobs=-1, scoring='f1_macro')</a:t>
            </a:r>
            <a:br/>
            <a:r>
              <a:t>• Best Parameters: n_estimators=200, max_depth=50, min_samples_split=10, class_weight='balanced'</a:t>
            </a:r>
            <a:br/>
            <a:r>
              <a:t>• Best 3-Fold CV Macro-F1: 0.5776</a:t>
            </a:r>
          </a:p>
        </p:txBody>
      </p:sp>
      <p:sp>
        <p:nvSpPr>
          <p:cNvPr id="9" name="Rounded Rectangle 8"/>
          <p:cNvSpPr/>
          <p:nvPr/>
        </p:nvSpPr>
        <p:spPr>
          <a:xfrm>
            <a:off x="457200" y="3977639"/>
            <a:ext cx="5440680" cy="214884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400" b="1">
                <a:solidFill>
                  <a:srgbClr val="0F172A"/>
                </a:solidFill>
                <a:latin typeface="Trebuchet MS"/>
              </a:defRPr>
            </a:pPr>
            <a:r>
              <a:t>Linear SVM Configuration (src/train_svm.py)</a:t>
            </a:r>
          </a:p>
          <a:p>
            <a:pPr>
              <a:defRPr sz="1150">
                <a:solidFill>
                  <a:srgbClr val="334155"/>
                </a:solidFill>
                <a:latin typeface="Calibri"/>
              </a:defRPr>
            </a:pPr>
            <a:r>
              <a:t>• Architecture: LinearSVC (Linear Kernel, max_iter=5000, random_state=42)</a:t>
            </a:r>
            <a:br/>
            <a:r>
              <a:t>• Regularization Search: GridSearchCV over C in [0.1, 1, 10] (3-Fold CV, scoring='f1_macro')</a:t>
            </a:r>
            <a:br/>
            <a:r>
              <a:t>• Verified Optimal Parameter: C = 0.1</a:t>
            </a:r>
            <a:br/>
            <a:r>
              <a:t>• Imbalance Handling: class_weight='balanced' (inversely weights class frequencies)</a:t>
            </a:r>
            <a:br/>
            <a:r>
              <a:t>• Test Set Accuracy: 72.63% | Macro-F1: 64.18%</a:t>
            </a:r>
          </a:p>
        </p:txBody>
      </p:sp>
      <p:sp>
        <p:nvSpPr>
          <p:cNvPr id="10" name="Rounded Rectangle 9"/>
          <p:cNvSpPr/>
          <p:nvPr/>
        </p:nvSpPr>
        <p:spPr>
          <a:xfrm>
            <a:off x="6263640" y="3977639"/>
            <a:ext cx="5440680" cy="214884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400" b="1">
                <a:solidFill>
                  <a:srgbClr val="059669"/>
                </a:solidFill>
                <a:latin typeface="Trebuchet MS"/>
              </a:defRPr>
            </a:pPr>
            <a:r>
              <a:t>Logistic Regression Configuration (src/train_baseline.py)</a:t>
            </a:r>
          </a:p>
          <a:p>
            <a:pPr>
              <a:defRPr sz="1150">
                <a:solidFill>
                  <a:srgbClr val="334155"/>
                </a:solidFill>
                <a:latin typeface="Calibri"/>
              </a:defRPr>
            </a:pPr>
            <a:r>
              <a:t>• Regularization: L2 Ridge Regularization (C = 1.0)</a:t>
            </a:r>
            <a:br/>
            <a:r>
              <a:t>• Optimization Algorithm: L-BFGS Quasi-Newton solver (max_iter=1000/2000)</a:t>
            </a:r>
            <a:br/>
            <a:r>
              <a:t>• Multi-Class Strategy: Multinomial loss across all 41 categories</a:t>
            </a:r>
            <a:br/>
            <a:r>
              <a:t>• Imbalance Handling: class_weight='balanced'</a:t>
            </a:r>
            <a:br/>
            <a:r>
              <a:t>• Test Set Accuracy: 71.90% | HIGHEST Macro-F1: 64.74%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SOURCE CODE</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MANDATORY CODE IMPLEMENTATION</a:t>
            </a:r>
          </a:p>
          <a:p>
            <a:pPr>
              <a:defRPr sz="1200">
                <a:solidFill>
                  <a:srgbClr val="475569"/>
                </a:solidFill>
                <a:latin typeface="Calibri"/>
              </a:defRPr>
            </a:pPr>
            <a:r>
              <a:t>Actual Repository Code: Feature Transformation, Model Training &amp; Multi-Metric Evaluation</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11</a:t>
            </a:r>
          </a:p>
        </p:txBody>
      </p:sp>
      <p:sp>
        <p:nvSpPr>
          <p:cNvPr id="7" name="Rounded Rectangle 6"/>
          <p:cNvSpPr/>
          <p:nvPr/>
        </p:nvSpPr>
        <p:spPr>
          <a:xfrm>
            <a:off x="457200" y="1645920"/>
            <a:ext cx="6858000" cy="4480560"/>
          </a:xfrm>
          <a:prstGeom prst="roundRect">
            <a:avLst/>
          </a:prstGeom>
          <a:solidFill>
            <a:srgbClr val="0F172A"/>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000" b="1">
                <a:solidFill>
                  <a:srgbClr val="60A5FA"/>
                </a:solidFill>
                <a:latin typeface="Consolas"/>
              </a:defRPr>
            </a:pPr>
            <a:r>
              <a:t># REAL PRODUCTION PIPELINE CODE (src/feature_extraction.py &amp; src/train_baseline.py)</a:t>
            </a:r>
          </a:p>
          <a:p>
            <a:pPr>
              <a:defRPr sz="980">
                <a:solidFill>
                  <a:srgbClr val="E2E8F0"/>
                </a:solidFill>
                <a:latin typeface="Consolas"/>
              </a:defRPr>
            </a:pPr>
            <a:r>
              <a:t># 1. Feature Extraction &amp; Anti-Leakage Transformation</a:t>
            </a:r>
            <a:br/>
            <a:r>
              <a:t>vectorizer = TfidfVectorizer(</a:t>
            </a:r>
            <a:br/>
            <a:r>
              <a:t>    max_features=10000, ngram_range=(1, 2), min_df=2, sublinear_tf=True</a:t>
            </a:r>
            <a:br/>
            <a:r>
              <a:t>)</a:t>
            </a:r>
            <a:br/>
            <a:r>
              <a:t>X_train = vectorizer.fit_transform(X_train_text) # Fit strictly on train</a:t>
            </a:r>
            <a:br/>
            <a:r>
              <a:t>X_test  = vectorizer.transform(X_test_text)      # Transform held-out test</a:t>
            </a:r>
            <a:br/>
            <a:br/>
            <a:r>
              <a:t># 2. Model Training with Balanced Class Weighting</a:t>
            </a:r>
            <a:br/>
            <a:r>
              <a:t>clf = LogisticRegression(</a:t>
            </a:r>
            <a:br/>
            <a:r>
              <a:t>    max_iter=1000, class_weight='balanced', random_state=42</a:t>
            </a:r>
            <a:br/>
            <a:r>
              <a:t>)</a:t>
            </a:r>
            <a:br/>
            <a:r>
              <a:t>clf.fit(X_train, y_train)</a:t>
            </a:r>
            <a:br/>
            <a:br/>
            <a:r>
              <a:t># 3. Model Inference on Single Held-Out Test Set (N=2,441)</a:t>
            </a:r>
            <a:br/>
            <a:r>
              <a:t>y_pred = clf.predict(X_test)</a:t>
            </a:r>
            <a:br/>
            <a:br/>
            <a:r>
              <a:t># 4. Multi-Metric Evaluation Calculation</a:t>
            </a:r>
            <a:br/>
            <a:r>
              <a:t>acc        = accuracy_score(y_test, y_pred)</a:t>
            </a:r>
            <a:br/>
            <a:r>
              <a:t>macro_prec = precision_score(y_test, y_pred, average='macro', zero_division=0)</a:t>
            </a:r>
            <a:br/>
            <a:r>
              <a:t>macro_rec  = recall_score(y_test, y_pred, average='macro', zero_division=0)</a:t>
            </a:r>
            <a:br/>
            <a:r>
              <a:t>macro_f1   = f1_score(y_test, y_pred, average='macro', zero_division=0)</a:t>
            </a:r>
            <a:br/>
            <a:r>
              <a:t>weighted_f1= f1_score(y_test, y_pred, average='weighted', zero_division=0)</a:t>
            </a:r>
          </a:p>
        </p:txBody>
      </p:sp>
      <p:sp>
        <p:nvSpPr>
          <p:cNvPr id="8" name="Rounded Rectangle 7"/>
          <p:cNvSpPr/>
          <p:nvPr/>
        </p:nvSpPr>
        <p:spPr>
          <a:xfrm>
            <a:off x="7498079" y="1645920"/>
            <a:ext cx="4233672"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600" b="1">
                <a:solidFill>
                  <a:srgbClr val="0F172A"/>
                </a:solidFill>
                <a:latin typeface="Trebuchet MS"/>
              </a:defRPr>
            </a:pPr>
            <a:r>
              <a:t>Key Engineering Highlights</a:t>
            </a:r>
          </a:p>
          <a:p>
            <a:pPr>
              <a:defRPr sz="1150">
                <a:solidFill>
                  <a:srgbClr val="334155"/>
                </a:solidFill>
                <a:latin typeface="Calibri"/>
              </a:defRPr>
            </a:pPr>
            <a:r>
              <a:t>• Anti-Leakage Architecture:</a:t>
            </a:r>
            <a:br/>
            <a:r>
              <a:t>  Notice fit_transform is applied exclusively to X_train_text. X_test_text is processed strictly via transform(), guaranteeing zero data snooping.</a:t>
            </a:r>
          </a:p>
          <a:p>
            <a:pPr>
              <a:defRPr sz="1150">
                <a:solidFill>
                  <a:srgbClr val="334155"/>
                </a:solidFill>
                <a:latin typeface="Calibri"/>
              </a:defRPr>
            </a:pPr>
            <a:r>
              <a:t>• Sublinear TF Scaling:</a:t>
            </a:r>
            <a:br/>
            <a:r>
              <a:t>  sublinear_tf=True dampens high-frequency boilerplate terms via 1 + log(tf).</a:t>
            </a:r>
          </a:p>
          <a:p>
            <a:pPr>
              <a:defRPr sz="1150">
                <a:solidFill>
                  <a:srgbClr val="334155"/>
                </a:solidFill>
                <a:latin typeface="Calibri"/>
              </a:defRPr>
            </a:pPr>
            <a:r>
              <a:t>• class_weight='balanced':</a:t>
            </a:r>
            <a:br/>
            <a:r>
              <a:t>  Crucial parameter that automatically adjusts weights inversely proportional to class frequencies, directly resolving the 46.33:1 class imbalance.</a:t>
            </a:r>
          </a:p>
          <a:p>
            <a:pPr>
              <a:defRPr sz="1150">
                <a:solidFill>
                  <a:srgbClr val="334155"/>
                </a:solidFill>
                <a:latin typeface="Calibri"/>
              </a:defRPr>
            </a:pPr>
            <a:r>
              <a:t>• Comprehensive Metrics:</a:t>
            </a:r>
            <a:br/>
            <a:r>
              <a:t>  Evaluation calculates both unweighted Macro and sample-weighted averages across all 41 categories.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EVALUATION BENCHMARK</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MODEL EVALUATION RESULTS</a:t>
            </a:r>
          </a:p>
          <a:p>
            <a:pPr>
              <a:defRPr sz="1200">
                <a:solidFill>
                  <a:srgbClr val="475569"/>
                </a:solidFill>
                <a:latin typeface="Calibri"/>
              </a:defRPr>
            </a:pPr>
            <a:r>
              <a:t>Comprehensive Performance Benchmark on Held-Out Test Set (N = 2,441, 41 Classes)</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12</a:t>
            </a:r>
          </a:p>
        </p:txBody>
      </p:sp>
      <p:graphicFrame>
        <p:nvGraphicFramePr>
          <p:cNvPr id="7" name="Table 6"/>
          <p:cNvGraphicFramePr>
            <a:graphicFrameLocks noGrp="1"/>
          </p:cNvGraphicFramePr>
          <p:nvPr/>
        </p:nvGraphicFramePr>
        <p:xfrm>
          <a:off x="457200" y="1645920"/>
          <a:ext cx="11274552" cy="2377440"/>
        </p:xfrm>
        <a:graphic>
          <a:graphicData uri="http://schemas.openxmlformats.org/drawingml/2006/table">
            <a:tbl>
              <a:tblPr firstRow="1" bandRow="1">
                <a:tableStyleId>{5C22544A-7EE6-4342-B048-85BDC9FD1C3A}</a:tableStyleId>
              </a:tblPr>
              <a:tblGrid>
                <a:gridCol w="2313432"/>
                <a:gridCol w="1792224"/>
                <a:gridCol w="1792224"/>
                <a:gridCol w="1792224"/>
                <a:gridCol w="1792224"/>
                <a:gridCol w="1792224"/>
              </a:tblGrid>
              <a:tr h="475488">
                <a:tc>
                  <a:txBody>
                    <a:bodyPr/>
                    <a:lstStyle/>
                    <a:p>
                      <a:pPr algn="ctr">
                        <a:defRPr sz="1300" b="1">
                          <a:solidFill>
                            <a:srgbClr val="FFFFFF"/>
                          </a:solidFill>
                          <a:latin typeface="Trebuchet MS"/>
                        </a:defRPr>
                      </a:pPr>
                      <a:r>
                        <a:t>Model Name</a:t>
                      </a:r>
                    </a:p>
                  </a:txBody>
                  <a:tcPr anchor="ctr">
                    <a:solidFill>
                      <a:srgbClr val="1E3A8A"/>
                    </a:solidFill>
                  </a:tcPr>
                </a:tc>
                <a:tc>
                  <a:txBody>
                    <a:bodyPr/>
                    <a:lstStyle/>
                    <a:p>
                      <a:pPr algn="ctr">
                        <a:defRPr sz="1300" b="1">
                          <a:solidFill>
                            <a:srgbClr val="FFFFFF"/>
                          </a:solidFill>
                          <a:latin typeface="Trebuchet MS"/>
                        </a:defRPr>
                      </a:pPr>
                      <a:r>
                        <a:t>Accuracy</a:t>
                      </a:r>
                    </a:p>
                  </a:txBody>
                  <a:tcPr anchor="ctr">
                    <a:solidFill>
                      <a:srgbClr val="1E3A8A"/>
                    </a:solidFill>
                  </a:tcPr>
                </a:tc>
                <a:tc>
                  <a:txBody>
                    <a:bodyPr/>
                    <a:lstStyle/>
                    <a:p>
                      <a:pPr algn="ctr">
                        <a:defRPr sz="1300" b="1">
                          <a:solidFill>
                            <a:srgbClr val="FFFFFF"/>
                          </a:solidFill>
                          <a:latin typeface="Trebuchet MS"/>
                        </a:defRPr>
                      </a:pPr>
                      <a:r>
                        <a:t>Macro Precision</a:t>
                      </a:r>
                    </a:p>
                  </a:txBody>
                  <a:tcPr anchor="ctr">
                    <a:solidFill>
                      <a:srgbClr val="1E3A8A"/>
                    </a:solidFill>
                  </a:tcPr>
                </a:tc>
                <a:tc>
                  <a:txBody>
                    <a:bodyPr/>
                    <a:lstStyle/>
                    <a:p>
                      <a:pPr algn="ctr">
                        <a:defRPr sz="1300" b="1">
                          <a:solidFill>
                            <a:srgbClr val="FFFFFF"/>
                          </a:solidFill>
                          <a:latin typeface="Trebuchet MS"/>
                        </a:defRPr>
                      </a:pPr>
                      <a:r>
                        <a:t>Macro Recall</a:t>
                      </a:r>
                    </a:p>
                  </a:txBody>
                  <a:tcPr anchor="ctr">
                    <a:solidFill>
                      <a:srgbClr val="1E3A8A"/>
                    </a:solidFill>
                  </a:tcPr>
                </a:tc>
                <a:tc>
                  <a:txBody>
                    <a:bodyPr/>
                    <a:lstStyle/>
                    <a:p>
                      <a:pPr algn="ctr">
                        <a:defRPr sz="1300" b="1">
                          <a:solidFill>
                            <a:srgbClr val="FFFFFF"/>
                          </a:solidFill>
                          <a:latin typeface="Trebuchet MS"/>
                        </a:defRPr>
                      </a:pPr>
                      <a:r>
                        <a:t>Macro-F1</a:t>
                      </a:r>
                    </a:p>
                  </a:txBody>
                  <a:tcPr anchor="ctr">
                    <a:solidFill>
                      <a:srgbClr val="1E3A8A"/>
                    </a:solidFill>
                  </a:tcPr>
                </a:tc>
                <a:tc>
                  <a:txBody>
                    <a:bodyPr/>
                    <a:lstStyle/>
                    <a:p>
                      <a:pPr algn="ctr">
                        <a:defRPr sz="1300" b="1">
                          <a:solidFill>
                            <a:srgbClr val="FFFFFF"/>
                          </a:solidFill>
                          <a:latin typeface="Trebuchet MS"/>
                        </a:defRPr>
                      </a:pPr>
                      <a:r>
                        <a:t>Weighted-F1</a:t>
                      </a:r>
                    </a:p>
                  </a:txBody>
                  <a:tcPr anchor="ctr">
                    <a:solidFill>
                      <a:srgbClr val="1E3A8A"/>
                    </a:solidFill>
                  </a:tcPr>
                </a:tc>
              </a:tr>
              <a:tr h="475488">
                <a:tc>
                  <a:txBody>
                    <a:bodyPr/>
                    <a:lstStyle/>
                    <a:p>
                      <a:pPr algn="l">
                        <a:defRPr sz="1250" b="1">
                          <a:solidFill>
                            <a:srgbClr val="1E3A8A"/>
                          </a:solidFill>
                          <a:latin typeface="Calibri"/>
                        </a:defRPr>
                      </a:pPr>
                      <a:r>
                        <a:t>Logistic Regression</a:t>
                      </a:r>
                    </a:p>
                  </a:txBody>
                  <a:tcPr anchor="ctr">
                    <a:solidFill>
                      <a:srgbClr val="ECFDF5"/>
                    </a:solidFill>
                  </a:tcPr>
                </a:tc>
                <a:tc>
                  <a:txBody>
                    <a:bodyPr/>
                    <a:lstStyle/>
                    <a:p>
                      <a:pPr algn="ctr">
                        <a:defRPr sz="1250" b="1">
                          <a:solidFill>
                            <a:srgbClr val="1E3A8A"/>
                          </a:solidFill>
                          <a:latin typeface="Calibri"/>
                        </a:defRPr>
                      </a:pPr>
                      <a:r>
                        <a:t>71.90%</a:t>
                      </a:r>
                    </a:p>
                  </a:txBody>
                  <a:tcPr anchor="ctr">
                    <a:solidFill>
                      <a:srgbClr val="ECFDF5"/>
                    </a:solidFill>
                  </a:tcPr>
                </a:tc>
                <a:tc>
                  <a:txBody>
                    <a:bodyPr/>
                    <a:lstStyle/>
                    <a:p>
                      <a:pPr algn="ctr">
                        <a:defRPr sz="1250" b="1">
                          <a:solidFill>
                            <a:srgbClr val="1E3A8A"/>
                          </a:solidFill>
                          <a:latin typeface="Calibri"/>
                        </a:defRPr>
                      </a:pPr>
                      <a:r>
                        <a:t>64.81%</a:t>
                      </a:r>
                    </a:p>
                  </a:txBody>
                  <a:tcPr anchor="ctr">
                    <a:solidFill>
                      <a:srgbClr val="ECFDF5"/>
                    </a:solidFill>
                  </a:tcPr>
                </a:tc>
                <a:tc>
                  <a:txBody>
                    <a:bodyPr/>
                    <a:lstStyle/>
                    <a:p>
                      <a:pPr algn="ctr">
                        <a:defRPr sz="1250" b="1">
                          <a:solidFill>
                            <a:srgbClr val="1E3A8A"/>
                          </a:solidFill>
                          <a:latin typeface="Calibri"/>
                        </a:defRPr>
                      </a:pPr>
                      <a:r>
                        <a:t>66.22%</a:t>
                      </a:r>
                    </a:p>
                  </a:txBody>
                  <a:tcPr anchor="ctr">
                    <a:solidFill>
                      <a:srgbClr val="ECFDF5"/>
                    </a:solidFill>
                  </a:tcPr>
                </a:tc>
                <a:tc>
                  <a:txBody>
                    <a:bodyPr/>
                    <a:lstStyle/>
                    <a:p>
                      <a:pPr algn="ctr">
                        <a:defRPr sz="1250" b="1">
                          <a:solidFill>
                            <a:srgbClr val="1E3A8A"/>
                          </a:solidFill>
                          <a:latin typeface="Calibri"/>
                        </a:defRPr>
                      </a:pPr>
                      <a:r>
                        <a:t>64.74%</a:t>
                      </a:r>
                    </a:p>
                  </a:txBody>
                  <a:tcPr anchor="ctr">
                    <a:solidFill>
                      <a:srgbClr val="ECFDF5"/>
                    </a:solidFill>
                  </a:tcPr>
                </a:tc>
                <a:tc>
                  <a:txBody>
                    <a:bodyPr/>
                    <a:lstStyle/>
                    <a:p>
                      <a:pPr algn="ctr">
                        <a:defRPr sz="1250" b="1">
                          <a:solidFill>
                            <a:srgbClr val="1E3A8A"/>
                          </a:solidFill>
                          <a:latin typeface="Calibri"/>
                        </a:defRPr>
                      </a:pPr>
                      <a:r>
                        <a:t>71.96%</a:t>
                      </a:r>
                    </a:p>
                  </a:txBody>
                  <a:tcPr anchor="ctr">
                    <a:solidFill>
                      <a:srgbClr val="ECFDF5"/>
                    </a:solidFill>
                  </a:tcPr>
                </a:tc>
              </a:tr>
              <a:tr h="475488">
                <a:tc>
                  <a:txBody>
                    <a:bodyPr/>
                    <a:lstStyle/>
                    <a:p>
                      <a:pPr algn="l">
                        <a:defRPr sz="1250" b="0">
                          <a:solidFill>
                            <a:srgbClr val="334155"/>
                          </a:solidFill>
                          <a:latin typeface="Calibri"/>
                        </a:defRPr>
                      </a:pPr>
                      <a:r>
                        <a:t>Linear SVM</a:t>
                      </a:r>
                    </a:p>
                  </a:txBody>
                  <a:tcPr anchor="ctr">
                    <a:solidFill>
                      <a:srgbClr val="F1F5F9"/>
                    </a:solidFill>
                  </a:tcPr>
                </a:tc>
                <a:tc>
                  <a:txBody>
                    <a:bodyPr/>
                    <a:lstStyle/>
                    <a:p>
                      <a:pPr algn="ctr">
                        <a:defRPr sz="1250" b="1">
                          <a:solidFill>
                            <a:srgbClr val="334155"/>
                          </a:solidFill>
                          <a:latin typeface="Calibri"/>
                        </a:defRPr>
                      </a:pPr>
                      <a:r>
                        <a:t>72.63%</a:t>
                      </a:r>
                    </a:p>
                  </a:txBody>
                  <a:tcPr anchor="ctr">
                    <a:solidFill>
                      <a:srgbClr val="F1F5F9"/>
                    </a:solidFill>
                  </a:tcPr>
                </a:tc>
                <a:tc>
                  <a:txBody>
                    <a:bodyPr/>
                    <a:lstStyle/>
                    <a:p>
                      <a:pPr algn="ctr">
                        <a:defRPr sz="1250" b="0">
                          <a:solidFill>
                            <a:srgbClr val="334155"/>
                          </a:solidFill>
                          <a:latin typeface="Calibri"/>
                        </a:defRPr>
                      </a:pPr>
                      <a:r>
                        <a:t>63.23%</a:t>
                      </a:r>
                    </a:p>
                  </a:txBody>
                  <a:tcPr anchor="ctr">
                    <a:solidFill>
                      <a:srgbClr val="F1F5F9"/>
                    </a:solidFill>
                  </a:tcPr>
                </a:tc>
                <a:tc>
                  <a:txBody>
                    <a:bodyPr/>
                    <a:lstStyle/>
                    <a:p>
                      <a:pPr algn="ctr">
                        <a:defRPr sz="1250" b="0">
                          <a:solidFill>
                            <a:srgbClr val="334155"/>
                          </a:solidFill>
                          <a:latin typeface="Calibri"/>
                        </a:defRPr>
                      </a:pPr>
                      <a:r>
                        <a:t>66.65%</a:t>
                      </a:r>
                    </a:p>
                  </a:txBody>
                  <a:tcPr anchor="ctr">
                    <a:solidFill>
                      <a:srgbClr val="F1F5F9"/>
                    </a:solidFill>
                  </a:tcPr>
                </a:tc>
                <a:tc>
                  <a:txBody>
                    <a:bodyPr/>
                    <a:lstStyle/>
                    <a:p>
                      <a:pPr algn="ctr">
                        <a:defRPr sz="1250" b="0">
                          <a:solidFill>
                            <a:srgbClr val="334155"/>
                          </a:solidFill>
                          <a:latin typeface="Calibri"/>
                        </a:defRPr>
                      </a:pPr>
                      <a:r>
                        <a:t>64.18%</a:t>
                      </a:r>
                    </a:p>
                  </a:txBody>
                  <a:tcPr anchor="ctr">
                    <a:solidFill>
                      <a:srgbClr val="F1F5F9"/>
                    </a:solidFill>
                  </a:tcPr>
                </a:tc>
                <a:tc>
                  <a:txBody>
                    <a:bodyPr/>
                    <a:lstStyle/>
                    <a:p>
                      <a:pPr algn="ctr">
                        <a:defRPr sz="1250" b="0">
                          <a:solidFill>
                            <a:srgbClr val="334155"/>
                          </a:solidFill>
                          <a:latin typeface="Calibri"/>
                        </a:defRPr>
                      </a:pPr>
                      <a:r>
                        <a:t>72.26%</a:t>
                      </a:r>
                    </a:p>
                  </a:txBody>
                  <a:tcPr anchor="ctr">
                    <a:solidFill>
                      <a:srgbClr val="F1F5F9"/>
                    </a:solidFill>
                  </a:tcPr>
                </a:tc>
              </a:tr>
              <a:tr h="475488">
                <a:tc>
                  <a:txBody>
                    <a:bodyPr/>
                    <a:lstStyle/>
                    <a:p>
                      <a:pPr algn="l">
                        <a:defRPr sz="1250" b="0">
                          <a:solidFill>
                            <a:srgbClr val="334155"/>
                          </a:solidFill>
                          <a:latin typeface="Calibri"/>
                        </a:defRPr>
                      </a:pPr>
                      <a:r>
                        <a:t>Multinomial NB</a:t>
                      </a:r>
                    </a:p>
                  </a:txBody>
                  <a:tcPr anchor="ctr">
                    <a:solidFill>
                      <a:srgbClr val="FFFFFF"/>
                    </a:solidFill>
                  </a:tcPr>
                </a:tc>
                <a:tc>
                  <a:txBody>
                    <a:bodyPr/>
                    <a:lstStyle/>
                    <a:p>
                      <a:pPr algn="ctr">
                        <a:defRPr sz="1250" b="0">
                          <a:solidFill>
                            <a:srgbClr val="334155"/>
                          </a:solidFill>
                          <a:latin typeface="Calibri"/>
                        </a:defRPr>
                      </a:pPr>
                      <a:r>
                        <a:t>69.27%</a:t>
                      </a:r>
                    </a:p>
                  </a:txBody>
                  <a:tcPr anchor="ctr">
                    <a:solidFill>
                      <a:srgbClr val="FFFFFF"/>
                    </a:solidFill>
                  </a:tcPr>
                </a:tc>
                <a:tc>
                  <a:txBody>
                    <a:bodyPr/>
                    <a:lstStyle/>
                    <a:p>
                      <a:pPr algn="ctr">
                        <a:defRPr sz="1250" b="0">
                          <a:solidFill>
                            <a:srgbClr val="334155"/>
                          </a:solidFill>
                          <a:latin typeface="Calibri"/>
                        </a:defRPr>
                      </a:pPr>
                      <a:r>
                        <a:t>60.24%</a:t>
                      </a:r>
                    </a:p>
                  </a:txBody>
                  <a:tcPr anchor="ctr">
                    <a:solidFill>
                      <a:srgbClr val="FFFFFF"/>
                    </a:solidFill>
                  </a:tcPr>
                </a:tc>
                <a:tc>
                  <a:txBody>
                    <a:bodyPr/>
                    <a:lstStyle/>
                    <a:p>
                      <a:pPr algn="ctr">
                        <a:defRPr sz="1250" b="0">
                          <a:solidFill>
                            <a:srgbClr val="334155"/>
                          </a:solidFill>
                          <a:latin typeface="Calibri"/>
                        </a:defRPr>
                      </a:pPr>
                      <a:r>
                        <a:t>58.67%</a:t>
                      </a:r>
                    </a:p>
                  </a:txBody>
                  <a:tcPr anchor="ctr">
                    <a:solidFill>
                      <a:srgbClr val="FFFFFF"/>
                    </a:solidFill>
                  </a:tcPr>
                </a:tc>
                <a:tc>
                  <a:txBody>
                    <a:bodyPr/>
                    <a:lstStyle/>
                    <a:p>
                      <a:pPr algn="ctr">
                        <a:defRPr sz="1250" b="0">
                          <a:solidFill>
                            <a:srgbClr val="334155"/>
                          </a:solidFill>
                          <a:latin typeface="Calibri"/>
                        </a:defRPr>
                      </a:pPr>
                      <a:r>
                        <a:t>58.53%</a:t>
                      </a:r>
                    </a:p>
                  </a:txBody>
                  <a:tcPr anchor="ctr">
                    <a:solidFill>
                      <a:srgbClr val="FFFFFF"/>
                    </a:solidFill>
                  </a:tcPr>
                </a:tc>
                <a:tc>
                  <a:txBody>
                    <a:bodyPr/>
                    <a:lstStyle/>
                    <a:p>
                      <a:pPr algn="ctr">
                        <a:defRPr sz="1250" b="0">
                          <a:solidFill>
                            <a:srgbClr val="334155"/>
                          </a:solidFill>
                          <a:latin typeface="Calibri"/>
                        </a:defRPr>
                      </a:pPr>
                      <a:r>
                        <a:t>69.03%</a:t>
                      </a:r>
                    </a:p>
                  </a:txBody>
                  <a:tcPr anchor="ctr">
                    <a:solidFill>
                      <a:srgbClr val="FFFFFF"/>
                    </a:solidFill>
                  </a:tcPr>
                </a:tc>
              </a:tr>
              <a:tr h="475488">
                <a:tc>
                  <a:txBody>
                    <a:bodyPr/>
                    <a:lstStyle/>
                    <a:p>
                      <a:pPr algn="l">
                        <a:defRPr sz="1250" b="0">
                          <a:solidFill>
                            <a:srgbClr val="334155"/>
                          </a:solidFill>
                          <a:latin typeface="Calibri"/>
                        </a:defRPr>
                      </a:pPr>
                      <a:r>
                        <a:t>Random Forest</a:t>
                      </a:r>
                    </a:p>
                  </a:txBody>
                  <a:tcPr anchor="ctr">
                    <a:solidFill>
                      <a:srgbClr val="F1F5F9"/>
                    </a:solidFill>
                  </a:tcPr>
                </a:tc>
                <a:tc>
                  <a:txBody>
                    <a:bodyPr/>
                    <a:lstStyle/>
                    <a:p>
                      <a:pPr algn="ctr">
                        <a:defRPr sz="1250" b="0">
                          <a:solidFill>
                            <a:srgbClr val="334155"/>
                          </a:solidFill>
                          <a:latin typeface="Calibri"/>
                        </a:defRPr>
                      </a:pPr>
                      <a:r>
                        <a:t>65.46%</a:t>
                      </a:r>
                    </a:p>
                  </a:txBody>
                  <a:tcPr anchor="ctr">
                    <a:solidFill>
                      <a:srgbClr val="F1F5F9"/>
                    </a:solidFill>
                  </a:tcPr>
                </a:tc>
                <a:tc>
                  <a:txBody>
                    <a:bodyPr/>
                    <a:lstStyle/>
                    <a:p>
                      <a:pPr algn="ctr">
                        <a:defRPr sz="1250" b="0">
                          <a:solidFill>
                            <a:srgbClr val="334155"/>
                          </a:solidFill>
                          <a:latin typeface="Calibri"/>
                        </a:defRPr>
                      </a:pPr>
                      <a:r>
                        <a:t>55.27%</a:t>
                      </a:r>
                    </a:p>
                  </a:txBody>
                  <a:tcPr anchor="ctr">
                    <a:solidFill>
                      <a:srgbClr val="F1F5F9"/>
                    </a:solidFill>
                  </a:tcPr>
                </a:tc>
                <a:tc>
                  <a:txBody>
                    <a:bodyPr/>
                    <a:lstStyle/>
                    <a:p>
                      <a:pPr algn="ctr">
                        <a:defRPr sz="1250" b="0">
                          <a:solidFill>
                            <a:srgbClr val="334155"/>
                          </a:solidFill>
                          <a:latin typeface="Calibri"/>
                        </a:defRPr>
                      </a:pPr>
                      <a:r>
                        <a:t>59.04%</a:t>
                      </a:r>
                    </a:p>
                  </a:txBody>
                  <a:tcPr anchor="ctr">
                    <a:solidFill>
                      <a:srgbClr val="F1F5F9"/>
                    </a:solidFill>
                  </a:tcPr>
                </a:tc>
                <a:tc>
                  <a:txBody>
                    <a:bodyPr/>
                    <a:lstStyle/>
                    <a:p>
                      <a:pPr algn="ctr">
                        <a:defRPr sz="1250" b="0">
                          <a:solidFill>
                            <a:srgbClr val="334155"/>
                          </a:solidFill>
                          <a:latin typeface="Calibri"/>
                        </a:defRPr>
                      </a:pPr>
                      <a:r>
                        <a:t>56.34%</a:t>
                      </a:r>
                    </a:p>
                  </a:txBody>
                  <a:tcPr anchor="ctr">
                    <a:solidFill>
                      <a:srgbClr val="F1F5F9"/>
                    </a:solidFill>
                  </a:tcPr>
                </a:tc>
                <a:tc>
                  <a:txBody>
                    <a:bodyPr/>
                    <a:lstStyle/>
                    <a:p>
                      <a:pPr algn="ctr">
                        <a:defRPr sz="1250" b="0">
                          <a:solidFill>
                            <a:srgbClr val="334155"/>
                          </a:solidFill>
                          <a:latin typeface="Calibri"/>
                        </a:defRPr>
                      </a:pPr>
                      <a:r>
                        <a:t>64.96%</a:t>
                      </a:r>
                    </a:p>
                  </a:txBody>
                  <a:tcPr anchor="ctr">
                    <a:solidFill>
                      <a:srgbClr val="F1F5F9"/>
                    </a:solidFill>
                  </a:tcPr>
                </a:tc>
              </a:tr>
            </a:tbl>
          </a:graphicData>
        </a:graphic>
      </p:graphicFrame>
      <p:sp>
        <p:nvSpPr>
          <p:cNvPr id="8" name="Rounded Rectangle 7"/>
          <p:cNvSpPr/>
          <p:nvPr/>
        </p:nvSpPr>
        <p:spPr>
          <a:xfrm>
            <a:off x="457200" y="4251960"/>
            <a:ext cx="5440680" cy="192024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300" b="1">
                <a:solidFill>
                  <a:srgbClr val="0F172A"/>
                </a:solidFill>
                <a:latin typeface="Trebuchet MS"/>
              </a:defRPr>
            </a:pPr>
            <a:r>
              <a:t>Mathematical Metric Definitions:</a:t>
            </a:r>
          </a:p>
          <a:p>
            <a:pPr>
              <a:defRPr sz="1100">
                <a:solidFill>
                  <a:srgbClr val="334155"/>
                </a:solidFill>
                <a:latin typeface="Calibri"/>
              </a:defRPr>
            </a:pPr>
            <a:r>
              <a:t>• Accuracy = (TP + TN) / Total  [Overall sample correctness]</a:t>
            </a:r>
            <a:br/>
            <a:r>
              <a:t>• Macro Precision = (1/41) * Σ Precision_c  [Average prediction purity]</a:t>
            </a:r>
            <a:br/>
            <a:r>
              <a:t>• Macro Recall = (1/41) * Σ Recall_c  [Average coverage per class]</a:t>
            </a:r>
            <a:br/>
            <a:r>
              <a:t>• Macro-F1 = (1/41) * Σ F1_c  [Harmonic mean; unweighted class average]</a:t>
            </a:r>
          </a:p>
        </p:txBody>
      </p:sp>
      <p:sp>
        <p:nvSpPr>
          <p:cNvPr id="9" name="Rounded Rectangle 8"/>
          <p:cNvSpPr/>
          <p:nvPr/>
        </p:nvSpPr>
        <p:spPr>
          <a:xfrm>
            <a:off x="6263640" y="4251960"/>
            <a:ext cx="5440680" cy="192024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300" b="1">
                <a:solidFill>
                  <a:srgbClr val="059669"/>
                </a:solidFill>
                <a:latin typeface="Trebuchet MS"/>
              </a:defRPr>
            </a:pPr>
            <a:r>
              <a:t>CRITICAL BENCHMARK FINDING:</a:t>
            </a:r>
          </a:p>
          <a:p>
            <a:pPr>
              <a:defRPr sz="1100">
                <a:solidFill>
                  <a:srgbClr val="0F172A"/>
                </a:solidFill>
                <a:latin typeface="Calibri"/>
              </a:defRPr>
            </a:pPr>
            <a:r>
              <a:t>• Primary Metric Winner: Logistic Regression achieved the highest Macro-F1 (64.74%), outperforming Linear SVM (64.18%) by +0.56% and Random Forest (56.34%) by +8.40%.</a:t>
            </a:r>
            <a:br/>
            <a:r>
              <a:t>• Accuracy Winner: Linear SVM achieved the highest Accuracy (72.63%).</a:t>
            </a:r>
            <a:br/>
            <a:r>
              <a:t>• Linear Superiority: Linear architectures decisively outperformed non-linear tree ensembles on sparse TF-IDF text.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VISUAL COMPARISON</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MODEL COMPARISON VISUAL BENCHMARK</a:t>
            </a:r>
          </a:p>
          <a:p>
            <a:pPr>
              <a:defRPr sz="1200">
                <a:solidFill>
                  <a:srgbClr val="475569"/>
                </a:solidFill>
                <a:latin typeface="Calibri"/>
              </a:defRPr>
            </a:pPr>
            <a:r>
              <a:t>Empirical Evaluation Across Accuracy, Macro-F1, and Weighted-F1</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13</a:t>
            </a:r>
          </a:p>
        </p:txBody>
      </p:sp>
      <p:sp>
        <p:nvSpPr>
          <p:cNvPr id="7" name="Rounded Rectangle 6"/>
          <p:cNvSpPr/>
          <p:nvPr/>
        </p:nvSpPr>
        <p:spPr>
          <a:xfrm>
            <a:off x="457200" y="1645920"/>
            <a:ext cx="685800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odel_comparison.png"/>
          <p:cNvPicPr>
            <a:picLocks noChangeAspect="1"/>
          </p:cNvPicPr>
          <p:nvPr/>
        </p:nvPicPr>
        <p:blipFill>
          <a:blip r:embed="rId2"/>
          <a:stretch>
            <a:fillRect/>
          </a:stretch>
        </p:blipFill>
        <p:spPr>
          <a:xfrm>
            <a:off x="594360" y="1783080"/>
            <a:ext cx="6583680" cy="4160520"/>
          </a:xfrm>
          <a:prstGeom prst="rect">
            <a:avLst/>
          </a:prstGeom>
        </p:spPr>
      </p:pic>
      <p:sp>
        <p:nvSpPr>
          <p:cNvPr id="9" name="Rounded Rectangle 8"/>
          <p:cNvSpPr/>
          <p:nvPr/>
        </p:nvSpPr>
        <p:spPr>
          <a:xfrm>
            <a:off x="7498079" y="1645920"/>
            <a:ext cx="4233672"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600" b="1">
                <a:solidFill>
                  <a:srgbClr val="0F172A"/>
                </a:solidFill>
                <a:latin typeface="Trebuchet MS"/>
              </a:defRPr>
            </a:pPr>
            <a:r>
              <a:t>Comparative Observations</a:t>
            </a:r>
          </a:p>
          <a:p>
            <a:pPr>
              <a:defRPr sz="1150">
                <a:solidFill>
                  <a:srgbClr val="334155"/>
                </a:solidFill>
                <a:latin typeface="Calibri"/>
              </a:defRPr>
            </a:pPr>
            <a:r>
              <a:t>• Accuracy vs. Macro-F1 Divergence:</a:t>
            </a:r>
            <a:br/>
            <a:r>
              <a:t>  Notice how Linear SVM (blue bar) leads in Accuracy at 72.63%, but Logistic Regression (orange bar) leads in Macro-F1 at 64.74%.</a:t>
            </a:r>
          </a:p>
          <a:p>
            <a:pPr>
              <a:defRPr sz="1150">
                <a:solidFill>
                  <a:srgbClr val="334155"/>
                </a:solidFill>
                <a:latin typeface="Calibri"/>
              </a:defRPr>
            </a:pPr>
            <a:r>
              <a:t>• Tree Ensemble Degradation:</a:t>
            </a:r>
            <a:br/>
            <a:r>
              <a:t>  Random Forest drops significantly to 56.34% Macro-F1. In high-dimensional sparse spaces (10,000 features), individual tree splits struggle to find orthogonal partitions.</a:t>
            </a:r>
          </a:p>
          <a:p>
            <a:pPr>
              <a:defRPr sz="1150">
                <a:solidFill>
                  <a:srgbClr val="334155"/>
                </a:solidFill>
                <a:latin typeface="Calibri"/>
              </a:defRPr>
            </a:pPr>
            <a:r>
              <a:t>• Weighted-F1 Uniformity:</a:t>
            </a:r>
            <a:br/>
            <a:r>
              <a:t>  Weighted-F1 tracks Accuracy closely (71.96% for LR, 72.26% for SVM) because it weights by support, masking poor performance on rare categories.</a:t>
            </a:r>
          </a:p>
          <a:p>
            <a:pPr>
              <a:defRPr sz="1150">
                <a:solidFill>
                  <a:srgbClr val="334155"/>
                </a:solidFill>
                <a:latin typeface="Calibri"/>
              </a:defRPr>
            </a:pPr>
            <a:r>
              <a:t>• Verification Guarantee:</a:t>
            </a:r>
            <a:br/>
            <a:r>
              <a:t>  Generated strictly from results/model_comparison.csv at 300 DPI.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MODEL SELECTION</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PRODUCTION MODEL SELECTION</a:t>
            </a:r>
          </a:p>
          <a:p>
            <a:pPr>
              <a:defRPr sz="1200">
                <a:solidFill>
                  <a:srgbClr val="475569"/>
                </a:solidFill>
                <a:latin typeface="Calibri"/>
              </a:defRPr>
            </a:pPr>
            <a:r>
              <a:t>Why Logistic Regression Was Selected Over Linear SVM for ClauseIQ</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14</a:t>
            </a:r>
          </a:p>
        </p:txBody>
      </p:sp>
      <p:sp>
        <p:nvSpPr>
          <p:cNvPr id="7" name="Rounded Rectangle 6"/>
          <p:cNvSpPr/>
          <p:nvPr/>
        </p:nvSpPr>
        <p:spPr>
          <a:xfrm>
            <a:off x="457200" y="1645920"/>
            <a:ext cx="544068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0F172A"/>
                </a:solidFill>
                <a:latin typeface="Trebuchet MS"/>
              </a:defRPr>
            </a:pPr>
            <a:r>
              <a:t>Predefined Selection Hierarchy</a:t>
            </a:r>
          </a:p>
          <a:p>
            <a:pPr>
              <a:defRPr sz="1200">
                <a:solidFill>
                  <a:srgbClr val="334155"/>
                </a:solidFill>
                <a:latin typeface="Calibri"/>
              </a:defRPr>
            </a:pPr>
            <a:r>
              <a:t>1. Primary Selection Metric: Macro-F1</a:t>
            </a:r>
            <a:br/>
            <a:r>
              <a:t>   - Gives equal weight to all 41 categories.</a:t>
            </a:r>
            <a:br/>
            <a:r>
              <a:t>   - Directly evaluates performance on high-risk minority clauses.</a:t>
            </a:r>
            <a:br/>
            <a:br/>
            <a:r>
              <a:t>2. Secondary Selection Metric: Accuracy</a:t>
            </a:r>
            <a:br/>
            <a:r>
              <a:t>   - Measures overall global correctness.</a:t>
            </a:r>
            <a:br/>
            <a:br/>
            <a:r>
              <a:t>VERIFIED SELECTION OUTCOME:</a:t>
            </a:r>
            <a:br/>
            <a:r>
              <a:t>• Logistic Regression: Macro-F1 = 64.74%  [SELECTED]</a:t>
            </a:r>
            <a:br/>
            <a:r>
              <a:t>• Linear SVM: Macro-F1 = 64.18%  (Diff: -0.56%)</a:t>
            </a:r>
            <a:br/>
            <a:r>
              <a:t>• Multinomial NB: Macro-F1 = 58.53%  (Diff: -6.21%)</a:t>
            </a:r>
            <a:br/>
            <a:r>
              <a:t>• Random Forest: Macro-F1 = 56.34%  (Diff: -8.40%)</a:t>
            </a:r>
            <a:br/>
            <a:br/>
            <a:r>
              <a:t>IMPORTANT ACKNOWLEDGMENT:</a:t>
            </a:r>
            <a:br/>
            <a:r>
              <a:t>Linear SVM achieved higher Accuracy (72.63% vs. 71.90%), but Logistic Regression achieved the highest Macro-F1 (64.74%). Following our rule, Logistic Regression was selected!</a:t>
            </a:r>
          </a:p>
        </p:txBody>
      </p:sp>
      <p:sp>
        <p:nvSpPr>
          <p:cNvPr id="8" name="Rounded Rectangle 7"/>
          <p:cNvSpPr/>
          <p:nvPr/>
        </p:nvSpPr>
        <p:spPr>
          <a:xfrm>
            <a:off x="6263640" y="1645920"/>
            <a:ext cx="544068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059669"/>
                </a:solidFill>
                <a:latin typeface="Trebuchet MS"/>
              </a:defRPr>
            </a:pPr>
            <a:r>
              <a:t>Engineering Justification for Selection</a:t>
            </a:r>
          </a:p>
          <a:p>
            <a:pPr>
              <a:defRPr sz="1150">
                <a:solidFill>
                  <a:srgbClr val="334155"/>
                </a:solidFill>
                <a:latin typeface="Calibri"/>
              </a:defRPr>
            </a:pPr>
            <a:r>
              <a:t>1. Protecting High-Risk Legal Minority Classes:</a:t>
            </a:r>
            <a:br/>
            <a:r>
              <a:t>With a 46.33:1 class imbalance, selecting by Accuracy alone rewards models that classify ubiquitous boilerplate (Parties: 1,251) while failing completely on rare liabilities (Price Restrictions: 27, Most Favored Nation: 42). Macro-F1 forces the model to balance precision and recall across rare classes.</a:t>
            </a:r>
            <a:br/>
            <a:br/>
            <a:r>
              <a:t>2. Natively Calibrated Posterior Probabilities:</a:t>
            </a:r>
            <a:br/>
            <a:r>
              <a:t>Logistic Regression computes calibrated class probabilities via the multinomial softmax function: P(y = c | x).</a:t>
            </a:r>
            <a:br/>
            <a:r>
              <a:t>• Real-World Legal Value: Attorneys receive trusted confidence scores (e.g., 'Governing Law: 96.8% confidence'). Predictions below 70% can be automatically routed to senior counsel for manual review.</a:t>
            </a:r>
            <a:br/>
            <a:r>
              <a:t>• SVM Limitation: Linear SVM only outputs uncalibrated decision distances, requiring heuristic Platt scaling.</a:t>
            </a:r>
            <a:br/>
            <a:br/>
            <a:r>
              <a:t>*Macro-F1 is a corpus evaluation metric, NOT an individual prediction probability!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PER-CLASS RESULTS</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CLASS-LEVEL PERFORMANCE ANALYSIS</a:t>
            </a:r>
          </a:p>
          <a:p>
            <a:pPr>
              <a:defRPr sz="1200">
                <a:solidFill>
                  <a:srgbClr val="475569"/>
                </a:solidFill>
                <a:latin typeface="Calibri"/>
              </a:defRPr>
            </a:pPr>
            <a:r>
              <a:t>Representative Precision, Recall &amp; F1 from Logistic Regression Classification Report</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15</a:t>
            </a:r>
          </a:p>
        </p:txBody>
      </p:sp>
      <p:sp>
        <p:nvSpPr>
          <p:cNvPr id="7" name="Rounded Rectangle 6"/>
          <p:cNvSpPr/>
          <p:nvPr/>
        </p:nvSpPr>
        <p:spPr>
          <a:xfrm>
            <a:off x="457200" y="1645920"/>
            <a:ext cx="3566160" cy="292608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400" b="1">
                <a:solidFill>
                  <a:srgbClr val="059669"/>
                </a:solidFill>
                <a:latin typeface="Trebuchet MS"/>
              </a:defRPr>
            </a:pPr>
            <a:r>
              <a:t>High-Performing Classes</a:t>
            </a:r>
          </a:p>
          <a:p>
            <a:pPr>
              <a:defRPr sz="1100">
                <a:solidFill>
                  <a:srgbClr val="334155"/>
                </a:solidFill>
                <a:latin typeface="Calibri"/>
              </a:defRPr>
            </a:pPr>
            <a:r>
              <a:t>• Governing Law:</a:t>
            </a:r>
            <a:br/>
            <a:r>
              <a:t>  Prec: 100.0% | Rec: 96.74% | F1: 98.34%</a:t>
            </a:r>
            <a:br/>
            <a:r>
              <a:t>• Parties:</a:t>
            </a:r>
            <a:br/>
            <a:r>
              <a:t>  Prec: 97.19% | Rec: 96.80% | F1: 96.99%</a:t>
            </a:r>
            <a:br/>
            <a:r>
              <a:t>• Document Name:</a:t>
            </a:r>
            <a:br/>
            <a:r>
              <a:t>  Prec: 96.83% | Rec: 100.0% | F1: 98.39%</a:t>
            </a:r>
            <a:br/>
            <a:r>
              <a:t>• Insurance:</a:t>
            </a:r>
            <a:br/>
            <a:r>
              <a:t>  Prec: 97.25% | Rec: 94.64% | F1: 95.93%</a:t>
            </a:r>
            <a:br/>
            <a:r>
              <a:t>• Audit Rights:</a:t>
            </a:r>
            <a:br/>
            <a:r>
              <a:t>  Prec: 91.73% | Rec: 94.57% | F1: 93.13%</a:t>
            </a:r>
            <a:br/>
            <a:r>
              <a:t>• Revenue Sharing:</a:t>
            </a:r>
            <a:br/>
            <a:r>
              <a:t>  Prec: 82.80% | Rec: 92.77% | F1: 87.50%</a:t>
            </a:r>
          </a:p>
        </p:txBody>
      </p:sp>
      <p:sp>
        <p:nvSpPr>
          <p:cNvPr id="8" name="Rounded Rectangle 7"/>
          <p:cNvSpPr/>
          <p:nvPr/>
        </p:nvSpPr>
        <p:spPr>
          <a:xfrm>
            <a:off x="4297680" y="1645920"/>
            <a:ext cx="3566160" cy="292608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400" b="1">
                <a:solidFill>
                  <a:srgbClr val="1E3A8A"/>
                </a:solidFill>
                <a:latin typeface="Trebuchet MS"/>
              </a:defRPr>
            </a:pPr>
            <a:r>
              <a:t>Moderate-Performing Classes</a:t>
            </a:r>
          </a:p>
          <a:p>
            <a:pPr>
              <a:defRPr sz="1100">
                <a:solidFill>
                  <a:srgbClr val="334155"/>
                </a:solidFill>
                <a:latin typeface="Calibri"/>
              </a:defRPr>
            </a:pPr>
            <a:r>
              <a:t>• Cap On Liability:</a:t>
            </a:r>
            <a:br/>
            <a:r>
              <a:t>  Prec: 79.46% | Rec: 65.93% | F1: 72.06%</a:t>
            </a:r>
            <a:br/>
            <a:r>
              <a:t>• Non-Compete:</a:t>
            </a:r>
            <a:br/>
            <a:r>
              <a:t>  Prec: 59.26% | Rec: 62.75% | F1: 60.95%</a:t>
            </a:r>
            <a:br/>
            <a:r>
              <a:t>• Expiration Date:</a:t>
            </a:r>
            <a:br/>
            <a:r>
              <a:t>  Prec: 76.19% | Rec: 68.82% | F1: 72.32%</a:t>
            </a:r>
            <a:br/>
            <a:r>
              <a:t>• Rofr/Rofo/Rofn:</a:t>
            </a:r>
            <a:br/>
            <a:r>
              <a:t>  Prec: 72.84% | Rec: 80.82% | F1: 76.62%</a:t>
            </a:r>
            <a:br/>
            <a:r>
              <a:t>• Non-Disparagement:</a:t>
            </a:r>
            <a:br/>
            <a:r>
              <a:t>  Prec: 68.75% | Rec: 84.62% | F1: 75.86%</a:t>
            </a:r>
            <a:br/>
            <a:r>
              <a:t>• Exclusivity:</a:t>
            </a:r>
            <a:br/>
            <a:r>
              <a:t>  Prec: 50.77% | Rec: 40.24% | F1: 44.90%</a:t>
            </a:r>
          </a:p>
        </p:txBody>
      </p:sp>
      <p:sp>
        <p:nvSpPr>
          <p:cNvPr id="9" name="Rounded Rectangle 8"/>
          <p:cNvSpPr/>
          <p:nvPr/>
        </p:nvSpPr>
        <p:spPr>
          <a:xfrm>
            <a:off x="8138160" y="1645920"/>
            <a:ext cx="3566160" cy="292608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400" b="1">
                <a:solidFill>
                  <a:srgbClr val="D97706"/>
                </a:solidFill>
                <a:latin typeface="Trebuchet MS"/>
              </a:defRPr>
            </a:pPr>
            <a:r>
              <a:t>Challenging &amp; Rare Classes</a:t>
            </a:r>
          </a:p>
          <a:p>
            <a:pPr>
              <a:defRPr sz="1100">
                <a:solidFill>
                  <a:srgbClr val="334155"/>
                </a:solidFill>
                <a:latin typeface="Calibri"/>
              </a:defRPr>
            </a:pPr>
            <a:r>
              <a:t>• Price Restrictions (5 test samples):</a:t>
            </a:r>
            <a:br/>
            <a:r>
              <a:t>  Prec: 100.0% | Rec: 60.00% | F1: 75.00%</a:t>
            </a:r>
            <a:br/>
            <a:r>
              <a:t>• Most Favored Nation (8 samples):</a:t>
            </a:r>
            <a:br/>
            <a:r>
              <a:t>  Prec: 57.14% | Rec: 50.00% | F1: 53.33%</a:t>
            </a:r>
            <a:br/>
            <a:r>
              <a:t>• Uncapped Liability (33 samples):</a:t>
            </a:r>
            <a:br/>
            <a:r>
              <a:t>  Prec: 35.85% | Rec: 57.58% | F1: 44.19%</a:t>
            </a:r>
            <a:br/>
            <a:r>
              <a:t>• Affiliate License-Licensee:</a:t>
            </a:r>
            <a:br/>
            <a:r>
              <a:t>  Prec: 21.95% | Rec: 39.13% | F1: 28.12%</a:t>
            </a:r>
            <a:br/>
            <a:r>
              <a:t>• Affiliate License-Licensor:</a:t>
            </a:r>
            <a:br/>
            <a:r>
              <a:t>  Prec: 11.11% | Rec: 21.43% | F1: 14.63%</a:t>
            </a:r>
          </a:p>
        </p:txBody>
      </p:sp>
      <p:sp>
        <p:nvSpPr>
          <p:cNvPr id="10" name="Rounded Rectangle 9"/>
          <p:cNvSpPr/>
          <p:nvPr/>
        </p:nvSpPr>
        <p:spPr>
          <a:xfrm>
            <a:off x="457200" y="4709160"/>
            <a:ext cx="11274552" cy="141732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ctr">
              <a:defRPr sz="1300" b="1">
                <a:solidFill>
                  <a:srgbClr val="0F172A"/>
                </a:solidFill>
                <a:latin typeface="Trebuchet MS"/>
              </a:defRPr>
            </a:pPr>
            <a:r>
              <a:t>Key Observations Across Category Performance:</a:t>
            </a:r>
          </a:p>
          <a:p>
            <a:pPr>
              <a:defRPr sz="1100">
                <a:solidFill>
                  <a:srgbClr val="334155"/>
                </a:solidFill>
                <a:latin typeface="Calibri"/>
              </a:defRPr>
            </a:pPr>
            <a:r>
              <a:t>1. Distinctive Statutory Vocabulary: Governing Law (F1: 98.34%) and Insurance (F1: 95.93%) achieve near-perfect classification due to highly specific jurisdictional terms ('Delaware', 'construed in accordance with') and policy terms.</a:t>
            </a:r>
            <a:br/>
            <a:r>
              <a:t>2. Minority Class Viability: Price Restrictions achieved 75.00% F1 despite only 5 test samples, verifying the efficacy of balanced class weights.</a:t>
            </a:r>
            <a:br/>
            <a:r>
              <a:t>3. Directional Overlap: The lowest F1 occurs in paired classes (Affiliate License-Licensor vs. Licensee) where vocabulary is identical, differing only in subtle grantor/grantee direction.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ERROR ANALYSIS</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CONFUSION MATRIX ANALYSIS</a:t>
            </a:r>
          </a:p>
          <a:p>
            <a:pPr>
              <a:defRPr sz="1200">
                <a:solidFill>
                  <a:srgbClr val="475569"/>
                </a:solidFill>
                <a:latin typeface="Calibri"/>
              </a:defRPr>
            </a:pPr>
            <a:r>
              <a:t>41 x 41 Error Analysis for Selected Logistic Regression Model (Test N = 2,441)</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16</a:t>
            </a:r>
          </a:p>
        </p:txBody>
      </p:sp>
      <p:sp>
        <p:nvSpPr>
          <p:cNvPr id="7" name="Rounded Rectangle 6"/>
          <p:cNvSpPr/>
          <p:nvPr/>
        </p:nvSpPr>
        <p:spPr>
          <a:xfrm>
            <a:off x="457200" y="1645920"/>
            <a:ext cx="594360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gistic_regression_cm.png"/>
          <p:cNvPicPr>
            <a:picLocks noChangeAspect="1"/>
          </p:cNvPicPr>
          <p:nvPr/>
        </p:nvPicPr>
        <p:blipFill>
          <a:blip r:embed="rId2"/>
          <a:stretch>
            <a:fillRect/>
          </a:stretch>
        </p:blipFill>
        <p:spPr>
          <a:xfrm>
            <a:off x="594360" y="1783080"/>
            <a:ext cx="5669280" cy="4160520"/>
          </a:xfrm>
          <a:prstGeom prst="rect">
            <a:avLst/>
          </a:prstGeom>
        </p:spPr>
      </p:pic>
      <p:sp>
        <p:nvSpPr>
          <p:cNvPr id="9" name="Rounded Rectangle 8"/>
          <p:cNvSpPr/>
          <p:nvPr/>
        </p:nvSpPr>
        <p:spPr>
          <a:xfrm>
            <a:off x="6583680" y="1645920"/>
            <a:ext cx="5148072"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600" b="1">
                <a:solidFill>
                  <a:srgbClr val="0F172A"/>
                </a:solidFill>
                <a:latin typeface="Trebuchet MS"/>
              </a:defRPr>
            </a:pPr>
            <a:r>
              <a:t>Matrix Structure &amp; Error Analysis</a:t>
            </a:r>
          </a:p>
          <a:p>
            <a:pPr>
              <a:defRPr sz="1150">
                <a:solidFill>
                  <a:srgbClr val="334155"/>
                </a:solidFill>
                <a:latin typeface="Calibri"/>
              </a:defRPr>
            </a:pPr>
            <a:r>
              <a:t>• Matrix Dimensions:</a:t>
            </a:r>
            <a:br/>
            <a:r>
              <a:t>  Full 41 x 41 grid representing all 41 legal categories evaluated on the held-out test set (N = 2,441).</a:t>
            </a:r>
            <a:br/>
            <a:br/>
            <a:r>
              <a:t>• Axes Definition:</a:t>
            </a:r>
            <a:br/>
            <a:r>
              <a:t>  - Rows (Y-axis): True Category label</a:t>
            </a:r>
            <a:br/>
            <a:r>
              <a:t>  - Columns (X-axis): Predicted Category label</a:t>
            </a:r>
            <a:br/>
            <a:r>
              <a:t>  - Diagonal Cells: Correct predictions (TP_c)</a:t>
            </a:r>
            <a:br/>
            <a:r>
              <a:t>  - Off-Diagonal Cells: Misclassification errors</a:t>
            </a:r>
            <a:br/>
            <a:br/>
            <a:r>
              <a:t>• Primary Diagonal Concentration:</a:t>
            </a:r>
            <a:br/>
            <a:r>
              <a:t>  Prominent dark-blue diagonal indicates strong true-positive concentration across majority of classes.</a:t>
            </a:r>
            <a:br/>
            <a:br/>
            <a:r>
              <a:t>• Specific Off-Diagonal Error Clusters (from Report):</a:t>
            </a:r>
            <a:br/>
            <a:r>
              <a:t>  1. Affiliate License-Licensee vs. Licensor:</a:t>
            </a:r>
            <a:br/>
            <a:r>
              <a:t>     Mutual confusion due to shared licensing boilerplate; differs only in party assignment.</a:t>
            </a:r>
            <a:br/>
            <a:r>
              <a:t>  2. Cap On Liability vs. Uncapped Liability:</a:t>
            </a:r>
            <a:br/>
            <a:r>
              <a:t>     Subtle negation phrasing ('not limited to') confuses term-frequency representations.</a:t>
            </a:r>
            <a:br/>
            <a:r>
              <a:t>  3. Agreement Date vs. Effective Date:</a:t>
            </a:r>
            <a:br/>
            <a:r>
              <a:t>     Both contain concise calendar dates with identical syntactic context.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FINDINGS &amp; SEARCH</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DISCUSSION &amp; TECHNICAL FINDINGS</a:t>
            </a:r>
          </a:p>
          <a:p>
            <a:pPr>
              <a:defRPr sz="1200">
                <a:solidFill>
                  <a:srgbClr val="475569"/>
                </a:solidFill>
                <a:latin typeface="Calibri"/>
              </a:defRPr>
            </a:pPr>
            <a:r>
              <a:t>Machine Learning Insights and Integrated Intelligent Search Engine Prototype</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17</a:t>
            </a:r>
          </a:p>
        </p:txBody>
      </p:sp>
      <p:sp>
        <p:nvSpPr>
          <p:cNvPr id="7" name="Rounded Rectangle 6"/>
          <p:cNvSpPr/>
          <p:nvPr/>
        </p:nvSpPr>
        <p:spPr>
          <a:xfrm>
            <a:off x="457200" y="1645920"/>
            <a:ext cx="544068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0F172A"/>
                </a:solidFill>
                <a:latin typeface="Trebuchet MS"/>
              </a:defRPr>
            </a:pPr>
            <a:r>
              <a:t>Key Machine Learning Findings</a:t>
            </a:r>
          </a:p>
          <a:p>
            <a:pPr>
              <a:defRPr sz="1150">
                <a:solidFill>
                  <a:srgbClr val="334155"/>
                </a:solidFill>
                <a:latin typeface="Calibri"/>
              </a:defRPr>
            </a:pPr>
            <a:r>
              <a:t>• Linear Models Excel in Sparse Text Spaces: Logistic Regression (64.74% F1) and Linear SVM (64.18% F1) decisively beat Random Forest (56.34% F1). Text classification in 10,000 dimensions is largely linearly separable; tree bagging suffers from extreme feature sparsity.</a:t>
            </a:r>
          </a:p>
          <a:p>
            <a:pPr>
              <a:defRPr sz="1150">
                <a:solidFill>
                  <a:srgbClr val="334155"/>
                </a:solidFill>
                <a:latin typeface="Calibri"/>
              </a:defRPr>
            </a:pPr>
            <a:r>
              <a:t>• Balanced Class Weighting is Effective: Setting class_weight='balanced' successfully prevented minority collapse, enabling Price Restrictions (5 test samples) to achieve 75% F1.</a:t>
            </a:r>
          </a:p>
          <a:p>
            <a:pPr>
              <a:defRPr sz="1150">
                <a:solidFill>
                  <a:srgbClr val="334155"/>
                </a:solidFill>
                <a:latin typeface="Calibri"/>
              </a:defRPr>
            </a:pPr>
            <a:r>
              <a:t>• Macro-F1 is Indispensable for Legal Compliance: Accuracy alone would have crowned Linear SVM based on boilerplate classes, while Logistic Regression provides superior multi-class equity.</a:t>
            </a:r>
          </a:p>
          <a:p>
            <a:pPr>
              <a:defRPr sz="1150">
                <a:solidFill>
                  <a:srgbClr val="334155"/>
                </a:solidFill>
                <a:latin typeface="Calibri"/>
              </a:defRPr>
            </a:pPr>
            <a:r>
              <a:t>• Vocabulary Overlap is the Main Error Driver: Legal semantics differ fundamentally from conversational text; subtle negation and directional grants represent the true frontier.</a:t>
            </a:r>
          </a:p>
        </p:txBody>
      </p:sp>
      <p:sp>
        <p:nvSpPr>
          <p:cNvPr id="8" name="Rounded Rectangle 7"/>
          <p:cNvSpPr/>
          <p:nvPr/>
        </p:nvSpPr>
        <p:spPr>
          <a:xfrm>
            <a:off x="6263640" y="1645920"/>
            <a:ext cx="5440680" cy="4480560"/>
          </a:xfrm>
          <a:prstGeom prst="roundRect">
            <a:avLst/>
          </a:prstGeom>
          <a:solidFill>
            <a:srgbClr val="FFFFFF"/>
          </a:solid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1E3A8A"/>
                </a:solidFill>
                <a:latin typeface="Trebuchet MS"/>
              </a:defRPr>
            </a:pPr>
            <a:r>
              <a:t>Intelligent Search Prototype (src/search.py)</a:t>
            </a:r>
          </a:p>
          <a:p>
            <a:pPr>
              <a:defRPr sz="1150">
                <a:solidFill>
                  <a:srgbClr val="334155"/>
                </a:solidFill>
                <a:latin typeface="Calibri"/>
              </a:defRPr>
            </a:pPr>
            <a:r>
              <a:t>• In-Memory CSR Matrix Indexing:</a:t>
            </a:r>
            <a:br/>
            <a:r>
              <a:t>  Indexes all 12,204 clauses in memory using our 10k-dim TF-IDF space, executing vector cosine similarity queries in sub-10 milliseconds.</a:t>
            </a:r>
          </a:p>
          <a:p>
            <a:pPr>
              <a:defRPr sz="1150">
                <a:solidFill>
                  <a:srgbClr val="334155"/>
                </a:solidFill>
                <a:latin typeface="Calibri"/>
              </a:defRPr>
            </a:pPr>
            <a:r>
              <a:t>• Empirical Information Retrieval Benchmark:</a:t>
            </a:r>
            <a:br/>
            <a:r>
              <a:t>  Evaluated across 5 canonical legal query scenarios (results/search_evaluation.csv):</a:t>
            </a:r>
            <a:br/>
            <a:r>
              <a:t>  - Precision@1 (P@1): 80.00%</a:t>
            </a:r>
            <a:br/>
            <a:r>
              <a:t>  - Precision@5 (P@5): 88.00%</a:t>
            </a:r>
            <a:br/>
            <a:r>
              <a:t>  - Precision@10 (P@10): 86.00%</a:t>
            </a:r>
          </a:p>
          <a:p>
            <a:pPr>
              <a:defRPr sz="1150">
                <a:solidFill>
                  <a:srgbClr val="334155"/>
                </a:solidFill>
                <a:latin typeface="Calibri"/>
              </a:defRPr>
            </a:pPr>
            <a:r>
              <a:t>• Ablation Experiments (results/search_refinement_experiments.csv):</a:t>
            </a:r>
            <a:br/>
            <a:r>
              <a:t>  Proves that bigrams are critical: stripping bigrams collapses P@1 from 80.00% down to 60.00% (a 20% drop!), confirming that legal collocations require n-gram pairing.</a:t>
            </a:r>
          </a:p>
          <a:p>
            <a:pPr>
              <a:defRPr sz="1150">
                <a:solidFill>
                  <a:srgbClr val="334155"/>
                </a:solidFill>
                <a:latin typeface="Calibri"/>
              </a:defRPr>
            </a:pPr>
            <a:r>
              <a:t>• Optional Category Pre-Filtering:</a:t>
            </a:r>
            <a:br/>
            <a:r>
              <a:t>  Attorneys can constrain queries (e.g. searching only within 'Governing Law') for instant, targeted retrieval.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182880" y="182880"/>
            <a:ext cx="11823192" cy="6492240"/>
          </a:xfrm>
          <a:prstGeom prst="rect">
            <a:avLst/>
          </a:prstGeom>
          <a:noFill/>
          <a:ln w="1905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2011680" cy="292608"/>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563EB"/>
                </a:solidFill>
                <a:latin typeface="Trebuchet MS"/>
              </a:defRPr>
            </a:pPr>
            <a:r>
              <a:t>PROJECT STATUS</a:t>
            </a:r>
          </a:p>
        </p:txBody>
      </p:sp>
      <p:sp>
        <p:nvSpPr>
          <p:cNvPr id="4" name="TextBox 3"/>
          <p:cNvSpPr txBox="1"/>
          <p:nvPr/>
        </p:nvSpPr>
        <p:spPr>
          <a:xfrm>
            <a:off x="457200" y="658368"/>
            <a:ext cx="11274552" cy="777240"/>
          </a:xfrm>
          <a:prstGeom prst="rect">
            <a:avLst/>
          </a:prstGeom>
          <a:noFill/>
        </p:spPr>
        <p:txBody>
          <a:bodyPr wrap="square" lIns="0" tIns="0" rIns="0" bIns="0">
            <a:spAutoFit/>
          </a:bodyPr>
          <a:lstStyle/>
          <a:p>
            <a:pPr>
              <a:defRPr sz="2200" b="1">
                <a:solidFill>
                  <a:srgbClr val="0F172A"/>
                </a:solidFill>
                <a:latin typeface="Trebuchet MS"/>
              </a:defRPr>
            </a:pPr>
            <a:r>
              <a:t>CURRENT STATUS &amp; NEXT STEPS</a:t>
            </a:r>
          </a:p>
          <a:p>
            <a:pPr>
              <a:defRPr sz="1200">
                <a:solidFill>
                  <a:srgbClr val="475569"/>
                </a:solidFill>
                <a:latin typeface="Calibri"/>
              </a:defRPr>
            </a:pPr>
            <a:r>
              <a:t>Honest Academic Progress Audit: Completed Milestones vs. Scheduled Development</a:t>
            </a:r>
          </a:p>
        </p:txBody>
      </p:sp>
      <p:sp>
        <p:nvSpPr>
          <p:cNvPr id="5" name="TextBox 4"/>
          <p:cNvSpPr txBox="1"/>
          <p:nvPr/>
        </p:nvSpPr>
        <p:spPr>
          <a:xfrm>
            <a:off x="457200" y="6446520"/>
            <a:ext cx="6400800" cy="228600"/>
          </a:xfrm>
          <a:prstGeom prst="rect">
            <a:avLst/>
          </a:prstGeom>
          <a:noFill/>
        </p:spPr>
        <p:txBody>
          <a:bodyPr wrap="none" lIns="0" tIns="0" rIns="0" bIns="0">
            <a:spAutoFit/>
          </a:bodyPr>
          <a:lstStyle/>
          <a:p>
            <a:pPr>
              <a:defRPr sz="850">
                <a:solidFill>
                  <a:srgbClr val="64748B"/>
                </a:solidFill>
                <a:latin typeface="Calibri"/>
              </a:defRPr>
            </a:pPr>
            <a:r>
              <a:t>ClauseIQ — ML-Based Contract Clause Classification and Intelligent Search</a:t>
            </a:r>
          </a:p>
        </p:txBody>
      </p:sp>
      <p:sp>
        <p:nvSpPr>
          <p:cNvPr id="6" name="TextBox 5"/>
          <p:cNvSpPr txBox="1"/>
          <p:nvPr/>
        </p:nvSpPr>
        <p:spPr>
          <a:xfrm>
            <a:off x="7772400" y="6446520"/>
            <a:ext cx="3959352" cy="228600"/>
          </a:xfrm>
          <a:prstGeom prst="rect">
            <a:avLst/>
          </a:prstGeom>
          <a:noFill/>
        </p:spPr>
        <p:txBody>
          <a:bodyPr wrap="none" lIns="0" tIns="0" rIns="0" bIns="0">
            <a:spAutoFit/>
          </a:bodyPr>
          <a:lstStyle/>
          <a:p>
            <a:pPr algn="r">
              <a:defRPr sz="850">
                <a:solidFill>
                  <a:srgbClr val="64748B"/>
                </a:solidFill>
                <a:latin typeface="Calibri"/>
              </a:defRPr>
            </a:pPr>
            <a:r>
              <a:t>Dept. of Computer Applications, MACE | Slide 18</a:t>
            </a:r>
          </a:p>
        </p:txBody>
      </p:sp>
      <p:sp>
        <p:nvSpPr>
          <p:cNvPr id="7" name="Rounded Rectangle 6"/>
          <p:cNvSpPr/>
          <p:nvPr/>
        </p:nvSpPr>
        <p:spPr>
          <a:xfrm>
            <a:off x="457200" y="1645920"/>
            <a:ext cx="5440680" cy="4480560"/>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059669"/>
                </a:solidFill>
                <a:latin typeface="Trebuchet MS"/>
              </a:defRPr>
            </a:pPr>
            <a:r>
              <a:t>VERIFIED COMPLETED (Interim Scope)</a:t>
            </a:r>
          </a:p>
          <a:p>
            <a:pPr>
              <a:defRPr sz="1100">
                <a:solidFill>
                  <a:srgbClr val="0F172A"/>
                </a:solidFill>
                <a:latin typeface="Calibri"/>
              </a:defRPr>
            </a:pPr>
            <a:r>
              <a:t>✔ Dataset Curation &amp; Validation: 12,204 clauses, 0 nulls, 41 classes.</a:t>
            </a:r>
          </a:p>
          <a:p>
            <a:pPr>
              <a:defRPr sz="1100">
                <a:solidFill>
                  <a:srgbClr val="0F172A"/>
                </a:solidFill>
                <a:latin typeface="Calibri"/>
              </a:defRPr>
            </a:pPr>
            <a:r>
              <a:t>✔ EDA &amp; Class Distribution Profiling: Identified 46.33:1 imbalance.</a:t>
            </a:r>
          </a:p>
          <a:p>
            <a:pPr>
              <a:defRPr sz="1100">
                <a:solidFill>
                  <a:srgbClr val="0F172A"/>
                </a:solidFill>
                <a:latin typeface="Calibri"/>
              </a:defRPr>
            </a:pPr>
            <a:r>
              <a:t>✔ Text Preprocessing Pipeline: Case-folding, entity &amp; punctuation normalization.</a:t>
            </a:r>
          </a:p>
          <a:p>
            <a:pPr>
              <a:defRPr sz="1100">
                <a:solidFill>
                  <a:srgbClr val="0F172A"/>
                </a:solidFill>
                <a:latin typeface="Calibri"/>
              </a:defRPr>
            </a:pPr>
            <a:r>
              <a:t>✔ TF-IDF Feature Space: 10,000 features, (1,2) n-grams, sublinear TF.</a:t>
            </a:r>
          </a:p>
          <a:p>
            <a:pPr>
              <a:defRPr sz="1100">
                <a:solidFill>
                  <a:srgbClr val="0F172A"/>
                </a:solidFill>
                <a:latin typeface="Calibri"/>
              </a:defRPr>
            </a:pPr>
            <a:r>
              <a:t>✔ Stratified 80/20 Partitioning: Preserved all 41 classes across splits.</a:t>
            </a:r>
          </a:p>
          <a:p>
            <a:pPr>
              <a:defRPr sz="1100">
                <a:solidFill>
                  <a:srgbClr val="0F172A"/>
                </a:solidFill>
                <a:latin typeface="Calibri"/>
              </a:defRPr>
            </a:pPr>
            <a:r>
              <a:t>✔ Four ML Models Trained &amp; Tuned: GridSearchCV / RandomizedSearchCV.</a:t>
            </a:r>
          </a:p>
          <a:p>
            <a:pPr>
              <a:defRPr sz="1100">
                <a:solidFill>
                  <a:srgbClr val="0F172A"/>
                </a:solidFill>
                <a:latin typeface="Calibri"/>
              </a:defRPr>
            </a:pPr>
            <a:r>
              <a:t>✔ Full Multi-Metric Evaluation: Accuracy, Macro/Weighted P, R, and F1.</a:t>
            </a:r>
          </a:p>
          <a:p>
            <a:pPr>
              <a:defRPr sz="1100">
                <a:solidFill>
                  <a:srgbClr val="0F172A"/>
                </a:solidFill>
                <a:latin typeface="Calibri"/>
              </a:defRPr>
            </a:pPr>
            <a:r>
              <a:t>✔ Model Selection Finalized: Logistic Regression chosen via Macro-F1.</a:t>
            </a:r>
          </a:p>
          <a:p>
            <a:pPr>
              <a:defRPr sz="1100">
                <a:solidFill>
                  <a:srgbClr val="0F172A"/>
                </a:solidFill>
                <a:latin typeface="Calibri"/>
              </a:defRPr>
            </a:pPr>
            <a:r>
              <a:t>✔ 41x41 Confusion Matrix &amp; Per-Class Reports Logged.</a:t>
            </a:r>
          </a:p>
          <a:p>
            <a:pPr>
              <a:defRPr sz="1100">
                <a:solidFill>
                  <a:srgbClr val="0F172A"/>
                </a:solidFill>
                <a:latin typeface="Calibri"/>
              </a:defRPr>
            </a:pPr>
            <a:r>
              <a:t>✔ In-Memory Intelligent Search Engine: P@1=80.0%, P@5=88.0%.</a:t>
            </a:r>
          </a:p>
          <a:p>
            <a:pPr>
              <a:defRPr sz="1100">
                <a:solidFill>
                  <a:srgbClr val="0F172A"/>
                </a:solidFill>
                <a:latin typeface="Calibri"/>
              </a:defRPr>
            </a:pPr>
            <a:r>
              <a:t>✔ FastAPI REST Endpoints: /classify, /search, /categories, /health.</a:t>
            </a:r>
          </a:p>
          <a:p>
            <a:pPr>
              <a:defRPr sz="1100">
                <a:solidFill>
                  <a:srgbClr val="0F172A"/>
                </a:solidFill>
                <a:latin typeface="Calibri"/>
              </a:defRPr>
            </a:pPr>
            <a:r>
              <a:t>✔ Automated Pytest Suite: 15/15 tests passing (100% pass rate).</a:t>
            </a:r>
          </a:p>
        </p:txBody>
      </p:sp>
      <p:sp>
        <p:nvSpPr>
          <p:cNvPr id="8" name="Rounded Rectangle 7"/>
          <p:cNvSpPr/>
          <p:nvPr/>
        </p:nvSpPr>
        <p:spPr>
          <a:xfrm>
            <a:off x="6263640" y="1645920"/>
            <a:ext cx="5440680" cy="44805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600" b="1">
                <a:solidFill>
                  <a:srgbClr val="D97706"/>
                </a:solidFill>
                <a:latin typeface="Trebuchet MS"/>
              </a:defRPr>
            </a:pPr>
            <a:r>
              <a:t>SCHEDULED FOR NEXT PHASE (Pending)</a:t>
            </a:r>
          </a:p>
          <a:p>
            <a:pPr>
              <a:defRPr sz="1150">
                <a:solidFill>
                  <a:srgbClr val="0F172A"/>
                </a:solidFill>
                <a:latin typeface="Calibri"/>
              </a:defRPr>
            </a:pPr>
            <a:r>
              <a:t>⏳ Live PostgreSQL / Supabase Integration:</a:t>
            </a:r>
            <a:br/>
            <a:r>
              <a:t>   Schema specified; migration from in-memory CSR to live PostgreSQL database for persistent contract tracking is in progress.</a:t>
            </a:r>
          </a:p>
          <a:p>
            <a:pPr>
              <a:defRPr sz="1150">
                <a:solidFill>
                  <a:srgbClr val="0F172A"/>
                </a:solidFill>
                <a:latin typeface="Calibri"/>
              </a:defRPr>
            </a:pPr>
            <a:r>
              <a:t>⏳ Interactive React.js Web Dashboard:</a:t>
            </a:r>
            <a:br/>
            <a:r>
              <a:t>   Frontend UI has not yet been built. In accordance with strict academic guidelines, no artificial UI mockups are claimed as finished.</a:t>
            </a:r>
          </a:p>
          <a:p>
            <a:pPr>
              <a:defRPr sz="1150">
                <a:solidFill>
                  <a:srgbClr val="0F172A"/>
                </a:solidFill>
                <a:latin typeface="Calibri"/>
              </a:defRPr>
            </a:pPr>
            <a:r>
              <a:t>⏳ End-to-End System Integration:</a:t>
            </a:r>
            <a:br/>
            <a:r>
              <a:t>   Connecting React client to FastAPI backend endpoints via Axios and validating full drag-and-drop contract upload.</a:t>
            </a:r>
          </a:p>
          <a:p>
            <a:pPr>
              <a:defRPr sz="1150">
                <a:solidFill>
                  <a:srgbClr val="0F172A"/>
                </a:solidFill>
                <a:latin typeface="Calibri"/>
              </a:defRPr>
            </a:pPr>
            <a:r>
              <a:t>⏳ Production Cloud Deployment:</a:t>
            </a:r>
            <a:br/>
            <a:r>
              <a:t>   Deploying containerized FastAPI backend and React frontend to cloud infrastructure.</a:t>
            </a:r>
          </a:p>
          <a:p>
            <a:pPr>
              <a:defRPr sz="1150">
                <a:solidFill>
                  <a:srgbClr val="0F172A"/>
                </a:solidFill>
                <a:latin typeface="Calibri"/>
              </a:defRPr>
            </a:pPr>
            <a:r>
              <a:t>⏳ Final Performance Validation Report:</a:t>
            </a:r>
            <a:br/>
            <a:r>
              <a:t>   End-to-end user evaluation and comprehensive final MCA dissertation documentation.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2544"/>
        </a:solidFill>
        <a:effectLst/>
      </p:bgPr>
    </p:bg>
    <p:spTree>
      <p:nvGrpSpPr>
        <p:cNvPr id="1" name=""/>
        <p:cNvGrpSpPr/>
        <p:nvPr/>
      </p:nvGrpSpPr>
      <p:grpSpPr/>
      <p:sp>
        <p:nvSpPr>
          <p:cNvPr id="2" name="Rectangle 1"/>
          <p:cNvSpPr/>
          <p:nvPr/>
        </p:nvSpPr>
        <p:spPr>
          <a:xfrm>
            <a:off x="274320" y="274320"/>
            <a:ext cx="11640312" cy="6309360"/>
          </a:xfrm>
          <a:prstGeom prst="rect">
            <a:avLst/>
          </a:prstGeom>
          <a:no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188720"/>
            <a:ext cx="10725912" cy="2011680"/>
          </a:xfrm>
          <a:prstGeom prst="rect">
            <a:avLst/>
          </a:prstGeom>
          <a:noFill/>
        </p:spPr>
        <p:txBody>
          <a:bodyPr wrap="square">
            <a:spAutoFit/>
          </a:bodyPr>
          <a:lstStyle/>
          <a:p>
            <a:pPr algn="ctr">
              <a:defRPr sz="4800" b="1">
                <a:solidFill>
                  <a:srgbClr val="FFFFFF"/>
                </a:solidFill>
                <a:latin typeface="Trebuchet MS"/>
              </a:defRPr>
            </a:pPr>
            <a:r>
              <a:t>THANK YOU</a:t>
            </a:r>
          </a:p>
          <a:p>
            <a:pPr algn="ctr">
              <a:defRPr sz="1800" b="1">
                <a:solidFill>
                  <a:srgbClr val="93C5FD"/>
                </a:solidFill>
                <a:latin typeface="Trebuchet MS"/>
              </a:defRPr>
            </a:pPr>
            <a:r>
              <a:t>ClauseIQ — Machine Learning-Based Contract Clause Classification and Intelligent Search System</a:t>
            </a:r>
          </a:p>
          <a:p>
            <a:pPr algn="ctr">
              <a:defRPr sz="1300">
                <a:solidFill>
                  <a:srgbClr val="CBD5E1"/>
                </a:solidFill>
                <a:latin typeface="Calibri"/>
              </a:defRPr>
            </a:pPr>
            <a:r>
              <a:t>Interim Progress Review Completed — Questions &amp; Discussion Welcomed</a:t>
            </a:r>
          </a:p>
        </p:txBody>
      </p:sp>
      <p:sp>
        <p:nvSpPr>
          <p:cNvPr id="4" name="Rounded Rectangle 3"/>
          <p:cNvSpPr/>
          <p:nvPr/>
        </p:nvSpPr>
        <p:spPr>
          <a:xfrm>
            <a:off x="2432304" y="3474720"/>
            <a:ext cx="7315200" cy="2468880"/>
          </a:xfrm>
          <a:prstGeom prst="roundRect">
            <a:avLst/>
          </a:prstGeom>
          <a:solidFill>
            <a:srgbClr val="1E293B"/>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300" b="1">
                <a:solidFill>
                  <a:srgbClr val="60A5FA"/>
                </a:solidFill>
                <a:latin typeface="Trebuchet MS"/>
              </a:defRPr>
            </a:pPr>
            <a:r>
              <a:t>PROJECT METADATA &amp; CONTACT</a:t>
            </a:r>
          </a:p>
          <a:p>
            <a:pPr algn="ctr">
              <a:defRPr sz="1500" b="1">
                <a:solidFill>
                  <a:srgbClr val="FFFFFF"/>
                </a:solidFill>
                <a:latin typeface="Trebuchet MS"/>
              </a:defRPr>
            </a:pPr>
            <a:r>
              <a:t>Student: MOHAMMED FARHAN K  |  Reg. No: MAC25MCA-2042</a:t>
            </a:r>
          </a:p>
          <a:p>
            <a:pPr algn="ctr">
              <a:defRPr sz="1200">
                <a:solidFill>
                  <a:srgbClr val="CBD5E1"/>
                </a:solidFill>
                <a:latin typeface="Calibri"/>
              </a:defRPr>
            </a:pPr>
            <a:r>
              <a:t>Project Guide: Dr. SONIA ABRAHAM, Associate Professor</a:t>
            </a:r>
            <a:br/>
            <a:r>
              <a:t>Department of Computer Applications</a:t>
            </a:r>
            <a:br/>
            <a:r>
              <a:t>Mar Athanasius College of Engineering (MACE), Kothamangalam, Kerala</a:t>
            </a:r>
            <a:br/>
            <a:r>
              <a:t>Contact: farhank@mace.ac.in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