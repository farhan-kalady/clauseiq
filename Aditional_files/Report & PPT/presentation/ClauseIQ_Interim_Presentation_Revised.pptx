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 and guide Dr. Sonia Abraham. </a:t>
            </a:r>
          </a:p>
          <a:p>
            <a:r>
              <a:t>I am Mohammed Farhan K, presenting the Interim Project Presentation for my MCA mini project: 'ClauseIQ – Machine Learning-Based Contract Clause Classification and Intelligent Search System'.</a:t>
            </a:r>
          </a:p>
          <a:p>
            <a:r>
              <a:t>In our first presentation, we proposed the conceptual framework and dataset exploration. Today, for this interim review, I am presenting the verified empirical results of our completed machine learning pipeline. This includes training and tuning four classifiers, evaluating them on our held-out test set, selecting Logistic Regression based on our primary metric, analyzing errors with a full 41x41 confusion matrix, and demonstrating our intelligent search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contract review is currently bottlenecked by three main challenges:</a:t>
            </a:r>
          </a:p>
          <a:p>
            <a:r>
              <a:t>First, manual review across lengthy legal contracts is exhausting, slow, and prone to human error.</a:t>
            </a:r>
          </a:p>
          <a:p>
            <a:r>
              <a:t>Second, standard keyword search tools fail because lawyers use varying drafting conventions and synonyms—for example, 'limitation of liability' versus 'aggregate exposure'.</a:t>
            </a:r>
          </a:p>
          <a:p>
            <a:r>
              <a:t>Third, automatic classification is difficult because contract clauses span 41 distinct categories that exhibit severe statistical imbalance.</a:t>
            </a:r>
          </a:p>
          <a:p>
            <a:r>
              <a:t>Our project goal is to build a practical, lightweight classical machine learning system that automatically classifies clauses into 41 categories and provides intelligent semantic clause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clearly establishes our interim project milestone.</a:t>
            </a:r>
          </a:p>
          <a:p>
            <a:r>
              <a:t>Our overall objectives are threefold: classify clauses into 41 categories, build a TF-IDF clause search engine, and rigorously evaluate multiple ML models.</a:t>
            </a:r>
          </a:p>
          <a:p>
            <a:r>
              <a:t>For this interim review, we have completed the entire machine learning core: data cleaning, TF-IDF vectorization, training and tuning all four candidate classifiers, evaluating them on the held-out test set, selecting our model, building our search prototype, and implementing our FastAPI backend. The frontend UI and database persistence are scheduled for our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shows our verified dataset figures.</a:t>
            </a:r>
          </a:p>
          <a:p>
            <a:r>
              <a:t>Our dataset is derived from the Contract Understanding Atticus Dataset (CUAD v1).</a:t>
            </a:r>
          </a:p>
          <a:p>
            <a:r>
              <a:t>It contains 510 commercial contracts, yielding exactly 12,204 labeled clause records across 41 categories.</a:t>
            </a:r>
          </a:p>
          <a:p>
            <a:r>
              <a:t>The schema is minimal and clean, with 3 columns: contract_id, clause_text, and category.</a:t>
            </a:r>
          </a:p>
          <a:p>
            <a:r>
              <a:t>Through automated validation in src/clean_dataset.py, we verified 100% data completeness: exactly zero missing values, zero empty strings, and zero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highlights our exploratory analysis of class distribution.</a:t>
            </a:r>
          </a:p>
          <a:p>
            <a:r>
              <a:t>The dataset exhibits extreme class imbalance: 'Parties' is the largest category with 1,251 instances, while 'Price Restrictions' has only 27 instances.</a:t>
            </a:r>
          </a:p>
          <a:p>
            <a:r>
              <a:t>This creates a severe imbalance ratio of 46.33 to 1.</a:t>
            </a:r>
          </a:p>
          <a:p>
            <a:r>
              <a:t>Because of this skew, standard accuracy is misleading: a model could achieve over 70% accuracy by only predicting common boilerplate while missing rare, high-consequence clauses. </a:t>
            </a:r>
          </a:p>
          <a:p>
            <a:r>
              <a:t>Therefore, Macro-F1—which weights all 41 classes equally—is our primary evaluation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presents our text cleaning pipeline implemented in src/text_cleaner.py.</a:t>
            </a:r>
          </a:p>
          <a:p>
            <a:r>
              <a:t>Raw clauses undergo case-folding, URL and email removal via regex, noise filtering while preserving legal punctuation, and whitespace normalization.</a:t>
            </a:r>
          </a:p>
          <a:p>
            <a:r>
              <a:t>The example shows how web links and irregular casing are cleaned into standardized tokens while preserving all substantive legal terms like 'governed by delaware'.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illustrates our feature extraction settings:</a:t>
            </a:r>
          </a:p>
          <a:p>
            <a:r>
              <a:t>We configure 10,000 maximum features, unigrams and bigrams (1,2), sublinear TF scaling (1 + log(tf)), minimum document frequency of 2, and maximum document frequency of 0.95.</a:t>
            </a:r>
          </a:p>
          <a:p>
            <a:r>
              <a:t>Bigrams are essential to capture two-word legal expressions like 'governing law' and 'prior written consent'.</a:t>
            </a:r>
          </a:p>
          <a:p>
            <a:r>
              <a:t>Importantly, to prevent data leakage, the vectorizer was fitted strictly on the training partition and applied to the test partition via transform().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illustrates our dataset partition:</a:t>
            </a:r>
          </a:p>
          <a:p>
            <a:r>
              <a:t>We performed an 80/20 stratified split with random_state=42, partitioning our 12,204 clauses into 9,763 training samples and 2,441 held-out test samples.</a:t>
            </a:r>
          </a:p>
          <a:p>
            <a:r>
              <a:t>Stratification ensures all 41 categories maintain identical proportions in both splits.</a:t>
            </a:r>
          </a:p>
          <a:p>
            <a:r>
              <a:t>Important clarification: this is a clause-level stratified split, not a contract-level split. All four models were evaluated on the exact same 2,441 held-out test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presents our four candidate models:</a:t>
            </a:r>
          </a:p>
          <a:p>
            <a:r>
              <a:t>Logistic Regression: a multinomial linear model with L2 regularization.</a:t>
            </a:r>
          </a:p>
          <a:p>
            <a:r>
              <a:t>Linear SVM: a maximum-margin hyperplane classifier well-suited for sparse text.</a:t>
            </a:r>
          </a:p>
          <a:p>
            <a:r>
              <a:t>Naive Bayes: a fast probabilistic generative baseline.</a:t>
            </a:r>
          </a:p>
          <a:p>
            <a:r>
              <a:t>Random Forest: an ensemble of decision trees to test non-linear bagging on text.</a:t>
            </a:r>
          </a:p>
          <a:p>
            <a:r>
              <a:t>Crucially, all four models were trained on the same training set and evaluated on the exact same held-out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summarizes the tuning parameters for all four classifiers.</a:t>
            </a:r>
          </a:p>
          <a:p>
            <a:r>
              <a:t>All tuning was performed on the training partition using StratifiedKFold cross-validation optimizing for Macro-F1:</a:t>
            </a:r>
          </a:p>
          <a:p>
            <a:r>
              <a:t>For Naive Bayes, GridSearchCV selected alpha = 0.01.</a:t>
            </a:r>
          </a:p>
          <a:p>
            <a:r>
              <a:t>For Random Forest, RandomizedSearchCV selected 200 estimators and max_depth of 50.</a:t>
            </a:r>
          </a:p>
          <a:p>
            <a:r>
              <a:t>For Linear SVM, grid search selected C = 0.1.</a:t>
            </a:r>
          </a:p>
          <a:p>
            <a:r>
              <a:t>For Logistic Regression, L2 regularization with C = 1.0 and balanced class weights was utilized.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shows the actual production code from our repository in src/feature_extraction.py and src/train_baseline.py.</a:t>
            </a:r>
          </a:p>
          <a:p>
            <a:r>
              <a:t>First, we vectorize raw text using TfidfVectorizer with 10,000 features and unigram-bigram pairing. Notice that fit_transform is applied exclusively to X_train_text, while X_test_text is transformed using transform() to prevent data leakage.</a:t>
            </a:r>
          </a:p>
          <a:p>
            <a:r>
              <a:t>Second, LogisticRegression is initialized with class_weight='balanced' to compensate for the 46:1 class imbalance.</a:t>
            </a:r>
          </a:p>
          <a:p>
            <a:r>
              <a:t>Finally, the model fits on X_train and predicts on the 2,441 test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is our core model evaluation table containing the verified results from results/model_comparison.csv:</a:t>
            </a:r>
          </a:p>
          <a:p>
            <a:r>
              <a:t>Logistic Regression achieved 71.90% Accuracy, 64.81% Macro Precision, 66.22% Macro Recall, and 64.74% Macro-F1.</a:t>
            </a:r>
          </a:p>
          <a:p>
            <a:r>
              <a:t>Linear SVM achieved 72.63% Accuracy, 63.23% Macro Precision, 66.65% Macro Recall, and 64.18% Macro-F1.</a:t>
            </a:r>
          </a:p>
          <a:p>
            <a:r>
              <a:t>Naive Bayes achieved 69.27% Accuracy and 58.53% Macro-F1.</a:t>
            </a:r>
          </a:p>
          <a:p>
            <a:r>
              <a:t>Random Forest achieved 65.46% Accuracy and 56.34% Macro-F1.</a:t>
            </a:r>
          </a:p>
          <a:p>
            <a:r>
              <a:t>Notice that Linear SVM achieved the highest overall accuracy at 72.63%, but Logistic Regression achieved the highest Macro-F1 at 64.74%.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displays the model comparison bar chart generated at 300 DPI from results/model_comparison.png.</a:t>
            </a:r>
          </a:p>
          <a:p>
            <a:r>
              <a:t>The chart visually shows the comparison across Accuracy, Macro-F1, and Weighted-F1:</a:t>
            </a:r>
          </a:p>
          <a:p>
            <a:r>
              <a:t>Linear SVM leads in raw Accuracy with 72.63%.</a:t>
            </a:r>
          </a:p>
          <a:p>
            <a:r>
              <a:t>Logistic Regression leads in Macro-F1 with 64.74%.</a:t>
            </a:r>
          </a:p>
          <a:p>
            <a:r>
              <a:t>Both Naive Bayes and Random Forest lag significantly behind in Macro-F1, showing that linear models handle sparse high-dimensional TF-IDF vectors much better than tree 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explains our model selection decision.</a:t>
            </a:r>
          </a:p>
          <a:p>
            <a:r>
              <a:t>Our evaluation strategy defined Macro-F1 as the primary metric and Accuracy as the secondary metric.</a:t>
            </a:r>
          </a:p>
          <a:p>
            <a:r>
              <a:t>Linear SVM achieved a higher raw accuracy of 72.63% compared to 71.90% for Logistic Regression.</a:t>
            </a:r>
          </a:p>
          <a:p>
            <a:r>
              <a:t>However, Logistic Regression achieved a higher Macro-F1 of 64.74% compared to 64.18% for Linear SVM.</a:t>
            </a:r>
          </a:p>
          <a:p>
            <a:r>
              <a:t>In an imbalanced 41-class dataset, Macro-F1 is essential because it gives equal importance to rare, high-consequence clauses like Price Restrictions and Non-Compete, rather than being dominated by frequent boilerplate.</a:t>
            </a:r>
          </a:p>
          <a:p>
            <a:r>
              <a:t>Therefore, Logistic Regression was selected because Macro-F1 was defined as the primary evaluation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shows class-level results from our verified classification report in results/classification_reports/logistic_regression_report.csv across six representative categories:</a:t>
            </a:r>
          </a:p>
          <a:p>
            <a:r>
              <a:t>Distinctive categories like Governing Law and Parties achieve near-perfect F1-scores of 98.34% and 96.99%.</a:t>
            </a:r>
          </a:p>
          <a:p>
            <a:r>
              <a:t>Moderate provisions like Cap On Liability achieve 72.06% F1.</a:t>
            </a:r>
          </a:p>
          <a:p>
            <a:r>
              <a:t>Challenging provisions such as Affiliate License-Licensee and Licensor achieve lower F1-scores (28.12% and 14.63%) because they share virtually identical vocabulary, differing only in who grants the license to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displays the full 41-by-41 confusion matrix for Logistic Regression on our held-out test set of 2,441 samples.</a:t>
            </a:r>
          </a:p>
          <a:p>
            <a:r>
              <a:t>The vertical axis shows True Categories, and the horizontal axis shows Predicted Categories.</a:t>
            </a:r>
          </a:p>
          <a:p>
            <a:r>
              <a:t>The bright diagonal confirms high accuracy on frequent provisions.</a:t>
            </a:r>
          </a:p>
          <a:p>
            <a:r>
              <a:t>Off-diagonal errors are concentrated in specific pairs with similar wording, such as Affiliate License-Licensee versus Licensor, Cap On Liability versus Uncapped Liability, and Agreement Date versus Effective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summarizes our search prototype and core machine learning insights.</a:t>
            </a:r>
          </a:p>
          <a:p>
            <a:r>
              <a:t>In our search evaluation using TF-IDF and Cosine Similarity, the retrieval engine achieves 80% Precision@1, 88% Precision@5, and 86% Precision@10.</a:t>
            </a:r>
          </a:p>
          <a:p>
            <a:r>
              <a:t>Our ablation experiment confirmed that bigrams are essential: without bigrams, Precision@1 drops by 20% (from 80% to 60%).</a:t>
            </a:r>
          </a:p>
          <a:p>
            <a:r>
              <a:t>Our key machine learning takeaways are:</a:t>
            </a:r>
          </a:p>
          <a:p>
            <a:r>
              <a:t>First, linear models handle sparse text spaces much better than tree ensembles;</a:t>
            </a:r>
          </a:p>
          <a:p>
            <a:r>
              <a:t>Second, Macro-F1 is essential for an imbalanced legal dataset;</a:t>
            </a:r>
          </a:p>
          <a:p>
            <a:r>
              <a:t>And third, vocabulary overlap is the primary source of classification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provides an honest interim progress audit:</a:t>
            </a:r>
          </a:p>
          <a:p>
            <a:r>
              <a:t>On the left, completed tasks include dataset validation, preprocessing, TF-IDF vectorization, training and tuning all four models, multi-metric evaluation, model selection of Logistic Regression, confusion matrix analysis, search prototype, and our FastAPI backend.</a:t>
            </a:r>
          </a:p>
          <a:p>
            <a:r>
              <a:t>On the right, work scheduled for our final phase includes connecting the live Supabase database, building the React user interface, conducting end-to-end integration testing, and final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much, respected evaluators and guide, for your time and feedback. </a:t>
            </a:r>
          </a:p>
          <a:p>
            <a:r>
              <a:t>ClauseIQ has completed its core machine learning phase with verified empirical results, achieving 64.74% Macro-F1 with Logistic Regression across 41 imbalanced legal categories, alongside a verified search prototype.</a:t>
            </a:r>
          </a:p>
          <a:p>
            <a:r>
              <a:t>I welcome your questions, feedback, and suggestions for our upcoming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59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ClauseIQ</a:t>
            </a:r>
          </a:p>
          <a:p>
            <a:pPr algn="ctr">
              <a:defRPr sz="2800" b="1">
                <a:solidFill>
                  <a:srgbClr val="93C5FD"/>
                </a:solidFill>
                <a:latin typeface="Trebuchet MS"/>
              </a:defRPr>
            </a:pPr>
            <a:r>
              <a:t>Machine Learning-Based Contract Clause Classification</a:t>
            </a:r>
            <a:br/>
            <a:r>
              <a:t>and Intelligent Search System</a:t>
            </a:r>
          </a:p>
          <a:p>
            <a:pPr algn="ctr">
              <a:defRPr sz="2200">
                <a:solidFill>
                  <a:srgbClr val="E2E8F0"/>
                </a:solidFill>
                <a:latin typeface="Calibri"/>
              </a:defRPr>
            </a:pPr>
            <a:r>
              <a:t>Interim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2304" y="4114800"/>
            <a:ext cx="7315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MOHAMMED FARHAN K</a:t>
            </a:r>
          </a:p>
          <a:p>
            <a:pPr algn="ctr">
              <a:defRPr sz="1800">
                <a:solidFill>
                  <a:srgbClr val="CBD5E1"/>
                </a:solidFill>
                <a:latin typeface="Calibri"/>
              </a:defRPr>
            </a:pPr>
            <a:r>
              <a:t>MCA  |  Department of Computer Applications  |  Reg. No: MAC25MCA-2042</a:t>
            </a:r>
          </a:p>
          <a:p>
            <a:pPr algn="ctr">
              <a:defRPr sz="1800">
                <a:solidFill>
                  <a:srgbClr val="94A3B8"/>
                </a:solidFill>
                <a:latin typeface="Calibri"/>
              </a:defRPr>
            </a:pPr>
            <a:r>
              <a:t>Mar Athanasius College of Engineering (MACE), Kothamangalam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PROBLEM &amp; MOTIVATION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Operational Bottlenecks in Legal Contract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MANUAL REVIEW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Large contracts require time-consuming clause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KEYWORD SEARCH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Exact keyword search misses variations in legal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CLASSIFICATION CHALLENGE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41 legal clause categories are highly imbalanced.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1091672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GOAL: Automatically classify contract clauses and retrieve relevant clauses using classical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SCOPE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PROJECT OBJECTIVES &amp; CURRENT SCOPE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Deliverables Planned vs. Actually Completed at Interim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OBJECTIVES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1. Classify clauses into 41 categories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2. Build TF-IDF based clause search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3. Evaluate multiple ML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4434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t>CURRENTLY COMPLETED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Dataset + preprocessing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TF-IDF feature extraction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4 ML models trained &amp; tuned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Model evaluation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Model selection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Search prototype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FastAPI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DATASET SPECIFICATIONS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CUAD-Derived Legal Contract Clause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600" b="1">
                <a:solidFill>
                  <a:srgbClr val="2563EB"/>
                </a:solidFill>
                <a:latin typeface="Trebuchet MS"/>
              </a:defRPr>
            </a:pPr>
            <a:r>
              <a:t>510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600" b="1">
                <a:solidFill>
                  <a:srgbClr val="1E3A8A"/>
                </a:solidFill>
                <a:latin typeface="Trebuchet MS"/>
              </a:defRPr>
            </a:pPr>
            <a:r>
              <a:t>12,204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CLAUSE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600" b="1">
                <a:solidFill>
                  <a:srgbClr val="059669"/>
                </a:solidFill>
                <a:latin typeface="Trebuchet MS"/>
              </a:defRPr>
            </a:pPr>
            <a:r>
              <a:t>41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CLAUSE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600" b="1">
                <a:solidFill>
                  <a:srgbClr val="D97706"/>
                </a:solidFill>
                <a:latin typeface="Trebuchet MS"/>
              </a:defRPr>
            </a:pPr>
            <a:r>
              <a:t>3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CORE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109167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DATASET ATTRIBUTES</a:t>
            </a:r>
          </a:p>
          <a:p>
            <a:pPr algn="ctr">
              <a:defRPr sz="2600" b="1">
                <a:solidFill>
                  <a:srgbClr val="0F172A"/>
                </a:solidFill>
                <a:latin typeface="Consolas"/>
              </a:defRPr>
            </a:pPr>
            <a:r>
              <a:t>contract_id    |    clause_text    |    category</a:t>
            </a:r>
          </a:p>
          <a:p>
            <a:pPr algn="ctr">
              <a:defRPr sz="1900">
                <a:solidFill>
                  <a:srgbClr val="64748B"/>
                </a:solidFill>
                <a:latin typeface="Calibri"/>
              </a:defRPr>
            </a:pPr>
            <a:r>
              <a:t>100% Complete:  0 missing values  •  0 empty strings  •  0 duplicate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EXPLORATORY DATA ANALYSIS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Corpus Distribution and Severe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02920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CLASS IMBALANCE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Largest Category:</a:t>
            </a:r>
            <a:br/>
            <a:r>
              <a:t>Parties — 1,251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Smallest Category:</a:t>
            </a:r>
            <a:br/>
            <a:r>
              <a:t>Price Restrictions — 27</a:t>
            </a:r>
          </a:p>
          <a:p>
            <a:br/>
            <a:pPr>
              <a:defRPr sz="1900">
                <a:solidFill>
                  <a:srgbClr val="64748B"/>
                </a:solidFill>
                <a:latin typeface="Calibri"/>
              </a:defRPr>
            </a:pPr>
            <a:r>
              <a:t>Imbalance Ratio:</a:t>
            </a:r>
          </a:p>
          <a:p>
            <a:pPr>
              <a:defRPr sz="4400" b="1">
                <a:solidFill>
                  <a:srgbClr val="DC2626"/>
                </a:solidFill>
                <a:latin typeface="Trebuchet MS"/>
              </a:defRPr>
            </a:pPr>
            <a:r>
              <a:t>46.33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4663440" cy="7315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59669"/>
                </a:solidFill>
                <a:latin typeface="Calibri"/>
              </a:defRPr>
            </a:pPr>
            <a:r>
              <a:t>Macro-F1 is more informative than Accuracy for this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91640"/>
            <a:ext cx="5788152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551383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 PREPROCESSING PIPELINE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Standardized Text Normalization for Legal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RAW CLAUSE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LOWERCASE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REMOVE URL/EMAIL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CLEAN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NORMALIZE 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CLEAN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11091672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TEXT TRANSFORMATION EXAMPLE</a:t>
            </a:r>
          </a:p>
          <a:p>
            <a:br/>
            <a:pPr>
              <a:defRPr sz="2100">
                <a:solidFill>
                  <a:srgbClr val="1E293B"/>
                </a:solidFill>
                <a:latin typeface="Consolas"/>
              </a:defRPr>
            </a:pPr>
            <a:r>
              <a:t>Before:</a:t>
            </a:r>
            <a:br/>
            <a:r>
              <a:t>"This AGREEMENT shall be governed by Delaware! Contact legal@clauseiq.com or https://..."</a:t>
            </a:r>
          </a:p>
          <a:p>
            <a:br/>
            <a:pPr>
              <a:defRPr sz="2100" b="1">
                <a:solidFill>
                  <a:srgbClr val="059669"/>
                </a:solidFill>
                <a:latin typeface="Consolas"/>
              </a:defRPr>
            </a:pPr>
            <a:r>
              <a:t>After:</a:t>
            </a:r>
            <a:br/>
            <a:r>
              <a:t>"this agreement shall be governed by delaware contact for terms"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TF-IDF FEATURE ENGINEERING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Sparse Vector Space Configuration &amp; Anti-Leakage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800" b="1">
                <a:solidFill>
                  <a:srgbClr val="1E3A8A"/>
                </a:solidFill>
                <a:latin typeface="Trebuchet MS"/>
              </a:defRPr>
            </a:pPr>
            <a:r>
              <a:t>10,000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800" b="1">
                <a:solidFill>
                  <a:srgbClr val="2563EB"/>
                </a:solidFill>
                <a:latin typeface="Trebuchet MS"/>
              </a:defRPr>
            </a:pPr>
            <a:r>
              <a:t>(1, 2)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N-GRAMS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800" b="1">
                <a:solidFill>
                  <a:srgbClr val="059669"/>
                </a:solidFill>
                <a:latin typeface="Trebuchet MS"/>
              </a:defRPr>
            </a:pPr>
            <a:r>
              <a:t>TRUE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SUBLINEAR TF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4344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800" b="1">
                <a:solidFill>
                  <a:srgbClr val="D97706"/>
                </a:solidFill>
                <a:latin typeface="Trebuchet MS"/>
              </a:defRPr>
            </a:pPr>
            <a:r>
              <a:t>2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MIN 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800" b="1">
                <a:solidFill>
                  <a:srgbClr val="7C3AED"/>
                </a:solidFill>
                <a:latin typeface="Trebuchet MS"/>
              </a:defRPr>
            </a:pPr>
            <a:r>
              <a:t>0.95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MAX 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91672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TRAIN TEXT   →   FIT TF-IDF   →   TEST TEXT   →   TRANSFORM</a:t>
            </a:r>
          </a:p>
          <a:p>
            <a:br/>
            <a:pPr algn="ctr">
              <a:defRPr sz="2200" b="1">
                <a:solidFill>
                  <a:srgbClr val="059669"/>
                </a:solidFill>
                <a:latin typeface="Calibri"/>
              </a:defRPr>
            </a:pPr>
            <a:r>
              <a:t>Vocabulary fitted only on training data to prevent data leakage.</a:t>
            </a:r>
          </a:p>
          <a:p>
            <a:pPr algn="ctr">
              <a:defRPr sz="1900">
                <a:solidFill>
                  <a:srgbClr val="1E293B"/>
                </a:solidFill>
                <a:latin typeface="Calibri"/>
              </a:defRPr>
            </a:pPr>
            <a:r>
              <a:t>Unigrams + Bigrams capture compound legal collocations ('governing law', 'audit rights').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DATASET PARTITIONING STRATEGY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Stratified 80/20 Clause-Level Partition Preserving 41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1691640"/>
            <a:ext cx="4572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12,204 TOTAL CLAUSES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3904" y="2926080"/>
            <a:ext cx="457200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80 / 20 STRATIFIED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86200"/>
            <a:ext cx="43891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4400" b="1">
                <a:solidFill>
                  <a:srgbClr val="1E3A8A"/>
                </a:solidFill>
                <a:latin typeface="Trebuchet MS"/>
              </a:defRPr>
            </a:pPr>
            <a:r>
              <a:t>9,763</a:t>
            </a:r>
          </a:p>
          <a:p>
            <a:pPr algn="ctr"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TRAIN SAMPLES (80%)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3886200"/>
            <a:ext cx="4389120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4400" b="1">
                <a:solidFill>
                  <a:srgbClr val="059669"/>
                </a:solidFill>
                <a:latin typeface="Trebuchet MS"/>
              </a:defRPr>
            </a:pPr>
            <a:r>
              <a:t>2,441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TEST SAMPLES (20%)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  <a:latin typeface="Calibri"/>
              </a:defRPr>
            </a:pPr>
            <a:r>
              <a:t>41 classes preserved  •  random_state = 42  •  Clause-level split — NOT contract-level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FOUR MACHINE LEARNING MODELS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Candidate Architectures for High-Dimensional Sparse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LOGISTIC REGRESSION</a:t>
            </a:r>
          </a:p>
          <a:p>
            <a:br/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Linear classifier</a:t>
            </a:r>
          </a:p>
          <a:p>
            <a:br/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t>Softmax decision surface with L2 regularization.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LINEAR SVM</a:t>
            </a:r>
          </a:p>
          <a:p>
            <a:br/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Maximum-margin classifier</a:t>
            </a:r>
          </a:p>
          <a:p>
            <a:br/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t>Separating hyperplane optimized for sparse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NAIVE BAYES</a:t>
            </a:r>
          </a:p>
          <a:p>
            <a:br/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Probabilistic baseline</a:t>
            </a:r>
          </a:p>
          <a:p>
            <a:br/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t>Fast generative word frequency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RANDOM FOREST</a:t>
            </a:r>
          </a:p>
          <a:p>
            <a:br/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Tree ensemble</a:t>
            </a:r>
          </a:p>
          <a:p>
            <a:br/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t>Decision tree ensemble evaluating non-linear bagging.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Same TF-IDF Features   •   Same Training Set   •   Same Held-Out Test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TRAINING &amp; HYPERPARAMETER TUNING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Systematic Cross-Validation Results from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776472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BEST PARAMETER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GridSearchCV (5-Fold)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alpha = 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RandomizedSearchCV (3-Fold)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trees, max_depth = 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GridSearchCV (3-Fold)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=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L2 Regularization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= 1.0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Trebuchet MS"/>
              </a:defRPr>
            </a:pPr>
            <a:r>
              <a:t>Optimization Metric: Macro-F1 (Balances evaluation across all 41 categories)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IMPLEMENTATION CODE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Verified Pipeline Logic from Repository (src/train_baseline.py)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1672" cy="3703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000">
                <a:solidFill>
                  <a:srgbClr val="F1F5F9"/>
                </a:solidFill>
                <a:latin typeface="Consolas"/>
              </a:defRPr>
            </a:pPr>
            <a:r>
              <a:t># TF-IDF Feature Extraction</a:t>
            </a:r>
            <a:br/>
            <a:r>
              <a:t>vectorizer = TfidfVectorizer(max_features=10000, ngram_range=(1, 2))</a:t>
            </a:r>
            <a:br/>
            <a:r>
              <a:t>X_train = vectorizer.fit_transform(X_train_text)</a:t>
            </a:r>
            <a:br/>
            <a:r>
              <a:t>X_test  = vectorizer.transform(X_test_text)</a:t>
            </a:r>
            <a:br/>
            <a:br/>
            <a:r>
              <a:t># Model Training with Balanced Weights</a:t>
            </a:r>
            <a:br/>
            <a:r>
              <a:t>clf = LogisticRegression(max_iter=1000, class_weight="balanced")</a:t>
            </a:r>
            <a:br/>
            <a:r>
              <a:t>clf.fit(X_train, y_train)</a:t>
            </a:r>
            <a:br/>
            <a:br/>
            <a:r>
              <a:t># Inference on Held-Out Test Set (N=2,441)</a:t>
            </a:r>
            <a:br/>
            <a:r>
              <a:t>y_pred = clf.predict(X_test)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32120"/>
            <a:ext cx="11091672" cy="685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DATA   →   TF-IDF   →   MODEL   →  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EVALUATION RESULTS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Held-Out Test Set Benchmark (N = 2,441, 41 Classes)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2011680"/>
                <a:gridCol w="2011680"/>
                <a:gridCol w="2011680"/>
                <a:gridCol w="2011680"/>
              </a:tblGrid>
              <a:tr h="676656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71.90%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64.81%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66.22%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64.74%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63.23%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66.65%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69.27%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60.24%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58.67%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58.53%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65.46%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55.27%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59.04%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56.34%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TEST SET: 2,441 samples   |   41 classes   |   Primary Metric: Macro-F1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COMPARISON VISUAL BENCHMARK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Accuracy vs. Macro-F1 across All Four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77724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498079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691640"/>
            <a:ext cx="313639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KEY TAKEAWAYS</a:t>
            </a:r>
          </a:p>
          <a:p>
            <a:br/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SVM:</a:t>
            </a:r>
            <a:br/>
            <a:r>
              <a:t>Highest Accuracy</a:t>
            </a:r>
            <a:br/>
            <a:r>
              <a:t>72.63%</a:t>
            </a:r>
          </a:p>
          <a:p>
            <a:br/>
            <a:pPr>
              <a:defRPr sz="2100" b="1">
                <a:solidFill>
                  <a:srgbClr val="059669"/>
                </a:solidFill>
                <a:latin typeface="Calibri"/>
              </a:defRPr>
            </a:pPr>
            <a:r>
              <a:t>Logistic Regression:</a:t>
            </a:r>
            <a:br/>
            <a:r>
              <a:t>Highest Macro-F1</a:t>
            </a:r>
            <a:br/>
            <a:r>
              <a:t>64.74%</a:t>
            </a:r>
          </a:p>
          <a:p>
            <a:br/>
            <a:pPr>
              <a:defRPr sz="2000">
                <a:solidFill>
                  <a:srgbClr val="64748B"/>
                </a:solidFill>
                <a:latin typeface="Calibri"/>
              </a:defRPr>
            </a:pPr>
            <a:r>
              <a:t>NB / RF:</a:t>
            </a:r>
            <a:br/>
            <a:r>
              <a:t>Lower Macro-F1</a:t>
            </a:r>
            <a:br/>
            <a:r>
              <a:t>(58.53% / 56.34%)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SELECTION: WHY LOGISTIC REGRESSION?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Selection Decision Based on Primary Evaluation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LINEAR SVM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Accuracy:   72.63%  (Highest Accuracy)</a:t>
            </a:r>
          </a:p>
          <a:p>
            <a:pPr>
              <a:defRPr sz="2200">
                <a:solidFill>
                  <a:srgbClr val="64748B"/>
                </a:solidFill>
                <a:latin typeface="Calibri"/>
              </a:defRPr>
            </a:pPr>
            <a:r>
              <a:t>Macro-F1:  64.18%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t>LOGISTIC REGRESSION</a:t>
            </a:r>
          </a:p>
          <a:p>
            <a:br/>
            <a:pPr>
              <a:defRPr sz="2200">
                <a:solidFill>
                  <a:srgbClr val="64748B"/>
                </a:solidFill>
                <a:latin typeface="Calibri"/>
              </a:defRPr>
            </a:pPr>
            <a:r>
              <a:t>Accuracy:   71.90%</a:t>
            </a:r>
          </a:p>
          <a:p>
            <a:pPr>
              <a:defRPr sz="2200" b="1">
                <a:solidFill>
                  <a:srgbClr val="059669"/>
                </a:solidFill>
                <a:latin typeface="Calibri"/>
              </a:defRPr>
            </a:pPr>
            <a:r>
              <a:t>Macro-F1:  64.74%  (Highest Macro-F1)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91672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2563EB"/>
                </a:solidFill>
                <a:latin typeface="Trebuchet MS"/>
              </a:defRPr>
            </a:pPr>
            <a:r>
              <a:t>PRIMARY METRIC: MACRO-F1</a:t>
            </a:r>
          </a:p>
          <a:p>
            <a:pPr algn="ctr">
              <a:defRPr sz="3200" b="1">
                <a:solidFill>
                  <a:srgbClr val="1E3A8A"/>
                </a:solidFill>
                <a:latin typeface="Trebuchet MS"/>
              </a:defRPr>
            </a:pPr>
            <a:r>
              <a:t>SELECTED MODEL: LOGISTIC REGRESSION</a:t>
            </a:r>
          </a:p>
          <a:p>
            <a:pPr algn="ctr">
              <a:defRPr sz="2000">
                <a:solidFill>
                  <a:srgbClr val="1E293B"/>
                </a:solidFill>
                <a:latin typeface="Calibri"/>
              </a:defRPr>
            </a:pPr>
            <a:r>
              <a:t>Macro-F1 gives equal importance to all 41 classes regardless of sample frequency.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CLASS-LEVEL PERFORMANCE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Representative Category Metrics from Logistic Regression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352"/>
                <a:gridCol w="2377440"/>
                <a:gridCol w="2377440"/>
                <a:gridCol w="2377440"/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Governing Law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98.34%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97.19%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96.80%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96.99%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 On Liability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79.46%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65.93%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72.06%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Affiliate License-Licensee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39.13%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Affiliate License-Licensor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11.11%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21.43%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14.63%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49240"/>
            <a:ext cx="1109167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  <a:latin typeface="Calibri"/>
              </a:defRPr>
            </a:pPr>
            <a:r>
              <a:t>Performance varies significantly across categories due to class imbalance and vocabulary overlap.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CONFUSION MATRIX ANALYSIS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41 x 41 Error Analysis for Logistic Regression (Test N = 2,441)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7498079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istic_regression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22376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691640"/>
            <a:ext cx="341071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41 x 41 MATRIX</a:t>
            </a:r>
          </a:p>
          <a:p>
            <a:br/>
            <a:pPr>
              <a:defRPr sz="2100">
                <a:solidFill>
                  <a:srgbClr val="0F172A"/>
                </a:solidFill>
                <a:latin typeface="Calibri"/>
              </a:defRPr>
            </a:pPr>
            <a:r>
              <a:t>• Rows = True Labels</a:t>
            </a:r>
            <a:br/>
            <a:r>
              <a:t>• Columns = Predicted</a:t>
            </a:r>
          </a:p>
          <a:p>
            <a:br/>
            <a:pPr>
              <a:defRPr sz="2100" b="1">
                <a:solidFill>
                  <a:srgbClr val="059669"/>
                </a:solidFill>
                <a:latin typeface="Calibri"/>
              </a:defRPr>
            </a:pPr>
            <a:r>
              <a:t>• Diagonal = Correct</a:t>
            </a:r>
            <a:br/>
            <a:r>
              <a:t>• Off-diagonal =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709160"/>
            <a:ext cx="3136392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45309"/>
                </a:solidFill>
                <a:latin typeface="Calibri"/>
              </a:defRPr>
            </a:pPr>
            <a:r>
              <a:t>Most errors occur between classes with similar legal wording (e.g., Licensee vs. Licensor).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RETRIEVAL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SEARCH PROTOTYPE &amp; KEY FINDINGS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TF-IDF Semantic Retrieval Results and Core ML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SEARCH PROTOTYPE</a:t>
            </a:r>
          </a:p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t>TF-IDF + Cosine Similarity</a:t>
            </a:r>
            <a:br/>
          </a:p>
          <a:p>
            <a:pPr>
              <a:defRPr sz="2400" b="1">
                <a:solidFill>
                  <a:srgbClr val="059669"/>
                </a:solidFill>
                <a:latin typeface="Calibri"/>
              </a:defRPr>
            </a:pPr>
            <a:r>
              <a:t>• Precision@1 = 80%</a:t>
            </a:r>
            <a:br/>
            <a:r>
              <a:t>• Precision@5 = 88%</a:t>
            </a:r>
            <a:br/>
            <a:r>
              <a:t>• Precision@10 = 86%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4937760" cy="1234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Trebuchet MS"/>
              </a:defRPr>
            </a:pPr>
            <a:r>
              <a:t>BIGRAM ABLATION:</a:t>
            </a:r>
            <a:br/>
            <a:r>
              <a:t>Precision@1 drops 80% → 60% without bigrams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KEY FINDINGS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✓  Linear models performed better on sparse TF-IDF features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✓  Macro-F1 is essential for the imbalanced dataset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✓  Similar legal vocabulary causes classification errors</a:t>
            </a:r>
          </a:p>
          <a:p>
            <a:br/>
            <a:pPr>
              <a:defRPr sz="2200">
                <a:solidFill>
                  <a:srgbClr val="1E293B"/>
                </a:solidFill>
                <a:latin typeface="Calibri"/>
              </a:defRPr>
            </a:pPr>
            <a:r>
              <a:t>✓  Bigrams are critical for capturing legal collocations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STATUS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CURRENT STATUS &amp; NEXT STEPS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Interim Completed Scope vs. Upcoming Final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t>COMPLETED ✓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Dataset &amp; EDA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Preprocessing pipeline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TF-IDF feature space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4 ML models trained &amp; tuned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Model evaluation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Logistic Regression selected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Confusion matrix analysis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Search prototype + ablation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FastAPI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4434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NEXT PHASE →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 Supabase integration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 React.js user interface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 End-to-end integration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 Cloud deployment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 Final validation &amp; testing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defRPr sz="2800" b="1">
                <a:solidFill>
                  <a:srgbClr val="93C5FD"/>
                </a:solidFill>
                <a:latin typeface="Trebuchet MS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2304" y="3931920"/>
            <a:ext cx="73152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ClauseIQ</a:t>
            </a:r>
          </a:p>
          <a:p>
            <a:pPr algn="ctr">
              <a:defRPr sz="2000">
                <a:solidFill>
                  <a:srgbClr val="CBD5E1"/>
                </a:solidFill>
                <a:latin typeface="Calibri"/>
              </a:defRPr>
            </a:pPr>
            <a:r>
              <a:t>Machine Learning-Based Contract Clause Classification</a:t>
            </a:r>
            <a:br/>
            <a:r>
              <a:t>and Intelligent Search System</a:t>
            </a:r>
          </a:p>
          <a:p>
            <a:pPr algn="ctr">
              <a:defRPr sz="1800">
                <a:solidFill>
                  <a:srgbClr val="94A3B8"/>
                </a:solidFill>
                <a:latin typeface="Calibri"/>
              </a:defRPr>
            </a:pPr>
            <a:r>
              <a:t>Mohammed Farhan K  |  MAC25MCA-2042  |  MACE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