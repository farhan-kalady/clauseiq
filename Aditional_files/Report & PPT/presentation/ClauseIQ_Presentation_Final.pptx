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I am Mohammed Farhan K, a student of the MCA Department at Mar Athanasius College of Engineering. Today, I am presenting the first stage of my Mini Project titled 'ClauseIQ -- Machine Learning-Based Contract Clause Classification and Intelligent Search System'. This project is supervised by my guide, Dr. Sonia Abraham. This presentation will cover the problem statement, objectives, literature review, dataset analysis, exploratory data analysis, preprocessing, chosen machine learning algorithms, flowcharts, pseudocodes, system architecture, and our proposed GUI design.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core problem. Commercial organizations deal with a massive volume of active legal contracts. Manual analysis of these documents is slow and prone to cognitive errors, potentially exposing companies to compliance risks. Standard keyword search is literal and doesn't capture semantics. A query for 'Liability Limit' will miss clauses that refer to 'aggregate exposure limit' or 'indemnity cap'. Contracts also lack a standardized structure. This creates high operational costs and delays. ClauseIQ addresses this by automating clause classification and similarity-based retrieval.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has six key engineering objectives: First, parse and extract text from PDFs. Second, segment unstructured text into clauses. Third, classify clauses automatically into 41 predefined CUAD categories. Fourth, implement a similarity-based search engine. Fifth, evaluate and compare four classical ML algorithms. Sixth, build a clean dashboard interface. We emphasize lightweight, deterministic local processing to preserve privacy, eliminate hallucination risks, and keep the application computationally lightweight, fitting within the MCA Mini Project scope.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literature review covers three recent IEEE papers. Quevedo et al. (2024) provide a mapping study that validates contract clause classification as a core Legal NLP task. Siino et al. (2025) review LLM applications in law, highlighting risks like hallucinations, privacy, and compute costs, which justifies our choice of deterministic classical ML. Kutbi (2023) shows that replacing named entities with generic tokens in preprocessing increases classification accuracy and preserves privacy. The research gap is the lack of lightweight, explainable, local systems, which ClauseIQ addresses.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dataset analysis, we utilize the Contract Understanding Atticus Dataset (CUAD), which is a public, expert-annotated legal NLP benchmark. It consists of 510 real commercial contracts from the SEC EDGAR database, with over 13,000 manually annotated clause spans across 41 categories. We flattened this QA dataset into a structured CSV, yielding 13,823 clauses. The pie chart on the right displays the class distribution. We notice a strong imbalance: the largest class 'Parties' accounts for 18.5% of the dataset, which requires class-balancing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Exploratory Data Analysis, we profile the dataset using Pandas. The dataset contains 13,823 rows and 5 columns. We used shape to verify size, info() to confirm that there are zero missing values, and describe() to analyze clause lengths. The mean word count is 40.7, but the median is 31, with a long tail up to 479 words. This right-skewed distribution justifies length-normalized TF-IDF vectorization. We used value_counts() to profile the 41 categories, showing a severe class imbalance ranging from 2,554 'Parties' samples down to 27 'Price Restrictions' samples, which necessitates a stratified train-test split.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outlines our data preprocessing steps. The raw text goes through text cleaning (case normalisation and noise stripping), short-span filtering, tokenization, and lemmatization using spaCy. We then convert the text to numerical features using TF-IDF. We extract unigrams and bigrams, cap the vocabulary at 5,000 terms, and use L2 normalization to handle variable clause lengths. Finally, we split the corpus into an 80% training set and a 20% test set. We use a stratified split to ensure that all 41 categories, even the rarest ones, are represented proportionally in both sets.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results of our data visualization analysis. On the left, the horizontal bar chart illustrates the top 10 categories, highlighting the strong class imbalance, with 'Parties' being the dominant class. On the right, the Word Cloud shows the most common terms in the contracts. We see high frequencies of boilerplate legal terms like 'shall', 'agreement', 'party', 'confidential', and 'liability'. This visualizes why unigrams alone are insufficient and bigrams are needed to capture category-specific context. These charts were generated using Matplotlib, Seaborn, and the WordCloud libraries.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select four classical machine learning algorithms. Multinomial Naive Bayes serves as our simple baseline. Linear SVM is chosen because text classification problems are often linearly separable in high-dimensional spaces, and SVMs handle sparse TF-IDF vectors exceptionally well. Logistic Regression provides class probability distributions, which is useful for indicating prediction confidence to the user. Random Forest is selected as an ensemble method to capture non-linear interactions between terms.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grid highlights the trade-offs of each model. While Random Forest is robust, it has a larger memory footprint and slower training speeds. Linear SVM and Logistic Regression are computationally efficient and perform exceptionally well on sparse, high-dimensional TF-IDF matrices. Comparing multiple classifiers allows us to empirically determine the optimal balance of accuracy, memory footprint, and inference speed, ensuring that ClauseIQ remains explainable and lightweight for local desktop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displays the system flowchart. The process starts when the user uploads a contract. PyMuPDF extracts the raw text. Next, the text is segmented into distinct clauses and cleaned. We transform the cleaned text into numerical features using TF-IDF. This vectors are sent to two modules: the ML Classifier (predicts the category and outputs confidence scores) and the Search Engine (compares queries using Cosine Similarity and displays ranked results).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pseudocode details the algorithmic flow. When a PDF is uploaded, PyMuPDF extracts the raw text. The text is segmented into distinct clauses, and short paragraphs are filtered out. We then extract features using TF-IDF. The classifier predicts the category and calculates the confidence score. Finally, if the user submits a search query, it is vectorized and ranked against the corpus using Cosine Similarity, displaying the results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pipeline displays our linear component workflow. The user interacts with the React frontend to upload PDFs. The frontend sends requests to our Flask backend via RESTful APIs. The backend processes the document using PyMuPDF, converts the clauses to TF-IDF vectors, performs machine learning predictions, and executes search rankings. The results are stored in SQLite and returned as JSON data to render in the user interface.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architecture is structured into three layers: First, the Client Layer built with React.js, which manages user interaction. Second, the Logic Layer implemented as a Flask API in Python, which handles PDF parsing, text preprocessing, model prediction, and cosine-similarity calculations. Third, the Data Layer utilizing SQLite to store extracted text segments, prediction metadata, and confidence scores. This self-contained structure allows offline, local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displays a visual mockup of our proposed user interface, built directly with shapes. The layout consists of a dark blue top header bar, a slate blue left sidebar for navigation, and a main area split into cards. The left card contains a drag-and-drop file upload zone. The right card contains the similarity search engine bar. At the bottom, the results table displays the extracted clause texts, predicted categories, confidence scores, and action buttons.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details the functionality of the GUI components: The Upload PDF button ingests documents. The Search Box parses natural language queries and runs Cosine Similarity to surface relevant clauses. The Clause Viewer displays text snippets with their predicted categories. The Category Filter helps legal professionals filter the table to specific topics, and the Prediction Result Card displays the predicted labels and confidence scores, flagging low-confidence values.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our system stack: Python is the core language. We use Flask for the backend, HTML, CSS, and JS for frontend layouts, and SQLite for self-contained relational storage. For machine learning, we use Scikit-learn to handle training, classification, and TF-IDF extraction, spaCy and NLTK for preprocessing, and PyMuPDF to extract text from PDFs. Matplotlib, Seaborn, and WordCloud are used to generate visual summaries.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showcases the expected system output. When a contract PDF is uploaded, the system segments the text, predicts its legal category, and displays the classifier's confidence score. If the user searches for a query like 'liability limit', the system matches clauses like 'aggregate liability exceed $50,000' using Cosine Similarity, even though they don't share identical literal keywords.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we have defined several enhancements for our fourth-semester main project. First, we will evaluate lightweight LLMs and deep learning models (e.g. Legal-BERT) to handle complex zero-shot classification tasks. Second, we plan to implement Retrieval-Augmented Generation (RAG) to allow conversational queries over the clause database. Third, we will extend the system with multilingual support, automatic summarization, and cloud deployment on AWS.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time and attention. I am now open to your questions, feedback, and suggestions.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544"/>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3C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0" y="0"/>
            <a:ext cx="10" cy="1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18288" cy="914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0" y="0"/>
            <a:ext cx="10" cy="1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45920" y="2011680"/>
            <a:ext cx="18288" cy="914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0" y="0"/>
            <a:ext cx="10" cy="1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45920" y="2011680"/>
            <a:ext cx="18288" cy="914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0" y="0"/>
            <a:ext cx="10" cy="1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26080"/>
            <a:ext cx="18288" cy="914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0" y="0"/>
            <a:ext cx="10" cy="1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71600" y="3840480"/>
            <a:ext cx="18288" cy="914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0" y="0"/>
            <a:ext cx="10" cy="1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71600" y="3840480"/>
            <a:ext cx="18288" cy="914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0" y="0"/>
            <a:ext cx="10" cy="1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3200400"/>
            <a:ext cx="18288" cy="914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0" y="0"/>
            <a:ext cx="10" cy="1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 y="5029200"/>
            <a:ext cx="18288" cy="914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0" y="0"/>
            <a:ext cx="10" cy="1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11680" y="5303520"/>
            <a:ext cx="18288" cy="914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1520" y="1371600"/>
            <a:ext cx="137160" cy="137160"/>
          </a:xfrm>
          <a:prstGeom prst="ellipse">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645920" y="2011680"/>
            <a:ext cx="137160" cy="137160"/>
          </a:xfrm>
          <a:prstGeom prst="ellipse">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48640" y="2926080"/>
            <a:ext cx="137160" cy="137160"/>
          </a:xfrm>
          <a:prstGeom prst="ellipse">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371600" y="3840480"/>
            <a:ext cx="137160" cy="137160"/>
          </a:xfrm>
          <a:prstGeom prst="ellipse">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286000" y="3200400"/>
            <a:ext cx="137160" cy="137160"/>
          </a:xfrm>
          <a:prstGeom prst="ellipse">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60" y="5029200"/>
            <a:ext cx="137160" cy="137160"/>
          </a:xfrm>
          <a:prstGeom prst="ellipse">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011680" y="5303520"/>
            <a:ext cx="137160" cy="137160"/>
          </a:xfrm>
          <a:prstGeom prst="ellipse">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926080" y="4389120"/>
            <a:ext cx="137160" cy="137160"/>
          </a:xfrm>
          <a:prstGeom prst="ellipse">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0" y="1371600"/>
            <a:ext cx="8412480" cy="2103120"/>
          </a:xfrm>
          <a:prstGeom prst="rect">
            <a:avLst/>
          </a:prstGeom>
          <a:noFill/>
        </p:spPr>
        <p:txBody>
          <a:bodyPr wrap="square" lIns="0" tIns="0" bIns="0" rIns="0">
            <a:spAutoFit/>
          </a:bodyPr>
          <a:lstStyle/>
          <a:p>
            <a:pPr algn="l">
              <a:defRPr sz="5400" b="1">
                <a:solidFill>
                  <a:srgbClr val="1EA0F0"/>
                </a:solidFill>
                <a:latin typeface="Trebuchet MS"/>
              </a:defRPr>
            </a:pPr>
            <a:r>
              <a:t>ClauseIQ</a:t>
            </a:r>
          </a:p>
          <a:p>
            <a:pPr>
              <a:spcBef>
                <a:spcPts val="800"/>
              </a:spcBef>
              <a:defRPr sz="2000" b="1">
                <a:solidFill>
                  <a:srgbClr val="FFFFFF"/>
                </a:solidFill>
                <a:latin typeface="Calibri"/>
              </a:defRPr>
            </a:pPr>
            <a:r>
              <a:t>Machine Learning-Based Contract Clause Classification</a:t>
            </a:r>
            <a:br/>
            <a:r>
              <a:t>&amp; Intelligent Search System</a:t>
            </a:r>
          </a:p>
        </p:txBody>
      </p:sp>
      <p:sp>
        <p:nvSpPr>
          <p:cNvPr id="30" name="TextBox 29"/>
          <p:cNvSpPr txBox="1"/>
          <p:nvPr/>
        </p:nvSpPr>
        <p:spPr>
          <a:xfrm>
            <a:off x="2926080" y="3657600"/>
            <a:ext cx="8412480" cy="2377440"/>
          </a:xfrm>
          <a:prstGeom prst="rect">
            <a:avLst/>
          </a:prstGeom>
          <a:noFill/>
        </p:spPr>
        <p:txBody>
          <a:bodyPr wrap="square" lIns="0" tIns="0" bIns="0" rIns="0">
            <a:spAutoFit/>
          </a:bodyPr>
          <a:lstStyle/>
          <a:p>
            <a:pPr>
              <a:spcAft>
                <a:spcPts val="200"/>
              </a:spcAft>
              <a:defRPr sz="1100" b="1">
                <a:solidFill>
                  <a:srgbClr val="1EA0F0"/>
                </a:solidFill>
              </a:defRPr>
            </a:pPr>
            <a:r>
              <a:t>DEVELOPED BY:</a:t>
            </a:r>
          </a:p>
          <a:p>
            <a:pPr>
              <a:spcAft>
                <a:spcPts val="1200"/>
              </a:spcAft>
              <a:defRPr sz="1300">
                <a:solidFill>
                  <a:srgbClr val="FFFFFF"/>
                </a:solidFill>
              </a:defRPr>
            </a:pPr>
            <a:r>
              <a:t>Mohammed Farhan K</a:t>
            </a:r>
            <a:br/>
            <a:r>
              <a:t>Register No: MAC25MCA-2042</a:t>
            </a:r>
            <a:br/>
            <a:r>
              <a:t>Department of Computer Applications</a:t>
            </a:r>
          </a:p>
          <a:p>
            <a:pPr>
              <a:spcAft>
                <a:spcPts val="200"/>
              </a:spcAft>
              <a:defRPr sz="1100" b="1">
                <a:solidFill>
                  <a:srgbClr val="1EA0F0"/>
                </a:solidFill>
              </a:defRPr>
            </a:pPr>
            <a:r>
              <a:t>PROJECT GUIDE:</a:t>
            </a:r>
          </a:p>
          <a:p>
            <a:pPr>
              <a:spcAft>
                <a:spcPts val="1200"/>
              </a:spcAft>
              <a:defRPr sz="1300">
                <a:solidFill>
                  <a:srgbClr val="FFFFFF"/>
                </a:solidFill>
              </a:defRPr>
            </a:pPr>
            <a:r>
              <a:t>Dr. Sonia Abraham</a:t>
            </a:r>
            <a:br/>
            <a:r>
              <a:t>Associate Professor, Department of Computer Applications</a:t>
            </a:r>
          </a:p>
          <a:p>
            <a:pPr>
              <a:defRPr sz="1150" i="1">
                <a:solidFill>
                  <a:srgbClr val="F0F4F8"/>
                </a:solidFill>
              </a:defRPr>
            </a:pPr>
            <a:r>
              <a:t>Mar Athanasius College of Engineering, Kothamangalam |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2</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PROBLEM STATEMENT</a:t>
            </a:r>
          </a:p>
          <a:p>
            <a:pPr>
              <a:spcBef>
                <a:spcPts val="400"/>
              </a:spcBef>
              <a:defRPr sz="1300" i="1">
                <a:solidFill>
                  <a:srgbClr val="3C5A82"/>
                </a:solidFill>
                <a:latin typeface="Calibri"/>
              </a:defRPr>
            </a:pPr>
            <a:r>
              <a:t>Why Manual Legal Document Analysis is Insufficient</a:t>
            </a:r>
          </a:p>
        </p:txBody>
      </p:sp>
      <p:sp>
        <p:nvSpPr>
          <p:cNvPr id="6" name="Rounded Rectangle 5"/>
          <p:cNvSpPr/>
          <p:nvPr/>
        </p:nvSpPr>
        <p:spPr>
          <a:xfrm>
            <a:off x="731520" y="1645920"/>
            <a:ext cx="3383280" cy="393192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3108960" cy="365760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1. Volume &amp; Fatigue</a:t>
            </a:r>
          </a:p>
          <a:p>
            <a:pPr>
              <a:spcAft>
                <a:spcPts val="400"/>
              </a:spcAft>
              <a:defRPr sz="1100">
                <a:solidFill>
                  <a:srgbClr val="212529"/>
                </a:solidFill>
                <a:latin typeface="Calibri"/>
              </a:defRPr>
            </a:pPr>
            <a:r>
              <a:t>• Organizations handle thousands of active commercial contracts.</a:t>
            </a:r>
          </a:p>
          <a:p>
            <a:pPr>
              <a:spcAft>
                <a:spcPts val="400"/>
              </a:spcAft>
              <a:defRPr sz="1100">
                <a:solidFill>
                  <a:srgbClr val="212529"/>
                </a:solidFill>
                <a:latin typeface="Calibri"/>
              </a:defRPr>
            </a:pPr>
            <a:r>
              <a:t>• Reviewing agreements manually is slow, repetitive, and mentally draining.</a:t>
            </a:r>
          </a:p>
          <a:p>
            <a:pPr>
              <a:spcAft>
                <a:spcPts val="400"/>
              </a:spcAft>
              <a:defRPr sz="1100">
                <a:solidFill>
                  <a:srgbClr val="212529"/>
                </a:solidFill>
                <a:latin typeface="Calibri"/>
              </a:defRPr>
            </a:pPr>
            <a:r>
              <a:t>• Fatigue leads to critical omissions, such as missed obligations or liabilities.</a:t>
            </a:r>
          </a:p>
        </p:txBody>
      </p:sp>
      <p:sp>
        <p:nvSpPr>
          <p:cNvPr id="8" name="Rounded Rectangle 7"/>
          <p:cNvSpPr/>
          <p:nvPr/>
        </p:nvSpPr>
        <p:spPr>
          <a:xfrm>
            <a:off x="4389120" y="1645920"/>
            <a:ext cx="3383280" cy="393192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83080"/>
            <a:ext cx="3108960" cy="365760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2. Keyword Search Limitations</a:t>
            </a:r>
          </a:p>
          <a:p>
            <a:pPr>
              <a:spcAft>
                <a:spcPts val="400"/>
              </a:spcAft>
              <a:defRPr sz="1100">
                <a:solidFill>
                  <a:srgbClr val="212529"/>
                </a:solidFill>
                <a:latin typeface="Calibri"/>
              </a:defRPr>
            </a:pPr>
            <a:r>
              <a:t>• Generic text searches (Ctrl+F) rely on exact literal character matches.</a:t>
            </a:r>
          </a:p>
          <a:p>
            <a:pPr>
              <a:spcAft>
                <a:spcPts val="400"/>
              </a:spcAft>
              <a:defRPr sz="1100">
                <a:solidFill>
                  <a:srgbClr val="212529"/>
                </a:solidFill>
                <a:latin typeface="Calibri"/>
              </a:defRPr>
            </a:pPr>
            <a:r>
              <a:t>• Legal clauses use diverse syntactic phrasing to convey the same legal concept.</a:t>
            </a:r>
          </a:p>
          <a:p>
            <a:pPr>
              <a:spcAft>
                <a:spcPts val="400"/>
              </a:spcAft>
              <a:defRPr sz="1100">
                <a:solidFill>
                  <a:srgbClr val="212529"/>
                </a:solidFill>
                <a:latin typeface="Calibri"/>
              </a:defRPr>
            </a:pPr>
            <a:r>
              <a:t>• A search for 'Liability Limit' fails to locate 'indemnification caps' or 'max exposure'.</a:t>
            </a:r>
          </a:p>
        </p:txBody>
      </p:sp>
      <p:sp>
        <p:nvSpPr>
          <p:cNvPr id="10" name="Rounded Rectangle 9"/>
          <p:cNvSpPr/>
          <p:nvPr/>
        </p:nvSpPr>
        <p:spPr>
          <a:xfrm>
            <a:off x="8046720" y="1645920"/>
            <a:ext cx="3383280" cy="393192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1783080"/>
            <a:ext cx="3108960" cy="365760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3. Structural Variation</a:t>
            </a:r>
          </a:p>
          <a:p>
            <a:pPr>
              <a:spcAft>
                <a:spcPts val="400"/>
              </a:spcAft>
              <a:defRPr sz="1100">
                <a:solidFill>
                  <a:srgbClr val="212529"/>
                </a:solidFill>
                <a:latin typeface="Calibri"/>
              </a:defRPr>
            </a:pPr>
            <a:r>
              <a:t>• Legal agreements are unstructured and lack a standardized layout.</a:t>
            </a:r>
          </a:p>
          <a:p>
            <a:pPr>
              <a:spcAft>
                <a:spcPts val="400"/>
              </a:spcAft>
              <a:defRPr sz="1100">
                <a:solidFill>
                  <a:srgbClr val="212529"/>
                </a:solidFill>
                <a:latin typeface="Calibri"/>
              </a:defRPr>
            </a:pPr>
            <a:r>
              <a:t>• Critical provisions are embedded inside covenants, appendices, or split sections.</a:t>
            </a:r>
          </a:p>
          <a:p>
            <a:pPr>
              <a:spcAft>
                <a:spcPts val="400"/>
              </a:spcAft>
              <a:defRPr sz="1100">
                <a:solidFill>
                  <a:srgbClr val="212529"/>
                </a:solidFill>
                <a:latin typeface="Calibri"/>
              </a:defRPr>
            </a:pPr>
            <a:r>
              <a:t>• Result: Due diligence reviews create business bottlenecks and cost massive billable hours.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3</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PROJECT OBJECTIVES</a:t>
            </a:r>
          </a:p>
          <a:p>
            <a:pPr>
              <a:spcBef>
                <a:spcPts val="400"/>
              </a:spcBef>
              <a:defRPr sz="1300" i="1">
                <a:solidFill>
                  <a:srgbClr val="3C5A82"/>
                </a:solidFill>
                <a:latin typeface="Calibri"/>
              </a:defRPr>
            </a:pPr>
            <a:r>
              <a:t>Main Deliverables and Engineering Targets</a:t>
            </a:r>
          </a:p>
        </p:txBody>
      </p:sp>
      <p:sp>
        <p:nvSpPr>
          <p:cNvPr id="6" name="Rounded Rectangle 5"/>
          <p:cNvSpPr/>
          <p:nvPr/>
        </p:nvSpPr>
        <p:spPr>
          <a:xfrm>
            <a:off x="731520" y="1645920"/>
            <a:ext cx="512064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4846320" cy="3840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Key Engineering Objectives</a:t>
            </a:r>
          </a:p>
          <a:p>
            <a:pPr>
              <a:spcAft>
                <a:spcPts val="400"/>
              </a:spcAft>
              <a:defRPr sz="1100">
                <a:solidFill>
                  <a:srgbClr val="212529"/>
                </a:solidFill>
                <a:latin typeface="Calibri"/>
              </a:defRPr>
            </a:pPr>
            <a:r>
              <a:t>• PDF Text Extraction: Automatically parse and extract text from uploaded contract PDFs using PyMuPDF.</a:t>
            </a:r>
          </a:p>
          <a:p>
            <a:pPr>
              <a:spcAft>
                <a:spcPts val="400"/>
              </a:spcAft>
              <a:defRPr sz="1100">
                <a:solidFill>
                  <a:srgbClr val="212529"/>
                </a:solidFill>
                <a:latin typeface="Calibri"/>
              </a:defRPr>
            </a:pPr>
            <a:r>
              <a:t>• Clause Segmentation: Split continuous, unstructured text documents into logical, bounded clause paragraphs.</a:t>
            </a:r>
          </a:p>
          <a:p>
            <a:pPr>
              <a:spcAft>
                <a:spcPts val="400"/>
              </a:spcAft>
              <a:defRPr sz="1100">
                <a:solidFill>
                  <a:srgbClr val="212529"/>
                </a:solidFill>
                <a:latin typeface="Calibri"/>
              </a:defRPr>
            </a:pPr>
            <a:r>
              <a:t>• Automated Categorization: Use classical machine learning classifiers to predict which of the 41 CUAD legal categories a clause belongs to.</a:t>
            </a:r>
          </a:p>
          <a:p>
            <a:pPr>
              <a:spcAft>
                <a:spcPts val="400"/>
              </a:spcAft>
              <a:defRPr sz="1100">
                <a:solidFill>
                  <a:srgbClr val="212529"/>
                </a:solidFill>
                <a:latin typeface="Calibri"/>
              </a:defRPr>
            </a:pPr>
            <a:r>
              <a:t>• Semantic Similarity Search: Vectorize search queries to rank and retrieve relevant clauses across the corpus using Cosine Similarity.</a:t>
            </a:r>
          </a:p>
          <a:p>
            <a:pPr>
              <a:spcAft>
                <a:spcPts val="400"/>
              </a:spcAft>
              <a:defRPr sz="1100">
                <a:solidFill>
                  <a:srgbClr val="212529"/>
                </a:solidFill>
                <a:latin typeface="Calibri"/>
              </a:defRPr>
            </a:pPr>
            <a:r>
              <a:t>• Classifier Comparison: Empirically evaluate and compare four ML models (Naive Bayes, SVM, Logistic Regression, Random Forest).</a:t>
            </a:r>
          </a:p>
          <a:p>
            <a:pPr>
              <a:spcAft>
                <a:spcPts val="400"/>
              </a:spcAft>
              <a:defRPr sz="1100">
                <a:solidFill>
                  <a:srgbClr val="212529"/>
                </a:solidFill>
                <a:latin typeface="Calibri"/>
              </a:defRPr>
            </a:pPr>
            <a:r>
              <a:t>• Professional Interface: Expose the system through a web interface with filters, viewer, and confidence scores.</a:t>
            </a:r>
          </a:p>
        </p:txBody>
      </p:sp>
      <p:sp>
        <p:nvSpPr>
          <p:cNvPr id="8" name="Rounded Rectangle 7"/>
          <p:cNvSpPr/>
          <p:nvPr/>
        </p:nvSpPr>
        <p:spPr>
          <a:xfrm>
            <a:off x="6217920" y="1645920"/>
            <a:ext cx="5120640" cy="4114800"/>
          </a:xfrm>
          <a:prstGeom prst="roundRect">
            <a:avLst/>
          </a:prstGeom>
          <a:solidFill>
            <a:srgbClr val="E6F0FF"/>
          </a:solidFill>
          <a:ln w="12700">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783080"/>
            <a:ext cx="4846320" cy="3840480"/>
          </a:xfrm>
          <a:prstGeom prst="rect">
            <a:avLst/>
          </a:prstGeom>
          <a:noFill/>
        </p:spPr>
        <p:txBody>
          <a:bodyPr wrap="square" lIns="0" tIns="0" bIns="0" rIns="0">
            <a:spAutoFit/>
          </a:bodyPr>
          <a:lstStyle/>
          <a:p>
            <a:pPr>
              <a:spcAft>
                <a:spcPts val="600"/>
              </a:spcAft>
              <a:defRPr sz="1400" b="1">
                <a:solidFill>
                  <a:srgbClr val="1EA0F0"/>
                </a:solidFill>
                <a:latin typeface="Trebuchet MS"/>
              </a:defRPr>
            </a:pPr>
            <a:r>
              <a:t>Objective Highlight</a:t>
            </a:r>
          </a:p>
          <a:p>
            <a:pPr>
              <a:spcAft>
                <a:spcPts val="400"/>
              </a:spcAft>
              <a:defRPr sz="1100">
                <a:solidFill>
                  <a:srgbClr val="172544"/>
                </a:solidFill>
                <a:latin typeface="Calibri"/>
              </a:defRPr>
            </a:pPr>
            <a:r>
              <a:t>The core goal is to build a lightweight, deterministic 'Contract Intelligence' pipeline that runs locally on commodity CPU hardware.</a:t>
            </a:r>
          </a:p>
          <a:p>
            <a:pPr>
              <a:spcAft>
                <a:spcPts val="400"/>
              </a:spcAft>
              <a:defRPr sz="1100">
                <a:solidFill>
                  <a:srgbClr val="172544"/>
                </a:solidFill>
                <a:latin typeface="Calibri"/>
              </a:defRPr>
            </a:pPr>
          </a:p>
          <a:p>
            <a:pPr>
              <a:spcAft>
                <a:spcPts val="400"/>
              </a:spcAft>
              <a:defRPr sz="1100">
                <a:solidFill>
                  <a:srgbClr val="172544"/>
                </a:solidFill>
                <a:latin typeface="Calibri"/>
              </a:defRPr>
            </a:pPr>
            <a:r>
              <a:t>By avoiding expensive generative LLMs, we guarantee:</a:t>
            </a:r>
          </a:p>
          <a:p>
            <a:pPr>
              <a:spcAft>
                <a:spcPts val="400"/>
              </a:spcAft>
              <a:defRPr sz="1100">
                <a:solidFill>
                  <a:srgbClr val="172544"/>
                </a:solidFill>
                <a:latin typeface="Calibri"/>
              </a:defRPr>
            </a:pPr>
            <a:r>
              <a:t>  1. Zero hallucination risk (crucial for legal compliance).</a:t>
            </a:r>
          </a:p>
          <a:p>
            <a:pPr>
              <a:spcAft>
                <a:spcPts val="400"/>
              </a:spcAft>
              <a:defRPr sz="1100">
                <a:solidFill>
                  <a:srgbClr val="172544"/>
                </a:solidFill>
                <a:latin typeface="Calibri"/>
              </a:defRPr>
            </a:pPr>
            <a:r>
              <a:t>  2. Sub-millisecond inference and query times.</a:t>
            </a:r>
          </a:p>
          <a:p>
            <a:pPr>
              <a:spcAft>
                <a:spcPts val="400"/>
              </a:spcAft>
              <a:defRPr sz="1100">
                <a:solidFill>
                  <a:srgbClr val="172544"/>
                </a:solidFill>
                <a:latin typeface="Calibri"/>
              </a:defRPr>
            </a:pPr>
            <a:r>
              <a:t>  3. Data privacy (no external APIs used).</a:t>
            </a:r>
          </a:p>
          <a:p>
            <a:pPr>
              <a:spcAft>
                <a:spcPts val="400"/>
              </a:spcAft>
              <a:defRPr sz="1100">
                <a:solidFill>
                  <a:srgbClr val="172544"/>
                </a:solidFill>
                <a:latin typeface="Calibri"/>
              </a:defRPr>
            </a:pPr>
            <a:r>
              <a:t>  4. A structured benchmark using the standard CUAD dataset.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4</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LITERATURE REVIEW</a:t>
            </a:r>
          </a:p>
          <a:p>
            <a:pPr>
              <a:spcBef>
                <a:spcPts val="400"/>
              </a:spcBef>
              <a:defRPr sz="1300" i="1">
                <a:solidFill>
                  <a:srgbClr val="3C5A82"/>
                </a:solidFill>
                <a:latin typeface="Calibri"/>
              </a:defRPr>
            </a:pPr>
            <a:r>
              <a:t>Comparison of Supporting IEEE Publications</a:t>
            </a:r>
          </a:p>
        </p:txBody>
      </p:sp>
      <p:graphicFrame>
        <p:nvGraphicFramePr>
          <p:cNvPr id="6" name="Table 5"/>
          <p:cNvGraphicFramePr>
            <a:graphicFrameLocks noGrp="1"/>
          </p:cNvGraphicFramePr>
          <p:nvPr/>
        </p:nvGraphicFramePr>
        <p:xfrm>
          <a:off x="457200" y="1463040"/>
          <a:ext cx="11274552" cy="3474720"/>
        </p:xfrm>
        <a:graphic>
          <a:graphicData uri="http://schemas.openxmlformats.org/drawingml/2006/table">
            <a:tbl>
              <a:tblPr firstRow="1" bandRow="1">
                <a:tableStyleId>{5C22544A-7EE6-4342-B048-85BDC9FD1C3A}</a:tableStyleId>
              </a:tblPr>
              <a:tblGrid>
                <a:gridCol w="1645920"/>
                <a:gridCol w="1645920"/>
                <a:gridCol w="3017520"/>
                <a:gridCol w="2651760"/>
                <a:gridCol w="2313432"/>
              </a:tblGrid>
              <a:tr h="868680">
                <a:tc>
                  <a:txBody>
                    <a:bodyPr wrap="square" lIns="73152" tIns="73152" bIns="73152" rIns="73152"/>
                    <a:lstStyle/>
                    <a:p>
                      <a:pPr algn="ctr">
                        <a:defRPr sz="850" b="1">
                          <a:solidFill>
                            <a:srgbClr val="FFFFFF"/>
                          </a:solidFill>
                          <a:latin typeface="Calibri"/>
                        </a:defRPr>
                      </a:pPr>
                      <a:r>
                        <a:t>Paper Reference &amp; Year</a:t>
                      </a:r>
                    </a:p>
                  </a:txBody>
                  <a:tcPr>
                    <a:solidFill>
                      <a:srgbClr val="172544"/>
                    </a:solidFill>
                  </a:tcPr>
                </a:tc>
                <a:tc>
                  <a:txBody>
                    <a:bodyPr wrap="square" lIns="73152" tIns="73152" bIns="73152" rIns="73152"/>
                    <a:lstStyle/>
                    <a:p>
                      <a:pPr algn="ctr">
                        <a:defRPr sz="850" b="1">
                          <a:solidFill>
                            <a:srgbClr val="FFFFFF"/>
                          </a:solidFill>
                          <a:latin typeface="Calibri"/>
                        </a:defRPr>
                      </a:pPr>
                      <a:r>
                        <a:t>Methodology Used</a:t>
                      </a:r>
                    </a:p>
                  </a:txBody>
                  <a:tcPr>
                    <a:solidFill>
                      <a:srgbClr val="172544"/>
                    </a:solidFill>
                  </a:tcPr>
                </a:tc>
                <a:tc>
                  <a:txBody>
                    <a:bodyPr wrap="square" lIns="73152" tIns="73152" bIns="73152" rIns="73152"/>
                    <a:lstStyle/>
                    <a:p>
                      <a:pPr algn="ctr">
                        <a:defRPr sz="850" b="1">
                          <a:solidFill>
                            <a:srgbClr val="FFFFFF"/>
                          </a:solidFill>
                          <a:latin typeface="Calibri"/>
                        </a:defRPr>
                      </a:pPr>
                      <a:r>
                        <a:t>Key Findings &amp; Advantages</a:t>
                      </a:r>
                    </a:p>
                  </a:txBody>
                  <a:tcPr>
                    <a:solidFill>
                      <a:srgbClr val="172544"/>
                    </a:solidFill>
                  </a:tcPr>
                </a:tc>
                <a:tc>
                  <a:txBody>
                    <a:bodyPr wrap="square" lIns="73152" tIns="73152" bIns="73152" rIns="73152"/>
                    <a:lstStyle/>
                    <a:p>
                      <a:pPr algn="ctr">
                        <a:defRPr sz="850" b="1">
                          <a:solidFill>
                            <a:srgbClr val="FFFFFF"/>
                          </a:solidFill>
                          <a:latin typeface="Calibri"/>
                        </a:defRPr>
                      </a:pPr>
                      <a:r>
                        <a:t>Methodological Limitations</a:t>
                      </a:r>
                    </a:p>
                  </a:txBody>
                  <a:tcPr>
                    <a:solidFill>
                      <a:srgbClr val="172544"/>
                    </a:solidFill>
                  </a:tcPr>
                </a:tc>
                <a:tc>
                  <a:txBody>
                    <a:bodyPr wrap="square" lIns="73152" tIns="73152" bIns="73152" rIns="73152"/>
                    <a:lstStyle/>
                    <a:p>
                      <a:pPr algn="ctr">
                        <a:defRPr sz="850" b="1">
                          <a:solidFill>
                            <a:srgbClr val="FFFFFF"/>
                          </a:solidFill>
                          <a:latin typeface="Calibri"/>
                        </a:defRPr>
                      </a:pPr>
                      <a:r>
                        <a:t>Relation to ClauseIQ</a:t>
                      </a:r>
                    </a:p>
                  </a:txBody>
                  <a:tcPr>
                    <a:solidFill>
                      <a:srgbClr val="172544"/>
                    </a:solidFill>
                  </a:tcPr>
                </a:tc>
              </a:tr>
              <a:tr h="868680">
                <a:tc>
                  <a:txBody>
                    <a:bodyPr wrap="square" lIns="73152" tIns="73152" bIns="73152" rIns="73152"/>
                    <a:lstStyle/>
                    <a:p>
                      <a:pPr>
                        <a:defRPr sz="850" b="1">
                          <a:solidFill>
                            <a:srgbClr val="212529"/>
                          </a:solidFill>
                          <a:latin typeface="Calibri"/>
                        </a:defRPr>
                      </a:pPr>
                      <a:r>
                        <a:t>Quevedo et al. [1]</a:t>
                      </a:r>
                    </a:p>
                    <a:p>
                      <a:pPr>
                        <a:defRPr sz="850" b="1">
                          <a:solidFill>
                            <a:srgbClr val="212529"/>
                          </a:solidFill>
                          <a:latin typeface="Calibri"/>
                        </a:defRPr>
                      </a:pPr>
                      <a:r>
                        <a:t>(IEEE Access, 2024)</a:t>
                      </a:r>
                    </a:p>
                  </a:txBody>
                  <a:tcPr>
                    <a:solidFill>
                      <a:srgbClr val="E6EBF5"/>
                    </a:solidFill>
                  </a:tcPr>
                </a:tc>
                <a:tc>
                  <a:txBody>
                    <a:bodyPr wrap="square" lIns="73152" tIns="73152" bIns="73152" rIns="73152"/>
                    <a:lstStyle/>
                    <a:p>
                      <a:pPr>
                        <a:defRPr sz="850">
                          <a:solidFill>
                            <a:srgbClr val="212529"/>
                          </a:solidFill>
                          <a:latin typeface="Calibri"/>
                        </a:defRPr>
                      </a:pPr>
                      <a:r>
                        <a:t>Systematic Mapping Study of Legal NLP (2015-2022) reviewing 75 pivotal articles.</a:t>
                      </a:r>
                    </a:p>
                  </a:txBody>
                  <a:tcPr>
                    <a:solidFill>
                      <a:srgbClr val="E6EBF5"/>
                    </a:solidFill>
                  </a:tcPr>
                </a:tc>
                <a:tc>
                  <a:txBody>
                    <a:bodyPr wrap="square" lIns="73152" tIns="73152" bIns="73152" rIns="73152"/>
                    <a:lstStyle/>
                    <a:p>
                      <a:pPr>
                        <a:defRPr sz="850">
                          <a:solidFill>
                            <a:srgbClr val="212529"/>
                          </a:solidFill>
                          <a:latin typeface="Calibri"/>
                        </a:defRPr>
                      </a:pPr>
                      <a:r>
                        <a:t>Categorized legal tasks (Multiclass classification, QA); identified critical datasets including CUAD; mapped research trends.</a:t>
                      </a:r>
                    </a:p>
                  </a:txBody>
                  <a:tcPr>
                    <a:solidFill>
                      <a:srgbClr val="E6EBF5"/>
                    </a:solidFill>
                  </a:tcPr>
                </a:tc>
                <a:tc>
                  <a:txBody>
                    <a:bodyPr wrap="square" lIns="73152" tIns="73152" bIns="73152" rIns="73152"/>
                    <a:lstStyle/>
                    <a:p>
                      <a:pPr>
                        <a:defRPr sz="850">
                          <a:solidFill>
                            <a:srgbClr val="212529"/>
                          </a:solidFill>
                          <a:latin typeface="Calibri"/>
                        </a:defRPr>
                      </a:pPr>
                      <a:r>
                        <a:t>Review paper only; no new empirical code implementation or benchmark performance analysis.</a:t>
                      </a:r>
                    </a:p>
                  </a:txBody>
                  <a:tcPr>
                    <a:solidFill>
                      <a:srgbClr val="E6EBF5"/>
                    </a:solidFill>
                  </a:tcPr>
                </a:tc>
                <a:tc>
                  <a:txBody>
                    <a:bodyPr wrap="square" lIns="73152" tIns="73152" bIns="73152" rIns="73152"/>
                    <a:lstStyle/>
                    <a:p>
                      <a:pPr>
                        <a:defRPr sz="850">
                          <a:solidFill>
                            <a:srgbClr val="212529"/>
                          </a:solidFill>
                          <a:latin typeface="Calibri"/>
                        </a:defRPr>
                      </a:pPr>
                      <a:r>
                        <a:t>Validates contract clause extraction as a primary, well-studied sub-task in Legal NLP.</a:t>
                      </a:r>
                    </a:p>
                  </a:txBody>
                  <a:tcPr>
                    <a:solidFill>
                      <a:srgbClr val="E6EBF5"/>
                    </a:solidFill>
                  </a:tcPr>
                </a:tc>
              </a:tr>
              <a:tr h="868680">
                <a:tc>
                  <a:txBody>
                    <a:bodyPr wrap="square" lIns="73152" tIns="73152" bIns="73152" rIns="73152"/>
                    <a:lstStyle/>
                    <a:p>
                      <a:pPr>
                        <a:defRPr sz="850" b="1">
                          <a:solidFill>
                            <a:srgbClr val="212529"/>
                          </a:solidFill>
                          <a:latin typeface="Calibri"/>
                        </a:defRPr>
                      </a:pPr>
                      <a:r>
                        <a:t>Siino et al. [2]</a:t>
                      </a:r>
                    </a:p>
                    <a:p>
                      <a:pPr>
                        <a:defRPr sz="850" b="1">
                          <a:solidFill>
                            <a:srgbClr val="212529"/>
                          </a:solidFill>
                          <a:latin typeface="Calibri"/>
                        </a:defRPr>
                      </a:pPr>
                      <a:r>
                        <a:t>(IEEE Access, 2025)</a:t>
                      </a:r>
                    </a:p>
                  </a:txBody>
                  <a:tcPr>
                    <a:solidFill>
                      <a:srgbClr val="FFFFFF"/>
                    </a:solidFill>
                  </a:tcPr>
                </a:tc>
                <a:tc>
                  <a:txBody>
                    <a:bodyPr wrap="square" lIns="73152" tIns="73152" bIns="73152" rIns="73152"/>
                    <a:lstStyle/>
                    <a:p>
                      <a:pPr>
                        <a:defRPr sz="850">
                          <a:solidFill>
                            <a:srgbClr val="212529"/>
                          </a:solidFill>
                          <a:latin typeface="Calibri"/>
                        </a:defRPr>
                      </a:pPr>
                      <a:r>
                        <a:t>Systematic Literature Review of 61 papers mapping LLM &amp; Transformer usage.</a:t>
                      </a:r>
                    </a:p>
                  </a:txBody>
                  <a:tcPr>
                    <a:solidFill>
                      <a:srgbClr val="FFFFFF"/>
                    </a:solidFill>
                  </a:tcPr>
                </a:tc>
                <a:tc>
                  <a:txBody>
                    <a:bodyPr wrap="square" lIns="73152" tIns="73152" bIns="73152" rIns="73152"/>
                    <a:lstStyle/>
                    <a:p>
                      <a:pPr>
                        <a:defRPr sz="850">
                          <a:solidFill>
                            <a:srgbClr val="212529"/>
                          </a:solidFill>
                          <a:latin typeface="Calibri"/>
                        </a:defRPr>
                      </a:pPr>
                      <a:r>
                        <a:t>Confirms GPT/Transformer success in legal document summarization, contract review, and outcome prediction.</a:t>
                      </a:r>
                    </a:p>
                  </a:txBody>
                  <a:tcPr>
                    <a:solidFill>
                      <a:srgbClr val="FFFFFF"/>
                    </a:solidFill>
                  </a:tcPr>
                </a:tc>
                <a:tc>
                  <a:txBody>
                    <a:bodyPr wrap="square" lIns="73152" tIns="73152" bIns="73152" rIns="73152"/>
                    <a:lstStyle/>
                    <a:p>
                      <a:pPr>
                        <a:defRPr sz="850">
                          <a:solidFill>
                            <a:srgbClr val="212529"/>
                          </a:solidFill>
                          <a:latin typeface="Calibri"/>
                        </a:defRPr>
                      </a:pPr>
                      <a:r>
                        <a:t>Identified severe risks: model hallucinations, high computational costs, and privacy concerns.</a:t>
                      </a:r>
                    </a:p>
                  </a:txBody>
                  <a:tcPr>
                    <a:solidFill>
                      <a:srgbClr val="FFFFFF"/>
                    </a:solidFill>
                  </a:tcPr>
                </a:tc>
                <a:tc>
                  <a:txBody>
                    <a:bodyPr wrap="square" lIns="73152" tIns="73152" bIns="73152" rIns="73152"/>
                    <a:lstStyle/>
                    <a:p>
                      <a:pPr>
                        <a:defRPr sz="850">
                          <a:solidFill>
                            <a:srgbClr val="212529"/>
                          </a:solidFill>
                          <a:latin typeface="Calibri"/>
                        </a:defRPr>
                      </a:pPr>
                      <a:r>
                        <a:t>Justifies our decision to build classical ML models first to avoid costs and hallucinations.</a:t>
                      </a:r>
                    </a:p>
                  </a:txBody>
                  <a:tcPr>
                    <a:solidFill>
                      <a:srgbClr val="FFFFFF"/>
                    </a:solidFill>
                  </a:tcPr>
                </a:tc>
              </a:tr>
              <a:tr h="868680">
                <a:tc>
                  <a:txBody>
                    <a:bodyPr wrap="square" lIns="73152" tIns="73152" bIns="73152" rIns="73152"/>
                    <a:lstStyle/>
                    <a:p>
                      <a:pPr>
                        <a:defRPr sz="850" b="1">
                          <a:solidFill>
                            <a:srgbClr val="212529"/>
                          </a:solidFill>
                          <a:latin typeface="Calibri"/>
                        </a:defRPr>
                      </a:pPr>
                      <a:r>
                        <a:t>Kutbi [3]</a:t>
                      </a:r>
                    </a:p>
                    <a:p>
                      <a:pPr>
                        <a:defRPr sz="850" b="1">
                          <a:solidFill>
                            <a:srgbClr val="212529"/>
                          </a:solidFill>
                          <a:latin typeface="Calibri"/>
                        </a:defRPr>
                      </a:pPr>
                      <a:r>
                        <a:t>(IEEE Access, 2023)</a:t>
                      </a:r>
                    </a:p>
                  </a:txBody>
                  <a:tcPr>
                    <a:solidFill>
                      <a:srgbClr val="E6EBF5"/>
                    </a:solidFill>
                  </a:tcPr>
                </a:tc>
                <a:tc>
                  <a:txBody>
                    <a:bodyPr wrap="square" lIns="73152" tIns="73152" bIns="73152" rIns="73152"/>
                    <a:lstStyle/>
                    <a:p>
                      <a:pPr>
                        <a:defRPr sz="850">
                          <a:solidFill>
                            <a:srgbClr val="212529"/>
                          </a:solidFill>
                          <a:latin typeface="Calibri"/>
                        </a:defRPr>
                      </a:pPr>
                      <a:r>
                        <a:t> spaCy NER pre-processor that tags and replaces entities with generic category labels.</a:t>
                      </a:r>
                    </a:p>
                  </a:txBody>
                  <a:tcPr>
                    <a:solidFill>
                      <a:srgbClr val="E6EBF5"/>
                    </a:solidFill>
                  </a:tcPr>
                </a:tc>
                <a:tc>
                  <a:txBody>
                    <a:bodyPr wrap="square" lIns="73152" tIns="73152" bIns="73152" rIns="73152"/>
                    <a:lstStyle/>
                    <a:p>
                      <a:pPr>
                        <a:defRPr sz="850">
                          <a:solidFill>
                            <a:srgbClr val="212529"/>
                          </a:solidFill>
                          <a:latin typeface="Calibri"/>
                        </a:defRPr>
                      </a:pPr>
                      <a:r>
                        <a:t>Replacing names/dates with tokens (&lt;PERSON&gt;, &lt;DATE&gt;) improves text classification accuracy and preserves privacy.</a:t>
                      </a:r>
                    </a:p>
                  </a:txBody>
                  <a:tcPr>
                    <a:solidFill>
                      <a:srgbClr val="E6EBF5"/>
                    </a:solidFill>
                  </a:tcPr>
                </a:tc>
                <a:tc>
                  <a:txBody>
                    <a:bodyPr wrap="square" lIns="73152" tIns="73152" bIns="73152" rIns="73152"/>
                    <a:lstStyle/>
                    <a:p>
                      <a:pPr>
                        <a:defRPr sz="850">
                          <a:solidFill>
                            <a:srgbClr val="212529"/>
                          </a:solidFill>
                          <a:latin typeface="Calibri"/>
                        </a:defRPr>
                      </a:pPr>
                      <a:r>
                        <a:t>Requires pre-trained NER; simple tag replacement might lose subtle semantic context in some legal domains.</a:t>
                      </a:r>
                    </a:p>
                  </a:txBody>
                  <a:tcPr>
                    <a:solidFill>
                      <a:srgbClr val="E6EBF5"/>
                    </a:solidFill>
                  </a:tcPr>
                </a:tc>
                <a:tc>
                  <a:txBody>
                    <a:bodyPr wrap="square" lIns="73152" tIns="73152" bIns="73152" rIns="73152"/>
                    <a:lstStyle/>
                    <a:p>
                      <a:pPr>
                        <a:defRPr sz="850">
                          <a:solidFill>
                            <a:srgbClr val="212529"/>
                          </a:solidFill>
                          <a:latin typeface="Calibri"/>
                        </a:defRPr>
                      </a:pPr>
                      <a:r>
                        <a:t>Validates the use of text preprocessing and spaCy for legal data cleaning.</a:t>
                      </a:r>
                    </a:p>
                  </a:txBody>
                  <a:tcPr>
                    <a:solidFill>
                      <a:srgbClr val="E6EBF5"/>
                    </a:solidFill>
                  </a:tcPr>
                </a:tc>
              </a:tr>
            </a:tbl>
          </a:graphicData>
        </a:graphic>
      </p:graphicFrame>
      <p:sp>
        <p:nvSpPr>
          <p:cNvPr id="7" name="TextBox 6"/>
          <p:cNvSpPr txBox="1"/>
          <p:nvPr/>
        </p:nvSpPr>
        <p:spPr>
          <a:xfrm>
            <a:off x="457200" y="5120640"/>
            <a:ext cx="11274552" cy="822960"/>
          </a:xfrm>
          <a:prstGeom prst="rect">
            <a:avLst/>
          </a:prstGeom>
          <a:noFill/>
        </p:spPr>
        <p:txBody>
          <a:bodyPr wrap="square" lIns="0" tIns="0" bIns="0" rIns="0">
            <a:spAutoFit/>
          </a:bodyPr>
          <a:lstStyle/>
          <a:p>
            <a:pPr>
              <a:spcAft>
                <a:spcPts val="200"/>
              </a:spcAft>
              <a:defRPr sz="1100" b="1">
                <a:solidFill>
                  <a:srgbClr val="1EA0F0"/>
                </a:solidFill>
              </a:defRPr>
            </a:pPr>
            <a:r>
              <a:t>RESEARCH GAP IDENTIFIED:</a:t>
            </a:r>
          </a:p>
          <a:p>
            <a:pPr>
              <a:defRPr sz="1050">
                <a:solidFill>
                  <a:srgbClr val="212529"/>
                </a:solidFill>
                <a:latin typeface="Calibri"/>
              </a:defRPr>
            </a:pPr>
            <a:r>
              <a:t>While current literature focuses heavily on large black-box deep learning structures (e.g. LLMs) that require massive GPUs, there is a gap in lightweight, explainable, and deterministic legal tech applications. ClauseIQ addresses this by implementing a classical, length-normalized TF-IDF and supervised classification pipeline that runs efficiently on standard computers, preserving privacy while delivering explainable category distributions.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5</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DATASET ANALYSIS</a:t>
            </a:r>
          </a:p>
          <a:p>
            <a:pPr>
              <a:spcBef>
                <a:spcPts val="400"/>
              </a:spcBef>
              <a:defRPr sz="1300" i="1">
                <a:solidFill>
                  <a:srgbClr val="3C5A82"/>
                </a:solidFill>
                <a:latin typeface="Calibri"/>
              </a:defRPr>
            </a:pPr>
            <a:r>
              <a:t>CUAD: Contract Understanding Atticus Dataset</a:t>
            </a:r>
          </a:p>
        </p:txBody>
      </p:sp>
      <p:sp>
        <p:nvSpPr>
          <p:cNvPr id="6" name="Rounded Rectangle 5"/>
          <p:cNvSpPr/>
          <p:nvPr/>
        </p:nvSpPr>
        <p:spPr>
          <a:xfrm>
            <a:off x="731520" y="1645920"/>
            <a:ext cx="548640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5212080" cy="3840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Dataset Characteristics</a:t>
            </a:r>
          </a:p>
          <a:p>
            <a:pPr>
              <a:spcAft>
                <a:spcPts val="400"/>
              </a:spcAft>
              <a:defRPr sz="1100">
                <a:solidFill>
                  <a:srgbClr val="212529"/>
                </a:solidFill>
                <a:latin typeface="Calibri"/>
              </a:defRPr>
            </a:pPr>
            <a:r>
              <a:t>• Sourcing: Created by The Atticus Project, a non-profit legal tech group.</a:t>
            </a:r>
          </a:p>
          <a:p>
            <a:pPr>
              <a:spcAft>
                <a:spcPts val="400"/>
              </a:spcAft>
              <a:defRPr sz="1100">
                <a:solidFill>
                  <a:srgbClr val="212529"/>
                </a:solidFill>
                <a:latin typeface="Calibri"/>
              </a:defRPr>
            </a:pPr>
            <a:r>
              <a:t>• Corpus Size: 510 real commercial contracts drawn from the SEC EDGAR filing database.</a:t>
            </a:r>
          </a:p>
          <a:p>
            <a:pPr>
              <a:spcAft>
                <a:spcPts val="400"/>
              </a:spcAft>
              <a:defRPr sz="1100">
                <a:solidFill>
                  <a:srgbClr val="212529"/>
                </a:solidFill>
                <a:latin typeface="Calibri"/>
              </a:defRPr>
            </a:pPr>
            <a:r>
              <a:t>• Legal Classes: 41 distinct categories that lawyers routinely review in transactional due diligence.</a:t>
            </a:r>
          </a:p>
          <a:p>
            <a:pPr>
              <a:spcAft>
                <a:spcPts val="400"/>
              </a:spcAft>
              <a:defRPr sz="1100">
                <a:solidFill>
                  <a:srgbClr val="212529"/>
                </a:solidFill>
                <a:latin typeface="Calibri"/>
              </a:defRPr>
            </a:pPr>
            <a:r>
              <a:t>• Annotation Quality: Manually annotated by legal experts, resulting in 13,000+ labeled clause spans.</a:t>
            </a:r>
          </a:p>
          <a:p>
            <a:pPr>
              <a:spcAft>
                <a:spcPts val="400"/>
              </a:spcAft>
              <a:defRPr sz="1100">
                <a:solidFill>
                  <a:srgbClr val="212529"/>
                </a:solidFill>
                <a:latin typeface="Calibri"/>
              </a:defRPr>
            </a:pPr>
            <a:r>
              <a:t>• Project Flattening: The raw SQuAD-style JSON file (CUADv1.json) was parsed and flattened into a clause-level CSV, yielding 13,823 distinct rows.</a:t>
            </a:r>
          </a:p>
          <a:p>
            <a:pPr>
              <a:spcAft>
                <a:spcPts val="400"/>
              </a:spcAft>
              <a:defRPr sz="1100">
                <a:solidFill>
                  <a:srgbClr val="212529"/>
                </a:solidFill>
                <a:latin typeface="Calibri"/>
              </a:defRPr>
            </a:pPr>
            <a:r>
              <a:t>• License: Distributed under Creative Commons Attribution 4.0 (CC BY 4.0).</a:t>
            </a:r>
          </a:p>
        </p:txBody>
      </p:sp>
      <p:pic>
        <p:nvPicPr>
          <p:cNvPr id="8" name="Picture 7" descr="category_pie_chart.png"/>
          <p:cNvPicPr>
            <a:picLocks noChangeAspect="1"/>
          </p:cNvPicPr>
          <p:nvPr/>
        </p:nvPicPr>
        <p:blipFill>
          <a:blip r:embed="rId2"/>
          <a:stretch>
            <a:fillRect/>
          </a:stretch>
        </p:blipFill>
        <p:spPr>
          <a:xfrm>
            <a:off x="6583680" y="1645920"/>
            <a:ext cx="4937760" cy="409729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6</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EXPLORATORY DATA ANALYSIS</a:t>
            </a:r>
          </a:p>
          <a:p>
            <a:pPr>
              <a:spcBef>
                <a:spcPts val="400"/>
              </a:spcBef>
              <a:defRPr sz="1300" i="1">
                <a:solidFill>
                  <a:srgbClr val="3C5A82"/>
                </a:solidFill>
                <a:latin typeface="Calibri"/>
              </a:defRPr>
            </a:pPr>
            <a:r>
              <a:t>Statistical Profiling and Pandas Implementations</a:t>
            </a:r>
          </a:p>
        </p:txBody>
      </p:sp>
      <p:sp>
        <p:nvSpPr>
          <p:cNvPr id="6" name="Rounded Rectangle 5"/>
          <p:cNvSpPr/>
          <p:nvPr/>
        </p:nvSpPr>
        <p:spPr>
          <a:xfrm>
            <a:off x="457200" y="1645920"/>
            <a:ext cx="548640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783080"/>
            <a:ext cx="5212080" cy="3840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Dataset Structure &amp; Variables</a:t>
            </a:r>
          </a:p>
          <a:p>
            <a:pPr>
              <a:spcAft>
                <a:spcPts val="400"/>
              </a:spcAft>
              <a:defRPr sz="1100">
                <a:solidFill>
                  <a:srgbClr val="212529"/>
                </a:solidFill>
                <a:latin typeface="Calibri"/>
              </a:defRPr>
            </a:pPr>
            <a:r>
              <a:t>• Shape: 13,823 rows and 5 columns.</a:t>
            </a:r>
          </a:p>
          <a:p>
            <a:pPr>
              <a:spcAft>
                <a:spcPts val="400"/>
              </a:spcAft>
              <a:defRPr sz="1100">
                <a:solidFill>
                  <a:srgbClr val="212529"/>
                </a:solidFill>
                <a:latin typeface="Calibri"/>
              </a:defRPr>
            </a:pPr>
            <a:r>
              <a:t>• Columns &amp; Types:</a:t>
            </a:r>
          </a:p>
          <a:p>
            <a:pPr>
              <a:spcAft>
                <a:spcPts val="400"/>
              </a:spcAft>
              <a:defRPr sz="1100">
                <a:solidFill>
                  <a:srgbClr val="212529"/>
                </a:solidFill>
                <a:latin typeface="Calibri"/>
              </a:defRPr>
            </a:pPr>
            <a:r>
              <a:t>• contract: Object (Document filename)</a:t>
            </a:r>
          </a:p>
          <a:p>
            <a:pPr>
              <a:spcAft>
                <a:spcPts val="400"/>
              </a:spcAft>
              <a:defRPr sz="1100">
                <a:solidFill>
                  <a:srgbClr val="212529"/>
                </a:solidFill>
                <a:latin typeface="Calibri"/>
              </a:defRPr>
            </a:pPr>
            <a:r>
              <a:t>• category: Object (Target legal label, e.g. Governing Law)</a:t>
            </a:r>
          </a:p>
          <a:p>
            <a:pPr>
              <a:spcAft>
                <a:spcPts val="400"/>
              </a:spcAft>
              <a:defRPr sz="1100">
                <a:solidFill>
                  <a:srgbClr val="212529"/>
                </a:solidFill>
                <a:latin typeface="Calibri"/>
              </a:defRPr>
            </a:pPr>
            <a:r>
              <a:t>• clause_text: Object (Raw clause string)</a:t>
            </a:r>
          </a:p>
          <a:p>
            <a:pPr>
              <a:spcAft>
                <a:spcPts val="400"/>
              </a:spcAft>
              <a:defRPr sz="1100">
                <a:solidFill>
                  <a:srgbClr val="212529"/>
                </a:solidFill>
                <a:latin typeface="Calibri"/>
              </a:defRPr>
            </a:pPr>
            <a:r>
              <a:t>• char_len: int64 (Character length)</a:t>
            </a:r>
          </a:p>
          <a:p>
            <a:pPr>
              <a:spcAft>
                <a:spcPts val="400"/>
              </a:spcAft>
              <a:defRPr sz="1100">
                <a:solidFill>
                  <a:srgbClr val="212529"/>
                </a:solidFill>
                <a:latin typeface="Calibri"/>
              </a:defRPr>
            </a:pPr>
            <a:r>
              <a:t>• word_count: int64 (Word count)</a:t>
            </a:r>
          </a:p>
          <a:p>
            <a:pPr>
              <a:spcAft>
                <a:spcPts val="400"/>
              </a:spcAft>
              <a:defRPr sz="1100">
                <a:solidFill>
                  <a:srgbClr val="212529"/>
                </a:solidFill>
                <a:latin typeface="Calibri"/>
              </a:defRPr>
            </a:pPr>
            <a:r>
              <a:t>• Missing Values: 0 null values across all columns.</a:t>
            </a:r>
          </a:p>
          <a:p>
            <a:pPr>
              <a:spcAft>
                <a:spcPts val="400"/>
              </a:spcAft>
              <a:defRPr sz="1100">
                <a:solidFill>
                  <a:srgbClr val="212529"/>
                </a:solidFill>
                <a:latin typeface="Calibri"/>
              </a:defRPr>
            </a:pPr>
            <a:r>
              <a:t>• Duplicates: 0 duplicate text spans (following flattening).</a:t>
            </a:r>
          </a:p>
          <a:p>
            <a:pPr>
              <a:spcAft>
                <a:spcPts val="400"/>
              </a:spcAft>
              <a:defRPr sz="1100">
                <a:solidFill>
                  <a:srgbClr val="212529"/>
                </a:solidFill>
                <a:latin typeface="Calibri"/>
              </a:defRPr>
            </a:pPr>
            <a:r>
              <a:t>• Clause Length: Highly right-skewed.</a:t>
            </a:r>
          </a:p>
          <a:p>
            <a:pPr>
              <a:spcAft>
                <a:spcPts val="400"/>
              </a:spcAft>
              <a:defRPr sz="1100">
                <a:solidFill>
                  <a:srgbClr val="212529"/>
                </a:solidFill>
                <a:latin typeface="Calibri"/>
              </a:defRPr>
            </a:pPr>
            <a:r>
              <a:t>• Mean: 40.7 words, Median: 31 words, Max: 479 words.</a:t>
            </a:r>
          </a:p>
        </p:txBody>
      </p:sp>
      <p:sp>
        <p:nvSpPr>
          <p:cNvPr id="8" name="Rounded Rectangle 7"/>
          <p:cNvSpPr/>
          <p:nvPr/>
        </p:nvSpPr>
        <p:spPr>
          <a:xfrm>
            <a:off x="6217920" y="1645920"/>
            <a:ext cx="548640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783080"/>
            <a:ext cx="5212080" cy="3840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Python Pandas Statistical Operations</a:t>
            </a:r>
          </a:p>
          <a:p>
            <a:pPr>
              <a:spcAft>
                <a:spcPts val="400"/>
              </a:spcAft>
              <a:defRPr sz="1100">
                <a:solidFill>
                  <a:srgbClr val="212529"/>
                </a:solidFill>
                <a:latin typeface="Calibri"/>
              </a:defRPr>
            </a:pPr>
            <a:r>
              <a:t>The exploratory pipeline utilizes several core Pandas functions:</a:t>
            </a:r>
          </a:p>
          <a:p>
            <a:pPr>
              <a:spcAft>
                <a:spcPts val="400"/>
              </a:spcAft>
              <a:defRPr sz="1100">
                <a:solidFill>
                  <a:srgbClr val="212529"/>
                </a:solidFill>
                <a:latin typeface="Calibri"/>
              </a:defRPr>
            </a:pPr>
            <a:r>
              <a:t>• head() &amp; tail(): Inspect start and end rows to verify structural parsing.</a:t>
            </a:r>
          </a:p>
          <a:p>
            <a:pPr>
              <a:spcAft>
                <a:spcPts val="400"/>
              </a:spcAft>
              <a:defRPr sz="1100">
                <a:solidFill>
                  <a:srgbClr val="212529"/>
                </a:solidFill>
                <a:latin typeface="Calibri"/>
              </a:defRPr>
            </a:pPr>
            <a:r>
              <a:t>• info(): Print non-null counts and memory usage.</a:t>
            </a:r>
          </a:p>
          <a:p>
            <a:pPr>
              <a:spcAft>
                <a:spcPts val="400"/>
              </a:spcAft>
              <a:defRPr sz="1100">
                <a:solidFill>
                  <a:srgbClr val="212529"/>
                </a:solidFill>
                <a:latin typeface="Calibri"/>
              </a:defRPr>
            </a:pPr>
            <a:r>
              <a:t>• shape: Check dataset dimensions.</a:t>
            </a:r>
          </a:p>
          <a:p>
            <a:pPr>
              <a:spcAft>
                <a:spcPts val="400"/>
              </a:spcAft>
              <a:defRPr sz="1100">
                <a:solidFill>
                  <a:srgbClr val="212529"/>
                </a:solidFill>
                <a:latin typeface="Calibri"/>
              </a:defRPr>
            </a:pPr>
            <a:r>
              <a:t>• describe(): Calculate descriptive statistics (mean, std, min, max, quantiles) for length analysis.</a:t>
            </a:r>
          </a:p>
          <a:p>
            <a:pPr>
              <a:spcAft>
                <a:spcPts val="400"/>
              </a:spcAft>
              <a:defRPr sz="1100">
                <a:solidFill>
                  <a:srgbClr val="212529"/>
                </a:solidFill>
                <a:latin typeface="Calibri"/>
              </a:defRPr>
            </a:pPr>
            <a:r>
              <a:t>• value_counts(): Quantify frequency distributions for all 41 categories, mapping the class imbalance.</a:t>
            </a:r>
          </a:p>
          <a:p>
            <a:pPr>
              <a:spcAft>
                <a:spcPts val="400"/>
              </a:spcAft>
              <a:defRPr sz="1100">
                <a:solidFill>
                  <a:srgbClr val="212529"/>
                </a:solidFill>
                <a:latin typeface="Calibri"/>
              </a:defRPr>
            </a:pPr>
          </a:p>
          <a:p>
            <a:pPr>
              <a:spcAft>
                <a:spcPts val="400"/>
              </a:spcAft>
              <a:defRPr sz="1100">
                <a:solidFill>
                  <a:srgbClr val="212529"/>
                </a:solidFill>
                <a:latin typeface="Calibri"/>
              </a:defRPr>
            </a:pPr>
            <a:r>
              <a:t>Conclusions:</a:t>
            </a:r>
          </a:p>
          <a:p>
            <a:pPr>
              <a:spcAft>
                <a:spcPts val="400"/>
              </a:spcAft>
              <a:defRPr sz="1100">
                <a:solidFill>
                  <a:srgbClr val="212529"/>
                </a:solidFill>
                <a:latin typeface="Calibri"/>
              </a:defRPr>
            </a:pPr>
            <a:r>
              <a:t>1. Skewed lengths mean we must use length-normalized TF-IDF features rather than raw word counts.</a:t>
            </a:r>
          </a:p>
          <a:p>
            <a:pPr>
              <a:spcAft>
                <a:spcPts val="400"/>
              </a:spcAft>
              <a:defRPr sz="1100">
                <a:solidFill>
                  <a:srgbClr val="212529"/>
                </a:solidFill>
                <a:latin typeface="Calibri"/>
              </a:defRPr>
            </a:pPr>
            <a:r>
              <a:t>2. Severe class imbalance requires stratified train-test splits and weighted loss functions in the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7</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DATA PREPROCESSING PIPELINE</a:t>
            </a:r>
          </a:p>
          <a:p>
            <a:pPr>
              <a:spcBef>
                <a:spcPts val="400"/>
              </a:spcBef>
              <a:defRPr sz="1300" i="1">
                <a:solidFill>
                  <a:srgbClr val="3C5A82"/>
                </a:solidFill>
                <a:latin typeface="Calibri"/>
              </a:defRPr>
            </a:pPr>
            <a:r>
              <a:t>Text Cleaning, Normalization and Feature Engineering</a:t>
            </a:r>
          </a:p>
        </p:txBody>
      </p:sp>
      <p:sp>
        <p:nvSpPr>
          <p:cNvPr id="6" name="Rounded Rectangle 5"/>
          <p:cNvSpPr/>
          <p:nvPr/>
        </p:nvSpPr>
        <p:spPr>
          <a:xfrm>
            <a:off x="457200" y="1463040"/>
            <a:ext cx="1645920" cy="457200"/>
          </a:xfrm>
          <a:prstGeom prst="roundRect">
            <a:avLst/>
          </a:prstGeom>
          <a:solidFill>
            <a:srgbClr val="17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Raw Text</a:t>
            </a:r>
          </a:p>
        </p:txBody>
      </p:sp>
      <p:sp>
        <p:nvSpPr>
          <p:cNvPr id="7" name="Right Arrow 6"/>
          <p:cNvSpPr/>
          <p:nvPr/>
        </p:nvSpPr>
        <p:spPr>
          <a:xfrm>
            <a:off x="2148840" y="1572768"/>
            <a:ext cx="182880" cy="22860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377440" y="1463040"/>
            <a:ext cx="1645920" cy="457200"/>
          </a:xfrm>
          <a:prstGeom prst="roundRect">
            <a:avLst/>
          </a:prstGeom>
          <a:solidFill>
            <a:srgbClr val="3C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Text Cleaning</a:t>
            </a:r>
          </a:p>
        </p:txBody>
      </p:sp>
      <p:sp>
        <p:nvSpPr>
          <p:cNvPr id="9" name="Right Arrow 8"/>
          <p:cNvSpPr/>
          <p:nvPr/>
        </p:nvSpPr>
        <p:spPr>
          <a:xfrm>
            <a:off x="4069080" y="1572768"/>
            <a:ext cx="182880" cy="22860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80" y="1463040"/>
            <a:ext cx="1645920" cy="457200"/>
          </a:xfrm>
          <a:prstGeom prst="roundRect">
            <a:avLst/>
          </a:prstGeom>
          <a:solidFill>
            <a:srgbClr val="3C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Tokenization</a:t>
            </a:r>
          </a:p>
        </p:txBody>
      </p:sp>
      <p:sp>
        <p:nvSpPr>
          <p:cNvPr id="11" name="Right Arrow 10"/>
          <p:cNvSpPr/>
          <p:nvPr/>
        </p:nvSpPr>
        <p:spPr>
          <a:xfrm>
            <a:off x="5989320" y="1572768"/>
            <a:ext cx="182880" cy="22860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1463040"/>
            <a:ext cx="1645920" cy="457200"/>
          </a:xfrm>
          <a:prstGeom prst="roundRect">
            <a:avLst/>
          </a:prstGeom>
          <a:solidFill>
            <a:srgbClr val="3C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Lemmatization</a:t>
            </a:r>
          </a:p>
        </p:txBody>
      </p:sp>
      <p:sp>
        <p:nvSpPr>
          <p:cNvPr id="13" name="Right Arrow 12"/>
          <p:cNvSpPr/>
          <p:nvPr/>
        </p:nvSpPr>
        <p:spPr>
          <a:xfrm>
            <a:off x="7909560" y="1572768"/>
            <a:ext cx="182880" cy="22860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38160" y="1463040"/>
            <a:ext cx="1645920" cy="457200"/>
          </a:xfrm>
          <a:prstGeom prst="roundRect">
            <a:avLst/>
          </a:prstGeom>
          <a:solidFill>
            <a:srgbClr val="3C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TF-IDF Vectorizer</a:t>
            </a:r>
          </a:p>
        </p:txBody>
      </p:sp>
      <p:sp>
        <p:nvSpPr>
          <p:cNvPr id="15" name="Right Arrow 14"/>
          <p:cNvSpPr/>
          <p:nvPr/>
        </p:nvSpPr>
        <p:spPr>
          <a:xfrm>
            <a:off x="9829800" y="1572768"/>
            <a:ext cx="182880" cy="22860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0" y="1463040"/>
            <a:ext cx="1645920" cy="457200"/>
          </a:xfrm>
          <a:prstGeom prst="roundRect">
            <a:avLst/>
          </a:prstGeom>
          <a:solidFill>
            <a:srgbClr val="17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Feature Matrix</a:t>
            </a:r>
          </a:p>
        </p:txBody>
      </p:sp>
      <p:sp>
        <p:nvSpPr>
          <p:cNvPr id="17" name="Rounded Rectangle 16"/>
          <p:cNvSpPr/>
          <p:nvPr/>
        </p:nvSpPr>
        <p:spPr>
          <a:xfrm>
            <a:off x="457200" y="2194560"/>
            <a:ext cx="5486400" cy="356616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331720"/>
            <a:ext cx="5212080" cy="329184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Text Cleaning &amp; Normalization</a:t>
            </a:r>
          </a:p>
          <a:p>
            <a:pPr>
              <a:spcAft>
                <a:spcPts val="400"/>
              </a:spcAft>
              <a:defRPr sz="1100">
                <a:solidFill>
                  <a:srgbClr val="212529"/>
                </a:solidFill>
                <a:latin typeface="Calibri"/>
              </a:defRPr>
            </a:pPr>
            <a:r>
              <a:t>• Text Cleaning: Convert text to lowercase, collapse redundant whitespaces, and remove non-legal characters.</a:t>
            </a:r>
          </a:p>
          <a:p>
            <a:pPr>
              <a:spcAft>
                <a:spcPts val="400"/>
              </a:spcAft>
              <a:defRPr sz="1100">
                <a:solidFill>
                  <a:srgbClr val="212529"/>
                </a:solidFill>
                <a:latin typeface="Calibri"/>
              </a:defRPr>
            </a:pPr>
            <a:r>
              <a:t>• Short Span Filtering: Remove clauses with fewer than 3 tokens (e.g. party name fragments) which represent noise. Cleaned dataset has 12,256 rows.</a:t>
            </a:r>
          </a:p>
          <a:p>
            <a:pPr>
              <a:spcAft>
                <a:spcPts val="400"/>
              </a:spcAft>
              <a:defRPr sz="1100">
                <a:solidFill>
                  <a:srgbClr val="212529"/>
                </a:solidFill>
                <a:latin typeface="Calibri"/>
              </a:defRPr>
            </a:pPr>
            <a:r>
              <a:t>• Tokenization &amp; Lemmatization: Segment sentences into words and resolve words to base dictionary forms (lemmas) using spaCy, reducing vocabulary sparsity.</a:t>
            </a:r>
          </a:p>
          <a:p>
            <a:pPr>
              <a:spcAft>
                <a:spcPts val="400"/>
              </a:spcAft>
              <a:defRPr sz="1100">
                <a:solidFill>
                  <a:srgbClr val="212529"/>
                </a:solidFill>
                <a:latin typeface="Calibri"/>
              </a:defRPr>
            </a:pPr>
            <a:r>
              <a:t>• Stopword Removal: Remove common English stopwords to focus features on content-rich terms.</a:t>
            </a:r>
          </a:p>
        </p:txBody>
      </p:sp>
      <p:sp>
        <p:nvSpPr>
          <p:cNvPr id="19" name="Rounded Rectangle 18"/>
          <p:cNvSpPr/>
          <p:nvPr/>
        </p:nvSpPr>
        <p:spPr>
          <a:xfrm>
            <a:off x="6217920" y="2194560"/>
            <a:ext cx="5486400" cy="356616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2331720"/>
            <a:ext cx="5212080" cy="329184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Feature Extraction &amp; Train-Test Split</a:t>
            </a:r>
          </a:p>
          <a:p>
            <a:pPr>
              <a:spcAft>
                <a:spcPts val="400"/>
              </a:spcAft>
              <a:defRPr sz="1100">
                <a:solidFill>
                  <a:srgbClr val="212529"/>
                </a:solidFill>
                <a:latin typeface="Calibri"/>
              </a:defRPr>
            </a:pPr>
            <a:r>
              <a:t>• TF-IDF Configuration:</a:t>
            </a:r>
          </a:p>
          <a:p>
            <a:pPr>
              <a:spcAft>
                <a:spcPts val="400"/>
              </a:spcAft>
              <a:defRPr sz="1100">
                <a:solidFill>
                  <a:srgbClr val="212529"/>
                </a:solidFill>
                <a:latin typeface="Calibri"/>
              </a:defRPr>
            </a:pPr>
            <a:r>
              <a:t>• Vocabulary capped at 5,000 terms.</a:t>
            </a:r>
          </a:p>
          <a:p>
            <a:pPr>
              <a:spcAft>
                <a:spcPts val="400"/>
              </a:spcAft>
              <a:defRPr sz="1100">
                <a:solidFill>
                  <a:srgbClr val="212529"/>
                </a:solidFill>
                <a:latin typeface="Calibri"/>
              </a:defRPr>
            </a:pPr>
            <a:r>
              <a:t>• n-gram range set to (1,2) to capture bigrams (e.g. 'prior written').</a:t>
            </a:r>
          </a:p>
          <a:p>
            <a:pPr>
              <a:spcAft>
                <a:spcPts val="400"/>
              </a:spcAft>
              <a:defRPr sz="1100">
                <a:solidFill>
                  <a:srgbClr val="212529"/>
                </a:solidFill>
                <a:latin typeface="Calibri"/>
              </a:defRPr>
            </a:pPr>
            <a:r>
              <a:t>• min_df=2 to ignore one-off typos or unique entity names.</a:t>
            </a:r>
          </a:p>
          <a:p>
            <a:pPr>
              <a:spcAft>
                <a:spcPts val="400"/>
              </a:spcAft>
              <a:defRPr sz="1100">
                <a:solidFill>
                  <a:srgbClr val="212529"/>
                </a:solidFill>
                <a:latin typeface="Calibri"/>
              </a:defRPr>
            </a:pPr>
            <a:r>
              <a:t>• Vector Normalization: L2 normalization is applied to handle variable length.</a:t>
            </a:r>
          </a:p>
          <a:p>
            <a:pPr>
              <a:spcAft>
                <a:spcPts val="400"/>
              </a:spcAft>
              <a:defRPr sz="1100">
                <a:solidFill>
                  <a:srgbClr val="212529"/>
                </a:solidFill>
                <a:latin typeface="Calibri"/>
              </a:defRPr>
            </a:pPr>
            <a:r>
              <a:t>• Stratified Train-Test Split (80:20):</a:t>
            </a:r>
          </a:p>
          <a:p>
            <a:pPr>
              <a:spcAft>
                <a:spcPts val="400"/>
              </a:spcAft>
              <a:defRPr sz="1100">
                <a:solidFill>
                  <a:srgbClr val="212529"/>
                </a:solidFill>
                <a:latin typeface="Calibri"/>
              </a:defRPr>
            </a:pPr>
            <a:r>
              <a:t>• 9,804 training samples, 2,452 test samples.</a:t>
            </a:r>
          </a:p>
          <a:p>
            <a:pPr>
              <a:spcAft>
                <a:spcPts val="400"/>
              </a:spcAft>
              <a:defRPr sz="1100">
                <a:solidFill>
                  <a:srgbClr val="212529"/>
                </a:solidFill>
                <a:latin typeface="Calibri"/>
              </a:defRPr>
            </a:pPr>
            <a:r>
              <a:t>• Stratification ensures rare categories are represented in both sets.</a:t>
            </a:r>
          </a:p>
          <a:p>
            <a:pPr>
              <a:spcAft>
                <a:spcPts val="400"/>
              </a:spcAft>
              <a:defRPr sz="1100">
                <a:solidFill>
                  <a:srgbClr val="212529"/>
                </a:solidFill>
                <a:latin typeface="Calibri"/>
              </a:defRPr>
            </a:pPr>
            <a:r>
              <a:t>• Imbalance Handling: Model training utilizes balanced class weights.</a:t>
            </a:r>
          </a:p>
        </p:txBody>
      </p:sp>
      <p:pic>
        <p:nvPicPr>
          <p:cNvPr id="21" name="Picture 20" descr="train_test_split.png"/>
          <p:cNvPicPr>
            <a:picLocks noChangeAspect="1"/>
          </p:cNvPicPr>
          <p:nvPr/>
        </p:nvPicPr>
        <p:blipFill>
          <a:blip r:embed="rId2"/>
          <a:stretch>
            <a:fillRect/>
          </a:stretch>
        </p:blipFill>
        <p:spPr>
          <a:xfrm>
            <a:off x="6217920" y="4846320"/>
            <a:ext cx="5486400" cy="151687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8</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DATA VISUALIZATION ANALYSIS</a:t>
            </a:r>
          </a:p>
          <a:p>
            <a:pPr>
              <a:spcBef>
                <a:spcPts val="400"/>
              </a:spcBef>
              <a:defRPr sz="1300" i="1">
                <a:solidFill>
                  <a:srgbClr val="3C5A82"/>
                </a:solidFill>
                <a:latin typeface="Calibri"/>
              </a:defRPr>
            </a:pPr>
            <a:r>
              <a:t>Exploratory Charts of the Cleaned Clause Corpus</a:t>
            </a:r>
          </a:p>
        </p:txBody>
      </p:sp>
      <p:pic>
        <p:nvPicPr>
          <p:cNvPr id="6" name="Picture 5" descr="clause_category_frequency.png"/>
          <p:cNvPicPr>
            <a:picLocks noChangeAspect="1"/>
          </p:cNvPicPr>
          <p:nvPr/>
        </p:nvPicPr>
        <p:blipFill>
          <a:blip r:embed="rId2"/>
          <a:stretch>
            <a:fillRect/>
          </a:stretch>
        </p:blipFill>
        <p:spPr>
          <a:xfrm>
            <a:off x="457200" y="1645920"/>
            <a:ext cx="5486400" cy="3146612"/>
          </a:xfrm>
          <a:prstGeom prst="rect">
            <a:avLst/>
          </a:prstGeom>
        </p:spPr>
      </p:pic>
      <p:pic>
        <p:nvPicPr>
          <p:cNvPr id="7" name="Picture 6" descr="word_cloud.png"/>
          <p:cNvPicPr>
            <a:picLocks noChangeAspect="1"/>
          </p:cNvPicPr>
          <p:nvPr/>
        </p:nvPicPr>
        <p:blipFill>
          <a:blip r:embed="rId3"/>
          <a:stretch>
            <a:fillRect/>
          </a:stretch>
        </p:blipFill>
        <p:spPr>
          <a:xfrm>
            <a:off x="6217920" y="1645920"/>
            <a:ext cx="5486400" cy="3425897"/>
          </a:xfrm>
          <a:prstGeom prst="rect">
            <a:avLst/>
          </a:prstGeom>
        </p:spPr>
      </p:pic>
      <p:sp>
        <p:nvSpPr>
          <p:cNvPr id="8" name="TextBox 7"/>
          <p:cNvSpPr txBox="1"/>
          <p:nvPr/>
        </p:nvSpPr>
        <p:spPr>
          <a:xfrm>
            <a:off x="457200" y="5303520"/>
            <a:ext cx="11274552" cy="731520"/>
          </a:xfrm>
          <a:prstGeom prst="rect">
            <a:avLst/>
          </a:prstGeom>
          <a:noFill/>
        </p:spPr>
        <p:txBody>
          <a:bodyPr wrap="square" lIns="0" tIns="0" bIns="0" rIns="0">
            <a:spAutoFit/>
          </a:bodyPr>
          <a:lstStyle/>
          <a:p>
            <a:pPr>
              <a:spcAft>
                <a:spcPts val="200"/>
              </a:spcAft>
              <a:defRPr sz="1100" b="1">
                <a:solidFill>
                  <a:srgbClr val="172544"/>
                </a:solidFill>
              </a:defRPr>
            </a:pPr>
            <a:r>
              <a:t>INSIGHTS FROM DATA VISUALIZATION:</a:t>
            </a:r>
          </a:p>
          <a:p>
            <a:pPr>
              <a:defRPr sz="1050">
                <a:solidFill>
                  <a:srgbClr val="212529"/>
                </a:solidFill>
                <a:latin typeface="Calibri"/>
              </a:defRPr>
            </a:pPr>
            <a:r>
              <a:t>• Left Bar Chart: Displays severe class imbalance (the top 10 categories account for the majority of the dataset). This necessitates macro-F1 and class weighting. • Right Word Cloud: Highlights the dominance of common legal terms ('shall', 'agreement', 'party', 'confidential'). This justifies why bigrams and TF-IDF are used to capture specific contexts and down-weight boilerplate terms. • Python Libraries Used: Matplotlib, Seaborn, and WordCloud.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9</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MACHINE LEARNING ALGORITHMS</a:t>
            </a:r>
          </a:p>
          <a:p>
            <a:pPr>
              <a:spcBef>
                <a:spcPts val="400"/>
              </a:spcBef>
              <a:defRPr sz="1300" i="1">
                <a:solidFill>
                  <a:srgbClr val="3C5A82"/>
                </a:solidFill>
                <a:latin typeface="Calibri"/>
              </a:defRPr>
            </a:pPr>
            <a:r>
              <a:t>Working Principles and Selections for Classification</a:t>
            </a:r>
          </a:p>
        </p:txBody>
      </p:sp>
      <p:sp>
        <p:nvSpPr>
          <p:cNvPr id="6" name="Rounded Rectangle 5"/>
          <p:cNvSpPr/>
          <p:nvPr/>
        </p:nvSpPr>
        <p:spPr>
          <a:xfrm>
            <a:off x="457200" y="1645920"/>
            <a:ext cx="265176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783080"/>
            <a:ext cx="2377440" cy="3840480"/>
          </a:xfrm>
          <a:prstGeom prst="rect">
            <a:avLst/>
          </a:prstGeom>
          <a:noFill/>
        </p:spPr>
        <p:txBody>
          <a:bodyPr wrap="square" lIns="0" tIns="0" bIns="0" rIns="0">
            <a:spAutoFit/>
          </a:bodyPr>
          <a:lstStyle/>
          <a:p>
            <a:pPr>
              <a:spcAft>
                <a:spcPts val="600"/>
              </a:spcAft>
              <a:defRPr sz="1400" b="1">
                <a:solidFill>
                  <a:srgbClr val="1EA0F0"/>
                </a:solidFill>
                <a:latin typeface="Trebuchet MS"/>
              </a:defRPr>
            </a:pPr>
            <a:r>
              <a:t>1. Logistic Regression</a:t>
            </a:r>
          </a:p>
          <a:p>
            <a:pPr>
              <a:spcAft>
                <a:spcPts val="400"/>
              </a:spcAft>
              <a:defRPr sz="1100">
                <a:solidFill>
                  <a:srgbClr val="212529"/>
                </a:solidFill>
                <a:latin typeface="Calibri"/>
              </a:defRPr>
            </a:pPr>
            <a:r>
              <a:t>• Working: Fits a linear boundary using the Softmax function for multi-class classification.</a:t>
            </a:r>
          </a:p>
          <a:p>
            <a:pPr>
              <a:spcAft>
                <a:spcPts val="400"/>
              </a:spcAft>
              <a:defRPr sz="1100">
                <a:solidFill>
                  <a:srgbClr val="212529"/>
                </a:solidFill>
                <a:latin typeface="Calibri"/>
              </a:defRPr>
            </a:pPr>
            <a:r>
              <a:t>• Advantages: Fast training, handles high dimensions, provides probability scores (confidence).</a:t>
            </a:r>
          </a:p>
          <a:p>
            <a:pPr>
              <a:spcAft>
                <a:spcPts val="400"/>
              </a:spcAft>
              <a:defRPr sz="1100">
                <a:solidFill>
                  <a:srgbClr val="212529"/>
                </a:solidFill>
                <a:latin typeface="Calibri"/>
              </a:defRPr>
            </a:pPr>
            <a:r>
              <a:t>• Disadvantages: Assumes linear decision boundary.</a:t>
            </a:r>
          </a:p>
          <a:p>
            <a:pPr>
              <a:spcAft>
                <a:spcPts val="400"/>
              </a:spcAft>
              <a:defRPr sz="1100">
                <a:solidFill>
                  <a:srgbClr val="212529"/>
                </a:solidFill>
                <a:latin typeface="Calibri"/>
              </a:defRPr>
            </a:pPr>
            <a:r>
              <a:t>• Why Selected: Strong baseline that outputs classification confidence.</a:t>
            </a:r>
          </a:p>
        </p:txBody>
      </p:sp>
      <p:sp>
        <p:nvSpPr>
          <p:cNvPr id="8" name="Rounded Rectangle 7"/>
          <p:cNvSpPr/>
          <p:nvPr/>
        </p:nvSpPr>
        <p:spPr>
          <a:xfrm>
            <a:off x="3291840" y="1645920"/>
            <a:ext cx="265176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1783080"/>
            <a:ext cx="2377440" cy="3840480"/>
          </a:xfrm>
          <a:prstGeom prst="rect">
            <a:avLst/>
          </a:prstGeom>
          <a:noFill/>
        </p:spPr>
        <p:txBody>
          <a:bodyPr wrap="square" lIns="0" tIns="0" bIns="0" rIns="0">
            <a:spAutoFit/>
          </a:bodyPr>
          <a:lstStyle/>
          <a:p>
            <a:pPr>
              <a:spcAft>
                <a:spcPts val="600"/>
              </a:spcAft>
              <a:defRPr sz="1400" b="1">
                <a:solidFill>
                  <a:srgbClr val="1EA0F0"/>
                </a:solidFill>
                <a:latin typeface="Trebuchet MS"/>
              </a:defRPr>
            </a:pPr>
            <a:r>
              <a:t>2. Support Vector Machine</a:t>
            </a:r>
          </a:p>
          <a:p>
            <a:pPr>
              <a:spcAft>
                <a:spcPts val="400"/>
              </a:spcAft>
              <a:defRPr sz="1100">
                <a:solidFill>
                  <a:srgbClr val="212529"/>
                </a:solidFill>
                <a:latin typeface="Calibri"/>
              </a:defRPr>
            </a:pPr>
            <a:r>
              <a:t>• Working: Finds the maximum-margin separating hyperplanes using a Linear Kernel in a One-vs-Rest setup.</a:t>
            </a:r>
          </a:p>
          <a:p>
            <a:pPr>
              <a:spcAft>
                <a:spcPts val="400"/>
              </a:spcAft>
              <a:defRPr sz="1100">
                <a:solidFill>
                  <a:srgbClr val="212529"/>
                </a:solidFill>
                <a:latin typeface="Calibri"/>
              </a:defRPr>
            </a:pPr>
            <a:r>
              <a:t>• Advantages: Highly effective in high-dimensional text classification (sparse TF-IDF vectors).</a:t>
            </a:r>
          </a:p>
          <a:p>
            <a:pPr>
              <a:spcAft>
                <a:spcPts val="400"/>
              </a:spcAft>
              <a:defRPr sz="1100">
                <a:solidFill>
                  <a:srgbClr val="212529"/>
                </a:solidFill>
                <a:latin typeface="Calibri"/>
              </a:defRPr>
            </a:pPr>
            <a:r>
              <a:t>• Disadvantages: High training latency on large datasets.</a:t>
            </a:r>
          </a:p>
          <a:p>
            <a:pPr>
              <a:spcAft>
                <a:spcPts val="400"/>
              </a:spcAft>
              <a:defRPr sz="1100">
                <a:solidFill>
                  <a:srgbClr val="212529"/>
                </a:solidFill>
                <a:latin typeface="Calibri"/>
              </a:defRPr>
            </a:pPr>
            <a:r>
              <a:t>• Why Selected: Linear classifiers perform exceptionally well on sparse text data.</a:t>
            </a:r>
          </a:p>
        </p:txBody>
      </p:sp>
      <p:sp>
        <p:nvSpPr>
          <p:cNvPr id="10" name="Rounded Rectangle 9"/>
          <p:cNvSpPr/>
          <p:nvPr/>
        </p:nvSpPr>
        <p:spPr>
          <a:xfrm>
            <a:off x="6126480" y="1645920"/>
            <a:ext cx="265176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783080"/>
            <a:ext cx="2377440" cy="3840480"/>
          </a:xfrm>
          <a:prstGeom prst="rect">
            <a:avLst/>
          </a:prstGeom>
          <a:noFill/>
        </p:spPr>
        <p:txBody>
          <a:bodyPr wrap="square" lIns="0" tIns="0" bIns="0" rIns="0">
            <a:spAutoFit/>
          </a:bodyPr>
          <a:lstStyle/>
          <a:p>
            <a:pPr>
              <a:spcAft>
                <a:spcPts val="600"/>
              </a:spcAft>
              <a:defRPr sz="1400" b="1">
                <a:solidFill>
                  <a:srgbClr val="1EA0F0"/>
                </a:solidFill>
                <a:latin typeface="Trebuchet MS"/>
              </a:defRPr>
            </a:pPr>
            <a:r>
              <a:t>3. Multinomial Naive Bayes</a:t>
            </a:r>
          </a:p>
          <a:p>
            <a:pPr>
              <a:spcAft>
                <a:spcPts val="400"/>
              </a:spcAft>
              <a:defRPr sz="1100">
                <a:solidFill>
                  <a:srgbClr val="212529"/>
                </a:solidFill>
                <a:latin typeface="Calibri"/>
              </a:defRPr>
            </a:pPr>
            <a:r>
              <a:t>• Working: Probabilistic classifier using Bayes' Theorem with feature independence assumption.</a:t>
            </a:r>
          </a:p>
          <a:p>
            <a:pPr>
              <a:spcAft>
                <a:spcPts val="400"/>
              </a:spcAft>
              <a:defRPr sz="1100">
                <a:solidFill>
                  <a:srgbClr val="212529"/>
                </a:solidFill>
                <a:latin typeface="Calibri"/>
              </a:defRPr>
            </a:pPr>
            <a:r>
              <a:t>• Advantages: Extremely fast to train, low memory, handles sparse feature vectors.</a:t>
            </a:r>
          </a:p>
          <a:p>
            <a:pPr>
              <a:spcAft>
                <a:spcPts val="400"/>
              </a:spcAft>
              <a:defRPr sz="1100">
                <a:solidFill>
                  <a:srgbClr val="212529"/>
                </a:solidFill>
                <a:latin typeface="Calibri"/>
              </a:defRPr>
            </a:pPr>
            <a:r>
              <a:t>• Disadvantages: Assumption of independent word frequencies is unrealistic.</a:t>
            </a:r>
          </a:p>
          <a:p>
            <a:pPr>
              <a:spcAft>
                <a:spcPts val="400"/>
              </a:spcAft>
              <a:defRPr sz="1100">
                <a:solidFill>
                  <a:srgbClr val="212529"/>
                </a:solidFill>
                <a:latin typeface="Calibri"/>
              </a:defRPr>
            </a:pPr>
            <a:r>
              <a:t>• Why Selected: Traditional baseline for text classification tasks.</a:t>
            </a:r>
          </a:p>
        </p:txBody>
      </p:sp>
      <p:sp>
        <p:nvSpPr>
          <p:cNvPr id="12" name="Rounded Rectangle 11"/>
          <p:cNvSpPr/>
          <p:nvPr/>
        </p:nvSpPr>
        <p:spPr>
          <a:xfrm>
            <a:off x="8961120" y="1645920"/>
            <a:ext cx="265176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98280" y="1783080"/>
            <a:ext cx="2377440" cy="3840480"/>
          </a:xfrm>
          <a:prstGeom prst="rect">
            <a:avLst/>
          </a:prstGeom>
          <a:noFill/>
        </p:spPr>
        <p:txBody>
          <a:bodyPr wrap="square" lIns="0" tIns="0" bIns="0" rIns="0">
            <a:spAutoFit/>
          </a:bodyPr>
          <a:lstStyle/>
          <a:p>
            <a:pPr>
              <a:spcAft>
                <a:spcPts val="600"/>
              </a:spcAft>
              <a:defRPr sz="1400" b="1">
                <a:solidFill>
                  <a:srgbClr val="1EA0F0"/>
                </a:solidFill>
                <a:latin typeface="Trebuchet MS"/>
              </a:defRPr>
            </a:pPr>
            <a:r>
              <a:t>4. Random Forest</a:t>
            </a:r>
          </a:p>
          <a:p>
            <a:pPr>
              <a:spcAft>
                <a:spcPts val="400"/>
              </a:spcAft>
              <a:defRPr sz="1100">
                <a:solidFill>
                  <a:srgbClr val="212529"/>
                </a:solidFill>
                <a:latin typeface="Calibri"/>
              </a:defRPr>
            </a:pPr>
            <a:r>
              <a:t>• Working: Ensemble classifier that aggregates predictions from multiple decision trees.</a:t>
            </a:r>
          </a:p>
          <a:p>
            <a:pPr>
              <a:spcAft>
                <a:spcPts val="400"/>
              </a:spcAft>
              <a:defRPr sz="1100">
                <a:solidFill>
                  <a:srgbClr val="212529"/>
                </a:solidFill>
                <a:latin typeface="Calibri"/>
              </a:defRPr>
            </a:pPr>
            <a:r>
              <a:t>• Advantages: Non-linear relationships, robust to noisy terms.</a:t>
            </a:r>
          </a:p>
          <a:p>
            <a:pPr>
              <a:spcAft>
                <a:spcPts val="400"/>
              </a:spcAft>
              <a:defRPr sz="1100">
                <a:solidFill>
                  <a:srgbClr val="212529"/>
                </a:solidFill>
                <a:latin typeface="Calibri"/>
              </a:defRPr>
            </a:pPr>
            <a:r>
              <a:t>• Disadvantages: High memory footprint, slower inference.</a:t>
            </a:r>
          </a:p>
          <a:p>
            <a:pPr>
              <a:spcAft>
                <a:spcPts val="400"/>
              </a:spcAft>
              <a:defRPr sz="1100">
                <a:solidFill>
                  <a:srgbClr val="212529"/>
                </a:solidFill>
                <a:latin typeface="Calibri"/>
              </a:defRPr>
            </a:pPr>
            <a:r>
              <a:t>• Why Selected: Evaluates ensemble performance against linear models.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10</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ALGORITHMIC COMPARISON STRATEGY</a:t>
            </a:r>
          </a:p>
          <a:p>
            <a:pPr>
              <a:spcBef>
                <a:spcPts val="400"/>
              </a:spcBef>
              <a:defRPr sz="1300" i="1">
                <a:solidFill>
                  <a:srgbClr val="3C5A82"/>
                </a:solidFill>
                <a:latin typeface="Calibri"/>
              </a:defRPr>
            </a:pPr>
            <a:r>
              <a:t>Comparative Parameters and Scientific Rationale</a:t>
            </a:r>
          </a:p>
        </p:txBody>
      </p:sp>
      <p:graphicFrame>
        <p:nvGraphicFramePr>
          <p:cNvPr id="6" name="Table 5"/>
          <p:cNvGraphicFramePr>
            <a:graphicFrameLocks noGrp="1"/>
          </p:cNvGraphicFramePr>
          <p:nvPr/>
        </p:nvGraphicFramePr>
        <p:xfrm>
          <a:off x="457200" y="1645920"/>
          <a:ext cx="11274552" cy="2926080"/>
        </p:xfrm>
        <a:graphic>
          <a:graphicData uri="http://schemas.openxmlformats.org/drawingml/2006/table">
            <a:tbl>
              <a:tblPr firstRow="1" bandRow="1">
                <a:tableStyleId>{5C22544A-7EE6-4342-B048-85BDC9FD1C3A}</a:tableStyleId>
              </a:tblPr>
              <a:tblGrid>
                <a:gridCol w="2011680"/>
                <a:gridCol w="1828800"/>
                <a:gridCol w="1645920"/>
                <a:gridCol w="2011680"/>
                <a:gridCol w="1645920"/>
                <a:gridCol w="2130552"/>
              </a:tblGrid>
              <a:tr h="585216">
                <a:tc>
                  <a:txBody>
                    <a:bodyPr wrap="square" lIns="73152" tIns="73152" bIns="73152" rIns="73152"/>
                    <a:lstStyle/>
                    <a:p>
                      <a:pPr algn="ctr">
                        <a:defRPr sz="950" b="1">
                          <a:solidFill>
                            <a:srgbClr val="FFFFFF"/>
                          </a:solidFill>
                          <a:latin typeface="Calibri"/>
                        </a:defRPr>
                      </a:pPr>
                      <a:r>
                        <a:t>Algorithm</a:t>
                      </a:r>
                    </a:p>
                  </a:txBody>
                  <a:tcPr>
                    <a:solidFill>
                      <a:srgbClr val="172544"/>
                    </a:solidFill>
                  </a:tcPr>
                </a:tc>
                <a:tc>
                  <a:txBody>
                    <a:bodyPr wrap="square" lIns="73152" tIns="73152" bIns="73152" rIns="73152"/>
                    <a:lstStyle/>
                    <a:p>
                      <a:pPr algn="ctr">
                        <a:defRPr sz="950" b="1">
                          <a:solidFill>
                            <a:srgbClr val="FFFFFF"/>
                          </a:solidFill>
                          <a:latin typeface="Calibri"/>
                        </a:defRPr>
                      </a:pPr>
                      <a:r>
                        <a:t>Training Speed</a:t>
                      </a:r>
                    </a:p>
                  </a:txBody>
                  <a:tcPr>
                    <a:solidFill>
                      <a:srgbClr val="172544"/>
                    </a:solidFill>
                  </a:tcPr>
                </a:tc>
                <a:tc>
                  <a:txBody>
                    <a:bodyPr wrap="square" lIns="73152" tIns="73152" bIns="73152" rIns="73152"/>
                    <a:lstStyle/>
                    <a:p>
                      <a:pPr algn="ctr">
                        <a:defRPr sz="950" b="1">
                          <a:solidFill>
                            <a:srgbClr val="FFFFFF"/>
                          </a:solidFill>
                          <a:latin typeface="Calibri"/>
                        </a:defRPr>
                      </a:pPr>
                      <a:r>
                        <a:t>Accuracy</a:t>
                      </a:r>
                    </a:p>
                  </a:txBody>
                  <a:tcPr>
                    <a:solidFill>
                      <a:srgbClr val="172544"/>
                    </a:solidFill>
                  </a:tcPr>
                </a:tc>
                <a:tc>
                  <a:txBody>
                    <a:bodyPr wrap="square" lIns="73152" tIns="73152" bIns="73152" rIns="73152"/>
                    <a:lstStyle/>
                    <a:p>
                      <a:pPr algn="ctr">
                        <a:defRPr sz="950" b="1">
                          <a:solidFill>
                            <a:srgbClr val="FFFFFF"/>
                          </a:solidFill>
                          <a:latin typeface="Calibri"/>
                        </a:defRPr>
                      </a:pPr>
                      <a:r>
                        <a:t>Interpretability</a:t>
                      </a:r>
                    </a:p>
                  </a:txBody>
                  <a:tcPr>
                    <a:solidFill>
                      <a:srgbClr val="172544"/>
                    </a:solidFill>
                  </a:tcPr>
                </a:tc>
                <a:tc>
                  <a:txBody>
                    <a:bodyPr wrap="square" lIns="73152" tIns="73152" bIns="73152" rIns="73152"/>
                    <a:lstStyle/>
                    <a:p>
                      <a:pPr algn="ctr">
                        <a:defRPr sz="950" b="1">
                          <a:solidFill>
                            <a:srgbClr val="FFFFFF"/>
                          </a:solidFill>
                          <a:latin typeface="Calibri"/>
                        </a:defRPr>
                      </a:pPr>
                      <a:r>
                        <a:t>Memory Usage</a:t>
                      </a:r>
                    </a:p>
                  </a:txBody>
                  <a:tcPr>
                    <a:solidFill>
                      <a:srgbClr val="172544"/>
                    </a:solidFill>
                  </a:tcPr>
                </a:tc>
                <a:tc>
                  <a:txBody>
                    <a:bodyPr wrap="square" lIns="73152" tIns="73152" bIns="73152" rIns="73152"/>
                    <a:lstStyle/>
                    <a:p>
                      <a:pPr algn="ctr">
                        <a:defRPr sz="950" b="1">
                          <a:solidFill>
                            <a:srgbClr val="FFFFFF"/>
                          </a:solidFill>
                          <a:latin typeface="Calibri"/>
                        </a:defRPr>
                      </a:pPr>
                      <a:r>
                        <a:t>Best Use Case</a:t>
                      </a:r>
                    </a:p>
                  </a:txBody>
                  <a:tcPr>
                    <a:solidFill>
                      <a:srgbClr val="172544"/>
                    </a:solidFill>
                  </a:tcPr>
                </a:tc>
              </a:tr>
              <a:tr h="585216">
                <a:tc>
                  <a:txBody>
                    <a:bodyPr wrap="square" lIns="73152" tIns="73152" bIns="73152" rIns="73152"/>
                    <a:lstStyle/>
                    <a:p>
                      <a:pPr>
                        <a:defRPr sz="950" b="1">
                          <a:solidFill>
                            <a:srgbClr val="212529"/>
                          </a:solidFill>
                          <a:latin typeface="Calibri"/>
                        </a:defRPr>
                      </a:pPr>
                      <a:r>
                        <a:t>Multinomial Naive Bayes</a:t>
                      </a:r>
                    </a:p>
                  </a:txBody>
                  <a:tcPr>
                    <a:solidFill>
                      <a:srgbClr val="E6EBF5"/>
                    </a:solidFill>
                  </a:tcPr>
                </a:tc>
                <a:tc>
                  <a:txBody>
                    <a:bodyPr wrap="square" lIns="73152" tIns="73152" bIns="73152" rIns="73152"/>
                    <a:lstStyle/>
                    <a:p>
                      <a:pPr>
                        <a:defRPr sz="950">
                          <a:solidFill>
                            <a:srgbClr val="212529"/>
                          </a:solidFill>
                          <a:latin typeface="Calibri"/>
                        </a:defRPr>
                      </a:pPr>
                      <a:r>
                        <a:t>Extremely Fast</a:t>
                      </a:r>
                    </a:p>
                  </a:txBody>
                  <a:tcPr>
                    <a:solidFill>
                      <a:srgbClr val="E6EBF5"/>
                    </a:solidFill>
                  </a:tcPr>
                </a:tc>
                <a:tc>
                  <a:txBody>
                    <a:bodyPr wrap="square" lIns="73152" tIns="73152" bIns="73152" rIns="73152"/>
                    <a:lstStyle/>
                    <a:p>
                      <a:pPr>
                        <a:defRPr sz="950">
                          <a:solidFill>
                            <a:srgbClr val="212529"/>
                          </a:solidFill>
                          <a:latin typeface="Calibri"/>
                        </a:defRPr>
                      </a:pPr>
                      <a:r>
                        <a:t>Moderate</a:t>
                      </a:r>
                    </a:p>
                  </a:txBody>
                  <a:tcPr>
                    <a:solidFill>
                      <a:srgbClr val="E6EBF5"/>
                    </a:solidFill>
                  </a:tcPr>
                </a:tc>
                <a:tc>
                  <a:txBody>
                    <a:bodyPr wrap="square" lIns="73152" tIns="73152" bIns="73152" rIns="73152"/>
                    <a:lstStyle/>
                    <a:p>
                      <a:pPr>
                        <a:defRPr sz="950">
                          <a:solidFill>
                            <a:srgbClr val="212529"/>
                          </a:solidFill>
                          <a:latin typeface="Calibri"/>
                        </a:defRPr>
                      </a:pPr>
                      <a:r>
                        <a:t>Very High (Probabilities)</a:t>
                      </a:r>
                    </a:p>
                  </a:txBody>
                  <a:tcPr>
                    <a:solidFill>
                      <a:srgbClr val="E6EBF5"/>
                    </a:solidFill>
                  </a:tcPr>
                </a:tc>
                <a:tc>
                  <a:txBody>
                    <a:bodyPr wrap="square" lIns="73152" tIns="73152" bIns="73152" rIns="73152"/>
                    <a:lstStyle/>
                    <a:p>
                      <a:pPr>
                        <a:defRPr sz="950">
                          <a:solidFill>
                            <a:srgbClr val="212529"/>
                          </a:solidFill>
                          <a:latin typeface="Calibri"/>
                        </a:defRPr>
                      </a:pPr>
                      <a:r>
                        <a:t>Extremely Low</a:t>
                      </a:r>
                    </a:p>
                  </a:txBody>
                  <a:tcPr>
                    <a:solidFill>
                      <a:srgbClr val="E6EBF5"/>
                    </a:solidFill>
                  </a:tcPr>
                </a:tc>
                <a:tc>
                  <a:txBody>
                    <a:bodyPr wrap="square" lIns="73152" tIns="73152" bIns="73152" rIns="73152"/>
                    <a:lstStyle/>
                    <a:p>
                      <a:pPr>
                        <a:defRPr sz="950">
                          <a:solidFill>
                            <a:srgbClr val="212529"/>
                          </a:solidFill>
                          <a:latin typeface="Calibri"/>
                        </a:defRPr>
                      </a:pPr>
                      <a:r>
                        <a:t>Lightweight Baseline</a:t>
                      </a:r>
                    </a:p>
                  </a:txBody>
                  <a:tcPr>
                    <a:solidFill>
                      <a:srgbClr val="E6EBF5"/>
                    </a:solidFill>
                  </a:tcPr>
                </a:tc>
              </a:tr>
              <a:tr h="585216">
                <a:tc>
                  <a:txBody>
                    <a:bodyPr wrap="square" lIns="73152" tIns="73152" bIns="73152" rIns="73152"/>
                    <a:lstStyle/>
                    <a:p>
                      <a:pPr>
                        <a:defRPr sz="950" b="1">
                          <a:solidFill>
                            <a:srgbClr val="212529"/>
                          </a:solidFill>
                          <a:latin typeface="Calibri"/>
                        </a:defRPr>
                      </a:pPr>
                      <a:r>
                        <a:t>Linear SVM</a:t>
                      </a:r>
                    </a:p>
                  </a:txBody>
                  <a:tcPr>
                    <a:solidFill>
                      <a:srgbClr val="FFFFFF"/>
                    </a:solidFill>
                  </a:tcPr>
                </a:tc>
                <a:tc>
                  <a:txBody>
                    <a:bodyPr wrap="square" lIns="73152" tIns="73152" bIns="73152" rIns="73152"/>
                    <a:lstStyle/>
                    <a:p>
                      <a:pPr>
                        <a:defRPr sz="950">
                          <a:solidFill>
                            <a:srgbClr val="212529"/>
                          </a:solidFill>
                          <a:latin typeface="Calibri"/>
                        </a:defRPr>
                      </a:pPr>
                      <a:r>
                        <a:t>Fast / Moderate</a:t>
                      </a:r>
                    </a:p>
                  </a:txBody>
                  <a:tcPr>
                    <a:solidFill>
                      <a:srgbClr val="FFFFFF"/>
                    </a:solidFill>
                  </a:tcPr>
                </a:tc>
                <a:tc>
                  <a:txBody>
                    <a:bodyPr wrap="square" lIns="73152" tIns="73152" bIns="73152" rIns="73152"/>
                    <a:lstStyle/>
                    <a:p>
                      <a:pPr>
                        <a:defRPr sz="950">
                          <a:solidFill>
                            <a:srgbClr val="212529"/>
                          </a:solidFill>
                          <a:latin typeface="Calibri"/>
                        </a:defRPr>
                      </a:pPr>
                      <a:r>
                        <a:t>Very High</a:t>
                      </a:r>
                    </a:p>
                  </a:txBody>
                  <a:tcPr>
                    <a:solidFill>
                      <a:srgbClr val="FFFFFF"/>
                    </a:solidFill>
                  </a:tcPr>
                </a:tc>
                <a:tc>
                  <a:txBody>
                    <a:bodyPr wrap="square" lIns="73152" tIns="73152" bIns="73152" rIns="73152"/>
                    <a:lstStyle/>
                    <a:p>
                      <a:pPr>
                        <a:defRPr sz="950">
                          <a:solidFill>
                            <a:srgbClr val="212529"/>
                          </a:solidFill>
                          <a:latin typeface="Calibri"/>
                        </a:defRPr>
                      </a:pPr>
                      <a:r>
                        <a:t>Moderate (Weights)</a:t>
                      </a:r>
                    </a:p>
                  </a:txBody>
                  <a:tcPr>
                    <a:solidFill>
                      <a:srgbClr val="FFFFFF"/>
                    </a:solidFill>
                  </a:tcPr>
                </a:tc>
                <a:tc>
                  <a:txBody>
                    <a:bodyPr wrap="square" lIns="73152" tIns="73152" bIns="73152" rIns="73152"/>
                    <a:lstStyle/>
                    <a:p>
                      <a:pPr>
                        <a:defRPr sz="950">
                          <a:solidFill>
                            <a:srgbClr val="212529"/>
                          </a:solidFill>
                          <a:latin typeface="Calibri"/>
                        </a:defRPr>
                      </a:pPr>
                      <a:r>
                        <a:t>Low</a:t>
                      </a:r>
                    </a:p>
                  </a:txBody>
                  <a:tcPr>
                    <a:solidFill>
                      <a:srgbClr val="FFFFFF"/>
                    </a:solidFill>
                  </a:tcPr>
                </a:tc>
                <a:tc>
                  <a:txBody>
                    <a:bodyPr wrap="square" lIns="73152" tIns="73152" bIns="73152" rIns="73152"/>
                    <a:lstStyle/>
                    <a:p>
                      <a:pPr>
                        <a:defRPr sz="950">
                          <a:solidFill>
                            <a:srgbClr val="212529"/>
                          </a:solidFill>
                          <a:latin typeface="Calibri"/>
                        </a:defRPr>
                      </a:pPr>
                      <a:r>
                        <a:t>Sparse High-Dim Text</a:t>
                      </a:r>
                    </a:p>
                  </a:txBody>
                  <a:tcPr>
                    <a:solidFill>
                      <a:srgbClr val="FFFFFF"/>
                    </a:solidFill>
                  </a:tcPr>
                </a:tc>
              </a:tr>
              <a:tr h="585216">
                <a:tc>
                  <a:txBody>
                    <a:bodyPr wrap="square" lIns="73152" tIns="73152" bIns="73152" rIns="73152"/>
                    <a:lstStyle/>
                    <a:p>
                      <a:pPr>
                        <a:defRPr sz="950" b="1">
                          <a:solidFill>
                            <a:srgbClr val="212529"/>
                          </a:solidFill>
                          <a:latin typeface="Calibri"/>
                        </a:defRPr>
                      </a:pPr>
                      <a:r>
                        <a:t>Logistic Regression</a:t>
                      </a:r>
                    </a:p>
                  </a:txBody>
                  <a:tcPr>
                    <a:solidFill>
                      <a:srgbClr val="E6EBF5"/>
                    </a:solidFill>
                  </a:tcPr>
                </a:tc>
                <a:tc>
                  <a:txBody>
                    <a:bodyPr wrap="square" lIns="73152" tIns="73152" bIns="73152" rIns="73152"/>
                    <a:lstStyle/>
                    <a:p>
                      <a:pPr>
                        <a:defRPr sz="950">
                          <a:solidFill>
                            <a:srgbClr val="212529"/>
                          </a:solidFill>
                          <a:latin typeface="Calibri"/>
                        </a:defRPr>
                      </a:pPr>
                      <a:r>
                        <a:t>Fast</a:t>
                      </a:r>
                    </a:p>
                  </a:txBody>
                  <a:tcPr>
                    <a:solidFill>
                      <a:srgbClr val="E6EBF5"/>
                    </a:solidFill>
                  </a:tcPr>
                </a:tc>
                <a:tc>
                  <a:txBody>
                    <a:bodyPr wrap="square" lIns="73152" tIns="73152" bIns="73152" rIns="73152"/>
                    <a:lstStyle/>
                    <a:p>
                      <a:pPr>
                        <a:defRPr sz="950">
                          <a:solidFill>
                            <a:srgbClr val="212529"/>
                          </a:solidFill>
                          <a:latin typeface="Calibri"/>
                        </a:defRPr>
                      </a:pPr>
                      <a:r>
                        <a:t>High</a:t>
                      </a:r>
                    </a:p>
                  </a:txBody>
                  <a:tcPr>
                    <a:solidFill>
                      <a:srgbClr val="E6EBF5"/>
                    </a:solidFill>
                  </a:tcPr>
                </a:tc>
                <a:tc>
                  <a:txBody>
                    <a:bodyPr wrap="square" lIns="73152" tIns="73152" bIns="73152" rIns="73152"/>
                    <a:lstStyle/>
                    <a:p>
                      <a:pPr>
                        <a:defRPr sz="950">
                          <a:solidFill>
                            <a:srgbClr val="212529"/>
                          </a:solidFill>
                          <a:latin typeface="Calibri"/>
                        </a:defRPr>
                      </a:pPr>
                      <a:r>
                        <a:t>High (Coefficients)</a:t>
                      </a:r>
                    </a:p>
                  </a:txBody>
                  <a:tcPr>
                    <a:solidFill>
                      <a:srgbClr val="E6EBF5"/>
                    </a:solidFill>
                  </a:tcPr>
                </a:tc>
                <a:tc>
                  <a:txBody>
                    <a:bodyPr wrap="square" lIns="73152" tIns="73152" bIns="73152" rIns="73152"/>
                    <a:lstStyle/>
                    <a:p>
                      <a:pPr>
                        <a:defRPr sz="950">
                          <a:solidFill>
                            <a:srgbClr val="212529"/>
                          </a:solidFill>
                          <a:latin typeface="Calibri"/>
                        </a:defRPr>
                      </a:pPr>
                      <a:r>
                        <a:t>Low</a:t>
                      </a:r>
                    </a:p>
                  </a:txBody>
                  <a:tcPr>
                    <a:solidFill>
                      <a:srgbClr val="E6EBF5"/>
                    </a:solidFill>
                  </a:tcPr>
                </a:tc>
                <a:tc>
                  <a:txBody>
                    <a:bodyPr wrap="square" lIns="73152" tIns="73152" bIns="73152" rIns="73152"/>
                    <a:lstStyle/>
                    <a:p>
                      <a:pPr>
                        <a:defRPr sz="950">
                          <a:solidFill>
                            <a:srgbClr val="212529"/>
                          </a:solidFill>
                          <a:latin typeface="Calibri"/>
                        </a:defRPr>
                      </a:pPr>
                      <a:r>
                        <a:t>Explainable Triage</a:t>
                      </a:r>
                    </a:p>
                  </a:txBody>
                  <a:tcPr>
                    <a:solidFill>
                      <a:srgbClr val="E6EBF5"/>
                    </a:solidFill>
                  </a:tcPr>
                </a:tc>
              </a:tr>
              <a:tr h="585216">
                <a:tc>
                  <a:txBody>
                    <a:bodyPr wrap="square" lIns="73152" tIns="73152" bIns="73152" rIns="73152"/>
                    <a:lstStyle/>
                    <a:p>
                      <a:pPr>
                        <a:defRPr sz="950" b="1">
                          <a:solidFill>
                            <a:srgbClr val="212529"/>
                          </a:solidFill>
                          <a:latin typeface="Calibri"/>
                        </a:defRPr>
                      </a:pPr>
                      <a:r>
                        <a:t>Random Forest</a:t>
                      </a:r>
                    </a:p>
                  </a:txBody>
                  <a:tcPr>
                    <a:solidFill>
                      <a:srgbClr val="FFFFFF"/>
                    </a:solidFill>
                  </a:tcPr>
                </a:tc>
                <a:tc>
                  <a:txBody>
                    <a:bodyPr wrap="square" lIns="73152" tIns="73152" bIns="73152" rIns="73152"/>
                    <a:lstStyle/>
                    <a:p>
                      <a:pPr>
                        <a:defRPr sz="950">
                          <a:solidFill>
                            <a:srgbClr val="212529"/>
                          </a:solidFill>
                          <a:latin typeface="Calibri"/>
                        </a:defRPr>
                      </a:pPr>
                      <a:r>
                        <a:t>Slow</a:t>
                      </a:r>
                    </a:p>
                  </a:txBody>
                  <a:tcPr>
                    <a:solidFill>
                      <a:srgbClr val="FFFFFF"/>
                    </a:solidFill>
                  </a:tcPr>
                </a:tc>
                <a:tc>
                  <a:txBody>
                    <a:bodyPr wrap="square" lIns="73152" tIns="73152" bIns="73152" rIns="73152"/>
                    <a:lstStyle/>
                    <a:p>
                      <a:pPr>
                        <a:defRPr sz="950">
                          <a:solidFill>
                            <a:srgbClr val="212529"/>
                          </a:solidFill>
                          <a:latin typeface="Calibri"/>
                        </a:defRPr>
                      </a:pPr>
                      <a:r>
                        <a:t>Moderate-High</a:t>
                      </a:r>
                    </a:p>
                  </a:txBody>
                  <a:tcPr>
                    <a:solidFill>
                      <a:srgbClr val="FFFFFF"/>
                    </a:solidFill>
                  </a:tcPr>
                </a:tc>
                <a:tc>
                  <a:txBody>
                    <a:bodyPr wrap="square" lIns="73152" tIns="73152" bIns="73152" rIns="73152"/>
                    <a:lstStyle/>
                    <a:p>
                      <a:pPr>
                        <a:defRPr sz="950">
                          <a:solidFill>
                            <a:srgbClr val="212529"/>
                          </a:solidFill>
                          <a:latin typeface="Calibri"/>
                        </a:defRPr>
                      </a:pPr>
                      <a:r>
                        <a:t>Moderate (Feature Importance)</a:t>
                      </a:r>
                    </a:p>
                  </a:txBody>
                  <a:tcPr>
                    <a:solidFill>
                      <a:srgbClr val="FFFFFF"/>
                    </a:solidFill>
                  </a:tcPr>
                </a:tc>
                <a:tc>
                  <a:txBody>
                    <a:bodyPr wrap="square" lIns="73152" tIns="73152" bIns="73152" rIns="73152"/>
                    <a:lstStyle/>
                    <a:p>
                      <a:pPr>
                        <a:defRPr sz="950">
                          <a:solidFill>
                            <a:srgbClr val="212529"/>
                          </a:solidFill>
                          <a:latin typeface="Calibri"/>
                        </a:defRPr>
                      </a:pPr>
                      <a:r>
                        <a:t>High</a:t>
                      </a:r>
                    </a:p>
                  </a:txBody>
                  <a:tcPr>
                    <a:solidFill>
                      <a:srgbClr val="FFFFFF"/>
                    </a:solidFill>
                  </a:tcPr>
                </a:tc>
                <a:tc>
                  <a:txBody>
                    <a:bodyPr wrap="square" lIns="73152" tIns="73152" bIns="73152" rIns="73152"/>
                    <a:lstStyle/>
                    <a:p>
                      <a:pPr>
                        <a:defRPr sz="950">
                          <a:solidFill>
                            <a:srgbClr val="212529"/>
                          </a:solidFill>
                          <a:latin typeface="Calibri"/>
                        </a:defRPr>
                      </a:pPr>
                      <a:r>
                        <a:t>Non-linear Ensembles</a:t>
                      </a:r>
                    </a:p>
                  </a:txBody>
                  <a:tcPr>
                    <a:solidFill>
                      <a:srgbClr val="FFFFFF"/>
                    </a:solidFill>
                  </a:tcPr>
                </a:tc>
              </a:tr>
            </a:tbl>
          </a:graphicData>
        </a:graphic>
      </p:graphicFrame>
      <p:sp>
        <p:nvSpPr>
          <p:cNvPr id="7" name="TextBox 6"/>
          <p:cNvSpPr txBox="1"/>
          <p:nvPr/>
        </p:nvSpPr>
        <p:spPr>
          <a:xfrm>
            <a:off x="457200" y="4663440"/>
            <a:ext cx="11274552" cy="1371600"/>
          </a:xfrm>
          <a:prstGeom prst="rect">
            <a:avLst/>
          </a:prstGeom>
          <a:noFill/>
        </p:spPr>
        <p:txBody>
          <a:bodyPr wrap="square" lIns="0" tIns="0" bIns="0" rIns="0">
            <a:spAutoFit/>
          </a:bodyPr>
          <a:lstStyle/>
          <a:p>
            <a:pPr>
              <a:spcAft>
                <a:spcPts val="600"/>
              </a:spcAft>
              <a:defRPr sz="1400" b="1">
                <a:solidFill>
                  <a:srgbClr val="1EA0F0"/>
                </a:solidFill>
                <a:latin typeface="Trebuchet MS"/>
              </a:defRPr>
            </a:pPr>
            <a:r>
              <a:t>Scientific Rationale for Model Comparison</a:t>
            </a:r>
          </a:p>
          <a:p>
            <a:pPr>
              <a:spcAft>
                <a:spcPts val="400"/>
              </a:spcAft>
              <a:defRPr sz="1100">
                <a:solidFill>
                  <a:srgbClr val="212529"/>
                </a:solidFill>
                <a:latin typeface="Calibri"/>
              </a:defRPr>
            </a:pPr>
            <a:r>
              <a:t>• High-Dimensional Separability: Text classification features are high-dimensional and sparse. Linear models (SVM, Logistic Regression) typically outperform non-linear tree-based ensembles (Random Forest) because they find cleaner decision boundaries.</a:t>
            </a:r>
          </a:p>
          <a:p>
            <a:pPr>
              <a:spcAft>
                <a:spcPts val="400"/>
              </a:spcAft>
              <a:defRPr sz="1100">
                <a:solidFill>
                  <a:srgbClr val="212529"/>
                </a:solidFill>
                <a:latin typeface="Calibri"/>
              </a:defRPr>
            </a:pPr>
            <a:r>
              <a:t>• Computational Constraints: The system is designed to run locally. We compare models on memory footprint and inference speed to select the best option for desktop deployment.</a:t>
            </a:r>
          </a:p>
          <a:p>
            <a:pPr>
              <a:spcAft>
                <a:spcPts val="400"/>
              </a:spcAft>
              <a:defRPr sz="1100">
                <a:solidFill>
                  <a:srgbClr val="212529"/>
                </a:solidFill>
                <a:latin typeface="Calibri"/>
              </a:defRPr>
            </a:pPr>
            <a:r>
              <a:t>• Interpretability: Lawyers require explainable predictions. Comparing Naive Bayes and Logistic Regression allows us to analyze feature coefficients to explain predictions.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11</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SYSTEM FLOWCHART</a:t>
            </a:r>
          </a:p>
          <a:p>
            <a:pPr>
              <a:spcBef>
                <a:spcPts val="400"/>
              </a:spcBef>
              <a:defRPr sz="1300" i="1">
                <a:solidFill>
                  <a:srgbClr val="3C5A82"/>
                </a:solidFill>
                <a:latin typeface="Calibri"/>
              </a:defRPr>
            </a:pPr>
            <a:r>
              <a:t>Functional Diagram of User Interactions and Pipeline Execution</a:t>
            </a:r>
          </a:p>
        </p:txBody>
      </p:sp>
      <p:sp>
        <p:nvSpPr>
          <p:cNvPr id="6" name="Rounded Rectangle 5"/>
          <p:cNvSpPr/>
          <p:nvPr/>
        </p:nvSpPr>
        <p:spPr>
          <a:xfrm>
            <a:off x="457200" y="2926080"/>
            <a:ext cx="1463040" cy="731520"/>
          </a:xfrm>
          <a:prstGeom prst="roundRect">
            <a:avLst/>
          </a:prstGeom>
          <a:solidFill>
            <a:srgbClr val="172544"/>
          </a:solidFill>
          <a:ln>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 PDF Upload</a:t>
            </a:r>
          </a:p>
        </p:txBody>
      </p:sp>
      <p:sp>
        <p:nvSpPr>
          <p:cNvPr id="7" name="Right Arrow 6"/>
          <p:cNvSpPr/>
          <p:nvPr/>
        </p:nvSpPr>
        <p:spPr>
          <a:xfrm>
            <a:off x="1920240" y="3154680"/>
            <a:ext cx="365760" cy="27432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286000" y="2926080"/>
            <a:ext cx="1463040" cy="731520"/>
          </a:xfrm>
          <a:prstGeom prst="roundRect">
            <a:avLst/>
          </a:prstGeom>
          <a:solidFill>
            <a:srgbClr val="172544"/>
          </a:solidFill>
          <a:ln>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 Text Extraction</a:t>
            </a:r>
          </a:p>
        </p:txBody>
      </p:sp>
      <p:sp>
        <p:nvSpPr>
          <p:cNvPr id="9" name="Right Arrow 8"/>
          <p:cNvSpPr/>
          <p:nvPr/>
        </p:nvSpPr>
        <p:spPr>
          <a:xfrm>
            <a:off x="3749040" y="3154680"/>
            <a:ext cx="365760" cy="27432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2926080"/>
            <a:ext cx="1463040" cy="731520"/>
          </a:xfrm>
          <a:prstGeom prst="roundRect">
            <a:avLst/>
          </a:prstGeom>
          <a:solidFill>
            <a:srgbClr val="172544"/>
          </a:solidFill>
          <a:ln>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 Clause Segmentation</a:t>
            </a:r>
          </a:p>
        </p:txBody>
      </p:sp>
      <p:sp>
        <p:nvSpPr>
          <p:cNvPr id="11" name="Right Arrow 10"/>
          <p:cNvSpPr/>
          <p:nvPr/>
        </p:nvSpPr>
        <p:spPr>
          <a:xfrm>
            <a:off x="5577840" y="3154680"/>
            <a:ext cx="365760" cy="27432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0" y="2926080"/>
            <a:ext cx="1463040" cy="731520"/>
          </a:xfrm>
          <a:prstGeom prst="roundRect">
            <a:avLst/>
          </a:prstGeom>
          <a:solidFill>
            <a:srgbClr val="172544"/>
          </a:solidFill>
          <a:ln>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 Data Cleaning</a:t>
            </a:r>
          </a:p>
        </p:txBody>
      </p:sp>
      <p:sp>
        <p:nvSpPr>
          <p:cNvPr id="13" name="Right Arrow 12"/>
          <p:cNvSpPr/>
          <p:nvPr/>
        </p:nvSpPr>
        <p:spPr>
          <a:xfrm>
            <a:off x="7406640" y="3154680"/>
            <a:ext cx="365760" cy="27432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72400" y="2926080"/>
            <a:ext cx="1463040" cy="731520"/>
          </a:xfrm>
          <a:prstGeom prst="roundRect">
            <a:avLst/>
          </a:prstGeom>
          <a:solidFill>
            <a:srgbClr val="172544"/>
          </a:solidFill>
          <a:ln>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5. TF-IDF Extraction</a:t>
            </a:r>
          </a:p>
        </p:txBody>
      </p:sp>
      <p:sp>
        <p:nvSpPr>
          <p:cNvPr id="15" name="Up Arrow 14"/>
          <p:cNvSpPr/>
          <p:nvPr/>
        </p:nvSpPr>
        <p:spPr>
          <a:xfrm>
            <a:off x="8412480" y="2468880"/>
            <a:ext cx="274320" cy="365760"/>
          </a:xfrm>
          <a:prstGeom prst="up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wn Arrow 15"/>
          <p:cNvSpPr/>
          <p:nvPr/>
        </p:nvSpPr>
        <p:spPr>
          <a:xfrm>
            <a:off x="8412480" y="3749039"/>
            <a:ext cx="274320" cy="365760"/>
          </a:xfrm>
          <a:prstGeom prst="down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200" y="2011680"/>
            <a:ext cx="1645920" cy="731520"/>
          </a:xfrm>
          <a:prstGeom prst="roundRect">
            <a:avLst/>
          </a:prstGeom>
          <a:solidFill>
            <a:srgbClr val="3C5A82"/>
          </a:solidFill>
          <a:ln>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6. ML Classifier</a:t>
            </a:r>
          </a:p>
        </p:txBody>
      </p:sp>
      <p:sp>
        <p:nvSpPr>
          <p:cNvPr id="18" name="Rounded Rectangle 17"/>
          <p:cNvSpPr/>
          <p:nvPr/>
        </p:nvSpPr>
        <p:spPr>
          <a:xfrm>
            <a:off x="9601200" y="3840480"/>
            <a:ext cx="1645920" cy="731520"/>
          </a:xfrm>
          <a:prstGeom prst="roundRect">
            <a:avLst/>
          </a:prstGeom>
          <a:solidFill>
            <a:srgbClr val="3C5A82"/>
          </a:solidFill>
          <a:ln>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7. Search Engine</a:t>
            </a:r>
          </a:p>
        </p:txBody>
      </p:sp>
      <p:sp>
        <p:nvSpPr>
          <p:cNvPr id="19" name="Rounded Rectangle 18"/>
          <p:cNvSpPr/>
          <p:nvPr/>
        </p:nvSpPr>
        <p:spPr>
          <a:xfrm>
            <a:off x="11430000" y="2011680"/>
            <a:ext cx="731520" cy="731520"/>
          </a:xfrm>
          <a:prstGeom prst="roundRect">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Clause</a:t>
            </a:r>
            <a:br/>
            <a:r>
              <a:t>Category</a:t>
            </a:r>
          </a:p>
        </p:txBody>
      </p:sp>
      <p:sp>
        <p:nvSpPr>
          <p:cNvPr id="20" name="Rounded Rectangle 19"/>
          <p:cNvSpPr/>
          <p:nvPr/>
        </p:nvSpPr>
        <p:spPr>
          <a:xfrm>
            <a:off x="11430000" y="3840480"/>
            <a:ext cx="731520" cy="731520"/>
          </a:xfrm>
          <a:prstGeom prst="roundRect">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Ranked</a:t>
            </a:r>
            <a:br/>
            <a:r>
              <a:t>Results</a:t>
            </a:r>
          </a:p>
        </p:txBody>
      </p:sp>
      <p:sp>
        <p:nvSpPr>
          <p:cNvPr id="21" name="TextBox 20"/>
          <p:cNvSpPr txBox="1"/>
          <p:nvPr/>
        </p:nvSpPr>
        <p:spPr>
          <a:xfrm>
            <a:off x="457200" y="5120640"/>
            <a:ext cx="11274552" cy="1097280"/>
          </a:xfrm>
          <a:prstGeom prst="rect">
            <a:avLst/>
          </a:prstGeom>
          <a:noFill/>
        </p:spPr>
        <p:txBody>
          <a:bodyPr wrap="square" lIns="0" tIns="0" bIns="0" rIns="0">
            <a:spAutoFit/>
          </a:bodyPr>
          <a:lstStyle/>
          <a:p>
            <a:pPr>
              <a:spcAft>
                <a:spcPts val="200"/>
              </a:spcAft>
              <a:defRPr sz="1100" b="1">
                <a:solidFill>
                  <a:srgbClr val="172544"/>
                </a:solidFill>
              </a:defRPr>
            </a:pPr>
            <a:r>
              <a:t>PROCESS EXPLANATION:</a:t>
            </a:r>
          </a:p>
          <a:p>
            <a:pPr>
              <a:defRPr sz="1050">
                <a:solidFill>
                  <a:srgbClr val="212529"/>
                </a:solidFill>
                <a:latin typeface="Calibri"/>
              </a:defRPr>
            </a:pPr>
            <a:r>
              <a:t>1. Document Ingestion: The user uploads a PDF contract. Text is extracted via PyMuPDF.</a:t>
            </a:r>
            <a:br/>
            <a:r>
              <a:t>2. Segmentation &amp; Cleaning: Unstructured text is split into paragraphs and cleaned using text normalisation.</a:t>
            </a:r>
            <a:br/>
            <a:r>
              <a:t>3. Vectorization: Clauses are converted to numeric representations in the TF-IDF space.</a:t>
            </a:r>
            <a:br/>
            <a:r>
              <a:t>4. Parallel Engines: The features feed into two components: (i) the ML Classifier (predicts one of 41 categories) and (ii) the Search Engine (calculates cosine similarity scores to return ranked results based on user queries).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12</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SYSTEM PSEUDOCODE</a:t>
            </a:r>
          </a:p>
          <a:p>
            <a:pPr>
              <a:spcBef>
                <a:spcPts val="400"/>
              </a:spcBef>
              <a:defRPr sz="1300" i="1">
                <a:solidFill>
                  <a:srgbClr val="3C5A82"/>
                </a:solidFill>
                <a:latin typeface="Calibri"/>
              </a:defRPr>
            </a:pPr>
            <a:r>
              <a:t>Algorithmic Control Flow of the ClauseIQ Pipeline</a:t>
            </a:r>
          </a:p>
        </p:txBody>
      </p:sp>
      <p:sp>
        <p:nvSpPr>
          <p:cNvPr id="6" name="Rectangle 5"/>
          <p:cNvSpPr/>
          <p:nvPr/>
        </p:nvSpPr>
        <p:spPr>
          <a:xfrm>
            <a:off x="457200" y="1645920"/>
            <a:ext cx="11274552" cy="4389120"/>
          </a:xfrm>
          <a:prstGeom prst="rect">
            <a:avLst/>
          </a:prstGeom>
          <a:solidFill>
            <a:srgbClr val="1E1E1E"/>
          </a:solidFill>
          <a:ln w="19050">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bIns="182880" rIns="182880"/>
          <a:lstStyle/>
          <a:p>
            <a:pPr algn="ctr">
              <a:defRPr sz="1050">
                <a:solidFill>
                  <a:srgbClr val="DCDCDC"/>
                </a:solidFill>
                <a:latin typeface="Consolas"/>
              </a:defRPr>
            </a:pPr>
            <a:r>
              <a:t>START ClauseIQ_Pipeline:</a:t>
            </a:r>
            <a:br/>
            <a:br/>
            <a:r>
              <a:t>  1. UPLOAD PDF contract from GUI dashboard</a:t>
            </a:r>
            <a:br/>
            <a:r>
              <a:t>  2. EXTRACT raw text: raw_text = PyMuPDF.extract_text(uploaded_pdf)</a:t>
            </a:r>
            <a:br/>
            <a:r>
              <a:t>  3. SPLIT into logical segments: clauses = split_into_paragraphs(raw_text)</a:t>
            </a:r>
            <a:br/>
            <a:r>
              <a:t>  4. CLEAN text: clean_clauses = [lowercase_strip(c) for c in clauses if word_count(c) &gt;= 3]</a:t>
            </a:r>
            <a:br/>
            <a:r>
              <a:t>  5. VECTORIZE features: corpus_vectors = tfidf_vectorizer.transform(clean_clauses)</a:t>
            </a:r>
            <a:br/>
            <a:br/>
            <a:r>
              <a:t>  6. FOR EACH clause_vector IN corpus_vectors:</a:t>
            </a:r>
            <a:br/>
            <a:r>
              <a:t>       predicted_category = trained_ml_model.predict(clause_vector)</a:t>
            </a:r>
            <a:br/>
            <a:r>
              <a:t>       confidence_score = trained_ml_model.predict_proba(clause_vector).max()</a:t>
            </a:r>
            <a:br/>
            <a:r>
              <a:t>       store_record(clause, predicted_category, confidence_score)</a:t>
            </a:r>
            <a:br/>
            <a:br/>
            <a:r>
              <a:t>  7. IF user_submits_search_query(query_text):</a:t>
            </a:r>
            <a:br/>
            <a:r>
              <a:t>       query_vector = tfidf_vectorizer.transform([query_text])</a:t>
            </a:r>
            <a:br/>
            <a:r>
              <a:t>       similarity_scores = cosine_similarity(query_vector, corpus_vectors)</a:t>
            </a:r>
            <a:br/>
            <a:r>
              <a:t>       ranked_results = sort_descending(similarity_scores)</a:t>
            </a:r>
            <a:br/>
            <a:r>
              <a:t>       DISPLAY ranked_results ON dashboard table</a:t>
            </a:r>
            <a:br/>
            <a:br/>
            <a:r>
              <a:t>END ClauseIQ_Pipeline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13</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PROJECT PIPELINE</a:t>
            </a:r>
          </a:p>
          <a:p>
            <a:pPr>
              <a:spcBef>
                <a:spcPts val="400"/>
              </a:spcBef>
              <a:defRPr sz="1300" i="1">
                <a:solidFill>
                  <a:srgbClr val="3C5A82"/>
                </a:solidFill>
                <a:latin typeface="Calibri"/>
              </a:defRPr>
            </a:pPr>
            <a:r>
              <a:t>Complete Architectural Components Workflow</a:t>
            </a:r>
          </a:p>
        </p:txBody>
      </p:sp>
      <p:sp>
        <p:nvSpPr>
          <p:cNvPr id="6" name="Rounded Rectangle 5"/>
          <p:cNvSpPr/>
          <p:nvPr/>
        </p:nvSpPr>
        <p:spPr>
          <a:xfrm>
            <a:off x="457200" y="2377440"/>
            <a:ext cx="1371600" cy="1463040"/>
          </a:xfrm>
          <a:prstGeom prst="roundRect">
            <a:avLst/>
          </a:prstGeom>
          <a:solidFill>
            <a:srgbClr val="172544"/>
          </a:solidFill>
          <a:ln w="12700">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bIns="73152" rIns="73152"/>
          <a:lstStyle/>
          <a:p>
            <a:pPr algn="ctr">
              <a:defRPr sz="950" b="1">
                <a:solidFill>
                  <a:srgbClr val="1EA0F0"/>
                </a:solidFill>
              </a:defRPr>
            </a:pPr>
            <a:r>
              <a:t>Step 01</a:t>
            </a:r>
          </a:p>
          <a:p>
            <a:pPr algn="ctr">
              <a:spcBef>
                <a:spcPts val="800"/>
              </a:spcBef>
              <a:defRPr sz="1050" b="1">
                <a:solidFill>
                  <a:srgbClr val="FFFFFF"/>
                </a:solidFill>
              </a:defRPr>
            </a:pPr>
            <a:r>
              <a:t>User</a:t>
            </a:r>
          </a:p>
        </p:txBody>
      </p:sp>
      <p:sp>
        <p:nvSpPr>
          <p:cNvPr id="7" name="Right Arrow 6"/>
          <p:cNvSpPr/>
          <p:nvPr/>
        </p:nvSpPr>
        <p:spPr>
          <a:xfrm>
            <a:off x="1874520" y="2926080"/>
            <a:ext cx="118872" cy="36576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039112" y="2377440"/>
            <a:ext cx="1371600" cy="1463040"/>
          </a:xfrm>
          <a:prstGeom prst="roundRect">
            <a:avLst/>
          </a:prstGeom>
          <a:solidFill>
            <a:srgbClr val="3C5A82"/>
          </a:solidFill>
          <a:ln w="12700">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bIns="73152" rIns="73152"/>
          <a:lstStyle/>
          <a:p>
            <a:pPr algn="ctr">
              <a:defRPr sz="950" b="1">
                <a:solidFill>
                  <a:srgbClr val="1EA0F0"/>
                </a:solidFill>
              </a:defRPr>
            </a:pPr>
            <a:r>
              <a:t>Step 02</a:t>
            </a:r>
          </a:p>
          <a:p>
            <a:pPr algn="ctr">
              <a:spcBef>
                <a:spcPts val="800"/>
              </a:spcBef>
              <a:defRPr sz="1050" b="1">
                <a:solidFill>
                  <a:srgbClr val="FFFFFF"/>
                </a:solidFill>
              </a:defRPr>
            </a:pPr>
            <a:r>
              <a:t>React Frontend</a:t>
            </a:r>
          </a:p>
        </p:txBody>
      </p:sp>
      <p:sp>
        <p:nvSpPr>
          <p:cNvPr id="9" name="Right Arrow 8"/>
          <p:cNvSpPr/>
          <p:nvPr/>
        </p:nvSpPr>
        <p:spPr>
          <a:xfrm>
            <a:off x="3456432" y="2926080"/>
            <a:ext cx="118872" cy="36576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21024" y="2377440"/>
            <a:ext cx="1371600" cy="1463040"/>
          </a:xfrm>
          <a:prstGeom prst="roundRect">
            <a:avLst/>
          </a:prstGeom>
          <a:solidFill>
            <a:srgbClr val="3C5A82"/>
          </a:solidFill>
          <a:ln w="12700">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bIns="73152" rIns="73152"/>
          <a:lstStyle/>
          <a:p>
            <a:pPr algn="ctr">
              <a:defRPr sz="950" b="1">
                <a:solidFill>
                  <a:srgbClr val="1EA0F0"/>
                </a:solidFill>
              </a:defRPr>
            </a:pPr>
            <a:r>
              <a:t>Step 03</a:t>
            </a:r>
          </a:p>
          <a:p>
            <a:pPr algn="ctr">
              <a:spcBef>
                <a:spcPts val="800"/>
              </a:spcBef>
              <a:defRPr sz="1050" b="1">
                <a:solidFill>
                  <a:srgbClr val="FFFFFF"/>
                </a:solidFill>
              </a:defRPr>
            </a:pPr>
            <a:r>
              <a:t>Flask Backend</a:t>
            </a:r>
          </a:p>
        </p:txBody>
      </p:sp>
      <p:sp>
        <p:nvSpPr>
          <p:cNvPr id="11" name="Right Arrow 10"/>
          <p:cNvSpPr/>
          <p:nvPr/>
        </p:nvSpPr>
        <p:spPr>
          <a:xfrm>
            <a:off x="5038344" y="2926080"/>
            <a:ext cx="118872" cy="36576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202936" y="2377440"/>
            <a:ext cx="1371600" cy="1463040"/>
          </a:xfrm>
          <a:prstGeom prst="roundRect">
            <a:avLst/>
          </a:prstGeom>
          <a:solidFill>
            <a:srgbClr val="3C5A82"/>
          </a:solidFill>
          <a:ln w="12700">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bIns="73152" rIns="73152"/>
          <a:lstStyle/>
          <a:p>
            <a:pPr algn="ctr">
              <a:defRPr sz="950" b="1">
                <a:solidFill>
                  <a:srgbClr val="1EA0F0"/>
                </a:solidFill>
              </a:defRPr>
            </a:pPr>
            <a:r>
              <a:t>Step 04</a:t>
            </a:r>
          </a:p>
          <a:p>
            <a:pPr algn="ctr">
              <a:spcBef>
                <a:spcPts val="800"/>
              </a:spcBef>
              <a:defRPr sz="1050" b="1">
                <a:solidFill>
                  <a:srgbClr val="FFFFFF"/>
                </a:solidFill>
              </a:defRPr>
            </a:pPr>
            <a:r>
              <a:t>PDF Extraction</a:t>
            </a:r>
          </a:p>
        </p:txBody>
      </p:sp>
      <p:sp>
        <p:nvSpPr>
          <p:cNvPr id="13" name="Right Arrow 12"/>
          <p:cNvSpPr/>
          <p:nvPr/>
        </p:nvSpPr>
        <p:spPr>
          <a:xfrm>
            <a:off x="6620256" y="2926080"/>
            <a:ext cx="118872" cy="36576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84848" y="2377440"/>
            <a:ext cx="1371600" cy="1463040"/>
          </a:xfrm>
          <a:prstGeom prst="roundRect">
            <a:avLst/>
          </a:prstGeom>
          <a:solidFill>
            <a:srgbClr val="3C5A82"/>
          </a:solidFill>
          <a:ln w="12700">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bIns="73152" rIns="73152"/>
          <a:lstStyle/>
          <a:p>
            <a:pPr algn="ctr">
              <a:defRPr sz="950" b="1">
                <a:solidFill>
                  <a:srgbClr val="1EA0F0"/>
                </a:solidFill>
              </a:defRPr>
            </a:pPr>
            <a:r>
              <a:t>Step 05</a:t>
            </a:r>
          </a:p>
          <a:p>
            <a:pPr algn="ctr">
              <a:spcBef>
                <a:spcPts val="800"/>
              </a:spcBef>
              <a:defRPr sz="1050" b="1">
                <a:solidFill>
                  <a:srgbClr val="FFFFFF"/>
                </a:solidFill>
              </a:defRPr>
            </a:pPr>
            <a:r>
              <a:t>ML Classifier</a:t>
            </a:r>
          </a:p>
        </p:txBody>
      </p:sp>
      <p:sp>
        <p:nvSpPr>
          <p:cNvPr id="15" name="Right Arrow 14"/>
          <p:cNvSpPr/>
          <p:nvPr/>
        </p:nvSpPr>
        <p:spPr>
          <a:xfrm>
            <a:off x="8202168" y="2926080"/>
            <a:ext cx="118872" cy="36576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66760" y="2377440"/>
            <a:ext cx="1371600" cy="1463040"/>
          </a:xfrm>
          <a:prstGeom prst="roundRect">
            <a:avLst/>
          </a:prstGeom>
          <a:solidFill>
            <a:srgbClr val="3C5A82"/>
          </a:solidFill>
          <a:ln w="12700">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bIns="73152" rIns="73152"/>
          <a:lstStyle/>
          <a:p>
            <a:pPr algn="ctr">
              <a:defRPr sz="950" b="1">
                <a:solidFill>
                  <a:srgbClr val="1EA0F0"/>
                </a:solidFill>
              </a:defRPr>
            </a:pPr>
            <a:r>
              <a:t>Step 06</a:t>
            </a:r>
          </a:p>
          <a:p>
            <a:pPr algn="ctr">
              <a:spcBef>
                <a:spcPts val="800"/>
              </a:spcBef>
              <a:defRPr sz="1050" b="1">
                <a:solidFill>
                  <a:srgbClr val="FFFFFF"/>
                </a:solidFill>
              </a:defRPr>
            </a:pPr>
            <a:r>
              <a:t>Search Module</a:t>
            </a:r>
          </a:p>
        </p:txBody>
      </p:sp>
      <p:sp>
        <p:nvSpPr>
          <p:cNvPr id="17" name="Right Arrow 16"/>
          <p:cNvSpPr/>
          <p:nvPr/>
        </p:nvSpPr>
        <p:spPr>
          <a:xfrm>
            <a:off x="9784080" y="2926080"/>
            <a:ext cx="118872" cy="365760"/>
          </a:xfrm>
          <a:prstGeom prs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948672" y="2377440"/>
            <a:ext cx="1371600" cy="1463040"/>
          </a:xfrm>
          <a:prstGeom prst="roundRect">
            <a:avLst/>
          </a:prstGeom>
          <a:solidFill>
            <a:srgbClr val="172544"/>
          </a:solidFill>
          <a:ln w="12700">
            <a:solidFill>
              <a:srgbClr val="1EA0F0"/>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bIns="73152" rIns="73152"/>
          <a:lstStyle/>
          <a:p>
            <a:pPr algn="ctr">
              <a:defRPr sz="950" b="1">
                <a:solidFill>
                  <a:srgbClr val="1EA0F0"/>
                </a:solidFill>
              </a:defRPr>
            </a:pPr>
            <a:r>
              <a:t>Step 07</a:t>
            </a:r>
          </a:p>
          <a:p>
            <a:pPr algn="ctr">
              <a:spcBef>
                <a:spcPts val="800"/>
              </a:spcBef>
              <a:defRPr sz="1050" b="1">
                <a:solidFill>
                  <a:srgbClr val="FFFFFF"/>
                </a:solidFill>
              </a:defRPr>
            </a:pPr>
            <a:r>
              <a:t>Results Table</a:t>
            </a:r>
          </a:p>
        </p:txBody>
      </p:sp>
      <p:sp>
        <p:nvSpPr>
          <p:cNvPr id="19" name="TextBox 18"/>
          <p:cNvSpPr txBox="1"/>
          <p:nvPr/>
        </p:nvSpPr>
        <p:spPr>
          <a:xfrm>
            <a:off x="457200" y="4389120"/>
            <a:ext cx="11274552" cy="1645920"/>
          </a:xfrm>
          <a:prstGeom prst="rect">
            <a:avLst/>
          </a:prstGeom>
          <a:noFill/>
        </p:spPr>
        <p:txBody>
          <a:bodyPr wrap="square" lIns="0" tIns="0" bIns="0" rIns="0">
            <a:spAutoFit/>
          </a:bodyPr>
          <a:lstStyle/>
          <a:p>
            <a:pPr>
              <a:spcAft>
                <a:spcPts val="600"/>
              </a:spcAft>
              <a:defRPr sz="1400" b="1">
                <a:solidFill>
                  <a:srgbClr val="1EA0F0"/>
                </a:solidFill>
                <a:latin typeface="Trebuchet MS"/>
              </a:defRPr>
            </a:pPr>
            <a:r>
              <a:t>Pipeline Execution Details</a:t>
            </a:r>
          </a:p>
          <a:p>
            <a:pPr>
              <a:spcAft>
                <a:spcPts val="400"/>
              </a:spcAft>
              <a:defRPr sz="1100">
                <a:solidFill>
                  <a:srgbClr val="212529"/>
                </a:solidFill>
                <a:latin typeface="Calibri"/>
              </a:defRPr>
            </a:pPr>
            <a:r>
              <a:t>• Client Layer: The user interacts with a React.js SPA, uploading contracts and typing natural language search queries.</a:t>
            </a:r>
          </a:p>
          <a:p>
            <a:pPr>
              <a:spcAft>
                <a:spcPts val="400"/>
              </a:spcAft>
              <a:defRPr sz="1100">
                <a:solidFill>
                  <a:srgbClr val="212529"/>
                </a:solidFill>
                <a:latin typeface="Calibri"/>
              </a:defRPr>
            </a:pPr>
            <a:r>
              <a:t>• Request Handling: React sends the documents and text queries to the Flask backend via RESTful APIs.</a:t>
            </a:r>
          </a:p>
          <a:p>
            <a:pPr>
              <a:spcAft>
                <a:spcPts val="400"/>
              </a:spcAft>
              <a:defRPr sz="1100">
                <a:solidFill>
                  <a:srgbClr val="212529"/>
                </a:solidFill>
                <a:latin typeface="Calibri"/>
              </a:defRPr>
            </a:pPr>
            <a:r>
              <a:t>• Text Processing: The Flask backend extracts text using PyMuPDF and handles segmentation and cleaning in Python.</a:t>
            </a:r>
          </a:p>
          <a:p>
            <a:pPr>
              <a:spcAft>
                <a:spcPts val="400"/>
              </a:spcAft>
              <a:defRPr sz="1100">
                <a:solidFill>
                  <a:srgbClr val="212529"/>
                </a:solidFill>
                <a:latin typeface="Calibri"/>
              </a:defRPr>
            </a:pPr>
            <a:r>
              <a:t>• Vectorization &amp; ML: Cleaned clauses are transformed into numerical features using the TF-IDF vectorizer and classified using scikit-learn.</a:t>
            </a:r>
          </a:p>
          <a:p>
            <a:pPr>
              <a:spcAft>
                <a:spcPts val="400"/>
              </a:spcAft>
              <a:defRPr sz="1100">
                <a:solidFill>
                  <a:srgbClr val="212529"/>
                </a:solidFill>
                <a:latin typeface="Calibri"/>
              </a:defRPr>
            </a:pPr>
            <a:r>
              <a:t>• Similarity Search &amp; Database: Cosine similarity ranks clauses against user queries, storing results in SQLite and returning JSON responses back to the React UI.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14</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SYSTEM ARCHITECTURE</a:t>
            </a:r>
          </a:p>
          <a:p>
            <a:pPr>
              <a:spcBef>
                <a:spcPts val="400"/>
              </a:spcBef>
              <a:defRPr sz="1300" i="1">
                <a:solidFill>
                  <a:srgbClr val="3C5A82"/>
                </a:solidFill>
                <a:latin typeface="Calibri"/>
              </a:defRPr>
            </a:pPr>
            <a:r>
              <a:t>Interaction Layers and Data Boundaries</a:t>
            </a:r>
          </a:p>
        </p:txBody>
      </p:sp>
      <p:sp>
        <p:nvSpPr>
          <p:cNvPr id="6" name="Rounded Rectangle 5"/>
          <p:cNvSpPr/>
          <p:nvPr/>
        </p:nvSpPr>
        <p:spPr>
          <a:xfrm>
            <a:off x="457200" y="1645920"/>
            <a:ext cx="329184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783080"/>
            <a:ext cx="3017520" cy="3840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Client Layer (React.js)</a:t>
            </a:r>
          </a:p>
          <a:p>
            <a:pPr>
              <a:spcAft>
                <a:spcPts val="400"/>
              </a:spcAft>
              <a:defRPr sz="1100">
                <a:solidFill>
                  <a:srgbClr val="212529"/>
                </a:solidFill>
                <a:latin typeface="Calibri"/>
              </a:defRPr>
            </a:pPr>
            <a:r>
              <a:t>User Interface Widgets:</a:t>
            </a:r>
          </a:p>
          <a:p>
            <a:pPr>
              <a:spcAft>
                <a:spcPts val="400"/>
              </a:spcAft>
              <a:defRPr sz="1100">
                <a:solidFill>
                  <a:srgbClr val="212529"/>
                </a:solidFill>
                <a:latin typeface="Calibri"/>
              </a:defRPr>
            </a:pPr>
            <a:r>
              <a:t>• File Upload panel</a:t>
            </a:r>
          </a:p>
          <a:p>
            <a:pPr>
              <a:spcAft>
                <a:spcPts val="400"/>
              </a:spcAft>
              <a:defRPr sz="1100">
                <a:solidFill>
                  <a:srgbClr val="212529"/>
                </a:solidFill>
                <a:latin typeface="Calibri"/>
              </a:defRPr>
            </a:pPr>
            <a:r>
              <a:t>• Real-time search bar</a:t>
            </a:r>
          </a:p>
          <a:p>
            <a:pPr>
              <a:spcAft>
                <a:spcPts val="400"/>
              </a:spcAft>
              <a:defRPr sz="1100">
                <a:solidFill>
                  <a:srgbClr val="212529"/>
                </a:solidFill>
                <a:latin typeface="Calibri"/>
              </a:defRPr>
            </a:pPr>
            <a:r>
              <a:t>• Dynamic categories filter</a:t>
            </a:r>
          </a:p>
          <a:p>
            <a:pPr>
              <a:spcAft>
                <a:spcPts val="400"/>
              </a:spcAft>
              <a:defRPr sz="1100">
                <a:solidFill>
                  <a:srgbClr val="212529"/>
                </a:solidFill>
                <a:latin typeface="Calibri"/>
              </a:defRPr>
            </a:pPr>
            <a:r>
              <a:t>• Clause interactive table</a:t>
            </a:r>
          </a:p>
          <a:p>
            <a:pPr>
              <a:spcAft>
                <a:spcPts val="400"/>
              </a:spcAft>
              <a:defRPr sz="1100">
                <a:solidFill>
                  <a:srgbClr val="212529"/>
                </a:solidFill>
                <a:latin typeface="Calibri"/>
              </a:defRPr>
            </a:pPr>
          </a:p>
          <a:p>
            <a:pPr>
              <a:spcAft>
                <a:spcPts val="400"/>
              </a:spcAft>
              <a:defRPr sz="1100">
                <a:solidFill>
                  <a:srgbClr val="212529"/>
                </a:solidFill>
                <a:latin typeface="Calibri"/>
              </a:defRPr>
            </a:pPr>
            <a:r>
              <a:t>Communications:</a:t>
            </a:r>
          </a:p>
          <a:p>
            <a:pPr>
              <a:spcAft>
                <a:spcPts val="400"/>
              </a:spcAft>
              <a:defRPr sz="1100">
                <a:solidFill>
                  <a:srgbClr val="212529"/>
                </a:solidFill>
                <a:latin typeface="Calibri"/>
              </a:defRPr>
            </a:pPr>
            <a:r>
              <a:t>• HTTP POST for contract files</a:t>
            </a:r>
          </a:p>
          <a:p>
            <a:pPr>
              <a:spcAft>
                <a:spcPts val="400"/>
              </a:spcAft>
              <a:defRPr sz="1100">
                <a:solidFill>
                  <a:srgbClr val="212529"/>
                </a:solidFill>
                <a:latin typeface="Calibri"/>
              </a:defRPr>
            </a:pPr>
            <a:r>
              <a:t>• HTTP GET for search queries</a:t>
            </a:r>
          </a:p>
          <a:p>
            <a:pPr>
              <a:spcAft>
                <a:spcPts val="400"/>
              </a:spcAft>
              <a:defRPr sz="1100">
                <a:solidFill>
                  <a:srgbClr val="212529"/>
                </a:solidFill>
                <a:latin typeface="Calibri"/>
              </a:defRPr>
            </a:pPr>
            <a:r>
              <a:t>• Receives structured JSON</a:t>
            </a:r>
          </a:p>
        </p:txBody>
      </p:sp>
      <p:sp>
        <p:nvSpPr>
          <p:cNvPr id="8" name="Left-Right Arrow 7"/>
          <p:cNvSpPr/>
          <p:nvPr/>
        </p:nvSpPr>
        <p:spPr>
          <a:xfrm>
            <a:off x="3840480" y="3291840"/>
            <a:ext cx="640080" cy="365760"/>
          </a:xfrm>
          <a:prstGeom prst="lef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645920"/>
            <a:ext cx="411480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1783080"/>
            <a:ext cx="3840480" cy="3840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Logic Layer (Flask API / Python)</a:t>
            </a:r>
          </a:p>
          <a:p>
            <a:pPr>
              <a:spcAft>
                <a:spcPts val="400"/>
              </a:spcAft>
              <a:defRPr sz="1100">
                <a:solidFill>
                  <a:srgbClr val="212529"/>
                </a:solidFill>
                <a:latin typeface="Calibri"/>
              </a:defRPr>
            </a:pPr>
            <a:r>
              <a:t>Core Modules &amp; Libraries:</a:t>
            </a:r>
          </a:p>
          <a:p>
            <a:pPr>
              <a:spcAft>
                <a:spcPts val="400"/>
              </a:spcAft>
              <a:defRPr sz="1100">
                <a:solidFill>
                  <a:srgbClr val="212529"/>
                </a:solidFill>
                <a:latin typeface="Calibri"/>
              </a:defRPr>
            </a:pPr>
            <a:r>
              <a:t>  1. Router/Controller Layer</a:t>
            </a:r>
          </a:p>
          <a:p>
            <a:pPr>
              <a:spcAft>
                <a:spcPts val="400"/>
              </a:spcAft>
              <a:defRPr sz="1100">
                <a:solidFill>
                  <a:srgbClr val="212529"/>
                </a:solidFill>
                <a:latin typeface="Calibri"/>
              </a:defRPr>
            </a:pPr>
            <a:r>
              <a:t>• Receives files/strings; exposes REST endpoints</a:t>
            </a:r>
          </a:p>
          <a:p>
            <a:pPr>
              <a:spcAft>
                <a:spcPts val="400"/>
              </a:spcAft>
              <a:defRPr sz="1100">
                <a:solidFill>
                  <a:srgbClr val="212529"/>
                </a:solidFill>
                <a:latin typeface="Calibri"/>
              </a:defRPr>
            </a:pPr>
            <a:r>
              <a:t>  2. Text Processor (PyMuPDF &amp; spaCy)</a:t>
            </a:r>
          </a:p>
          <a:p>
            <a:pPr>
              <a:spcAft>
                <a:spcPts val="400"/>
              </a:spcAft>
              <a:defRPr sz="1100">
                <a:solidFill>
                  <a:srgbClr val="212529"/>
                </a:solidFill>
                <a:latin typeface="Calibri"/>
              </a:defRPr>
            </a:pPr>
            <a:r>
              <a:t>• Extracts PDF text; tokenizes &amp; lemmatizes text</a:t>
            </a:r>
          </a:p>
          <a:p>
            <a:pPr>
              <a:spcAft>
                <a:spcPts val="400"/>
              </a:spcAft>
              <a:defRPr sz="1100">
                <a:solidFill>
                  <a:srgbClr val="212529"/>
                </a:solidFill>
                <a:latin typeface="Calibri"/>
              </a:defRPr>
            </a:pPr>
            <a:r>
              <a:t>  3. ML Classifier Engine</a:t>
            </a:r>
          </a:p>
          <a:p>
            <a:pPr>
              <a:spcAft>
                <a:spcPts val="400"/>
              </a:spcAft>
              <a:defRPr sz="1100">
                <a:solidFill>
                  <a:srgbClr val="212529"/>
                </a:solidFill>
                <a:latin typeface="Calibri"/>
              </a:defRPr>
            </a:pPr>
            <a:r>
              <a:t>• Loads serialized joblib vectorizer &amp; models</a:t>
            </a:r>
          </a:p>
          <a:p>
            <a:pPr>
              <a:spcAft>
                <a:spcPts val="400"/>
              </a:spcAft>
              <a:defRPr sz="1100">
                <a:solidFill>
                  <a:srgbClr val="212529"/>
                </a:solidFill>
                <a:latin typeface="Calibri"/>
              </a:defRPr>
            </a:pPr>
            <a:r>
              <a:t>• Performs inference (label &amp; confidence)</a:t>
            </a:r>
          </a:p>
          <a:p>
            <a:pPr>
              <a:spcAft>
                <a:spcPts val="400"/>
              </a:spcAft>
              <a:defRPr sz="1100">
                <a:solidFill>
                  <a:srgbClr val="212529"/>
                </a:solidFill>
                <a:latin typeface="Calibri"/>
              </a:defRPr>
            </a:pPr>
            <a:r>
              <a:t>  4. Search Indexer (Scikit-learn)</a:t>
            </a:r>
          </a:p>
          <a:p>
            <a:pPr>
              <a:spcAft>
                <a:spcPts val="400"/>
              </a:spcAft>
              <a:defRPr sz="1100">
                <a:solidFill>
                  <a:srgbClr val="212529"/>
                </a:solidFill>
                <a:latin typeface="Calibri"/>
              </a:defRPr>
            </a:pPr>
            <a:r>
              <a:t>• Vectorizes queries; runs Cosine Similarity</a:t>
            </a:r>
          </a:p>
        </p:txBody>
      </p:sp>
      <p:sp>
        <p:nvSpPr>
          <p:cNvPr id="11" name="Left-Right Arrow 10"/>
          <p:cNvSpPr/>
          <p:nvPr/>
        </p:nvSpPr>
        <p:spPr>
          <a:xfrm>
            <a:off x="8778240" y="3291840"/>
            <a:ext cx="640080" cy="365760"/>
          </a:xfrm>
          <a:prstGeom prst="leftRightArrow">
            <a:avLst/>
          </a:prstGeom>
          <a:solidFill>
            <a:srgbClr val="1EA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509760" y="1645920"/>
            <a:ext cx="219456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46920" y="1783080"/>
            <a:ext cx="1920240" cy="3840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Data Layer (SQLite)</a:t>
            </a:r>
          </a:p>
          <a:p>
            <a:pPr>
              <a:spcAft>
                <a:spcPts val="400"/>
              </a:spcAft>
              <a:defRPr sz="1100">
                <a:solidFill>
                  <a:srgbClr val="212529"/>
                </a:solidFill>
                <a:latin typeface="Calibri"/>
              </a:defRPr>
            </a:pPr>
            <a:r>
              <a:t>SQLite Tables:</a:t>
            </a:r>
          </a:p>
          <a:p>
            <a:pPr>
              <a:spcAft>
                <a:spcPts val="400"/>
              </a:spcAft>
              <a:defRPr sz="1100">
                <a:solidFill>
                  <a:srgbClr val="212529"/>
                </a:solidFill>
                <a:latin typeface="Calibri"/>
              </a:defRPr>
            </a:pPr>
            <a:r>
              <a:t>• Documents: Filenames &amp; metadata</a:t>
            </a:r>
          </a:p>
          <a:p>
            <a:pPr>
              <a:spcAft>
                <a:spcPts val="400"/>
              </a:spcAft>
              <a:defRPr sz="1100">
                <a:solidFill>
                  <a:srgbClr val="212529"/>
                </a:solidFill>
                <a:latin typeface="Calibri"/>
              </a:defRPr>
            </a:pPr>
            <a:r>
              <a:t>• Clauses: Extracted text segments</a:t>
            </a:r>
          </a:p>
          <a:p>
            <a:pPr>
              <a:spcAft>
                <a:spcPts val="400"/>
              </a:spcAft>
              <a:defRPr sz="1100">
                <a:solidFill>
                  <a:srgbClr val="212529"/>
                </a:solidFill>
                <a:latin typeface="Calibri"/>
              </a:defRPr>
            </a:pPr>
            <a:r>
              <a:t>• Predictions: Predicted category labels &amp; confidence scores</a:t>
            </a:r>
          </a:p>
          <a:p>
            <a:pPr>
              <a:spcAft>
                <a:spcPts val="400"/>
              </a:spcAft>
              <a:defRPr sz="1100">
                <a:solidFill>
                  <a:srgbClr val="212529"/>
                </a:solidFill>
                <a:latin typeface="Calibri"/>
              </a:defRPr>
            </a:pPr>
          </a:p>
          <a:p>
            <a:pPr>
              <a:spcAft>
                <a:spcPts val="400"/>
              </a:spcAft>
              <a:defRPr sz="1100">
                <a:solidFill>
                  <a:srgbClr val="212529"/>
                </a:solidFill>
                <a:latin typeface="Calibri"/>
              </a:defRPr>
            </a:pPr>
            <a:r>
              <a:t>Storage:</a:t>
            </a:r>
          </a:p>
          <a:p>
            <a:pPr>
              <a:spcAft>
                <a:spcPts val="400"/>
              </a:spcAft>
              <a:defRPr sz="1100">
                <a:solidFill>
                  <a:srgbClr val="212529"/>
                </a:solidFill>
                <a:latin typeface="Calibri"/>
              </a:defRPr>
            </a:pPr>
            <a:r>
              <a:t>• Local SQLite DB file</a:t>
            </a:r>
          </a:p>
          <a:p>
            <a:pPr>
              <a:spcAft>
                <a:spcPts val="400"/>
              </a:spcAft>
              <a:defRPr sz="1100">
                <a:solidFill>
                  <a:srgbClr val="212529"/>
                </a:solidFill>
                <a:latin typeface="Calibri"/>
              </a:defRPr>
            </a:pPr>
            <a:r>
              <a:t>• Fast, self-contained relational storage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15</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GUI DESIGN MOCKUP</a:t>
            </a:r>
          </a:p>
          <a:p>
            <a:pPr>
              <a:spcBef>
                <a:spcPts val="400"/>
              </a:spcBef>
              <a:defRPr sz="1300" i="1">
                <a:solidFill>
                  <a:srgbClr val="3C5A82"/>
                </a:solidFill>
                <a:latin typeface="Calibri"/>
              </a:defRPr>
            </a:pPr>
            <a:r>
              <a:t>Proposed Contract Review Dashboard Interface</a:t>
            </a:r>
          </a:p>
        </p:txBody>
      </p:sp>
      <p:sp>
        <p:nvSpPr>
          <p:cNvPr id="6" name="Rounded Rectangle 5"/>
          <p:cNvSpPr/>
          <p:nvPr/>
        </p:nvSpPr>
        <p:spPr>
          <a:xfrm>
            <a:off x="457200" y="1463040"/>
            <a:ext cx="11274552" cy="4572000"/>
          </a:xfrm>
          <a:prstGeom prst="roundRect">
            <a:avLst/>
          </a:prstGeom>
          <a:solidFill>
            <a:srgbClr val="EBEEF3"/>
          </a:solidFill>
          <a:ln w="19050">
            <a:solidFill>
              <a:srgbClr val="3C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11274552" cy="548640"/>
          </a:xfrm>
          <a:prstGeom prst="rect">
            <a:avLst/>
          </a:prstGeom>
          <a:solidFill>
            <a:srgbClr val="172544"/>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300" b="1">
                <a:solidFill>
                  <a:srgbClr val="FFFFFF"/>
                </a:solidFill>
              </a:defRPr>
            </a:pPr>
            <a:r>
              <a:t>ClauseIQ Dashboard -- Contract Analysis &amp; Semantic Search</a:t>
            </a:r>
          </a:p>
        </p:txBody>
      </p:sp>
      <p:sp>
        <p:nvSpPr>
          <p:cNvPr id="8" name="Rectangle 7"/>
          <p:cNvSpPr/>
          <p:nvPr/>
        </p:nvSpPr>
        <p:spPr>
          <a:xfrm>
            <a:off x="457200" y="2011680"/>
            <a:ext cx="2011680" cy="4023360"/>
          </a:xfrm>
          <a:prstGeom prst="rect">
            <a:avLst/>
          </a:prstGeom>
          <a:solidFill>
            <a:srgbClr val="3C5A8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0"/>
          <a:lstStyle/>
          <a:p>
            <a:pPr algn="ctr">
              <a:spcAft>
                <a:spcPts val="800"/>
              </a:spcAft>
              <a:defRPr b="1" sz="1000">
                <a:solidFill>
                  <a:srgbClr val="1EA0F0"/>
                </a:solidFill>
              </a:defRPr>
            </a:pPr>
            <a:r>
              <a:t>MENU</a:t>
            </a:r>
          </a:p>
          <a:p>
            <a:br/>
            <a:pPr>
              <a:defRPr sz="950">
                <a:solidFill>
                  <a:srgbClr val="FFFFFF"/>
                </a:solidFill>
              </a:defRPr>
            </a:pPr>
            <a:r>
              <a:t>[+] Upload PDF</a:t>
            </a:r>
          </a:p>
          <a:p>
            <a:br/>
            <a:pPr>
              <a:defRPr sz="950">
                <a:solidFill>
                  <a:srgbClr val="FFFFFF"/>
                </a:solidFill>
              </a:defRPr>
            </a:pPr>
            <a:r>
              <a:t>[o] View Clauses</a:t>
            </a:r>
          </a:p>
          <a:p>
            <a:br/>
            <a:pPr>
              <a:defRPr sz="950">
                <a:solidFill>
                  <a:srgbClr val="FFFFFF"/>
                </a:solidFill>
              </a:defRPr>
            </a:pPr>
            <a:r>
              <a:t>[?] Query Search</a:t>
            </a:r>
          </a:p>
          <a:p>
            <a:br/>
            <a:pPr>
              <a:defRPr sz="950">
                <a:solidFill>
                  <a:srgbClr val="FFFFFF"/>
                </a:solidFill>
              </a:defRPr>
            </a:pPr>
            <a:r>
              <a:t>[*] Model Stats</a:t>
            </a:r>
          </a:p>
          <a:p>
            <a:br/>
            <a:pPr>
              <a:defRPr sz="950">
                <a:solidFill>
                  <a:srgbClr val="FFFFFF"/>
                </a:solidFill>
              </a:defRPr>
            </a:pPr>
            <a:r>
              <a:t>[x] Settings</a:t>
            </a:r>
          </a:p>
        </p:txBody>
      </p:sp>
      <p:sp>
        <p:nvSpPr>
          <p:cNvPr id="9" name="Rounded Rectangle 8"/>
          <p:cNvSpPr/>
          <p:nvPr/>
        </p:nvSpPr>
        <p:spPr>
          <a:xfrm>
            <a:off x="2651760" y="2194560"/>
            <a:ext cx="4114800" cy="16459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lIns="137160" tIns="137160"/>
          <a:lstStyle/>
          <a:p>
            <a:pPr algn="ctr">
              <a:defRPr b="1"/>
            </a:pPr>
            <a:r>
              <a:t>Upload Contract PDF</a:t>
            </a:r>
          </a:p>
          <a:p>
            <a:br/>
            <a:pPr>
              <a:defRPr sz="950">
                <a:solidFill>
                  <a:srgbClr val="3C5A82"/>
                </a:solidFill>
              </a:defRPr>
            </a:pPr>
            <a:r>
              <a:t>[ Drag &amp; Drop PDF Here ]</a:t>
            </a:r>
            <a:br/>
            <a:br/>
            <a:r>
              <a:t>- Accepted format: .pdf</a:t>
            </a:r>
            <a:br/>
            <a:r>
              <a:t>- Max size: 25MB</a:t>
            </a:r>
          </a:p>
        </p:txBody>
      </p:sp>
      <p:sp>
        <p:nvSpPr>
          <p:cNvPr id="10" name="Rounded Rectangle 9"/>
          <p:cNvSpPr/>
          <p:nvPr/>
        </p:nvSpPr>
        <p:spPr>
          <a:xfrm>
            <a:off x="6949440" y="2194560"/>
            <a:ext cx="5029200" cy="16459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lIns="137160" tIns="137160"/>
          <a:lstStyle/>
          <a:p>
            <a:pPr algn="ctr"/>
            <a:r>
              <a:t>Intelligent Semantic Search</a:t>
            </a:r>
          </a:p>
          <a:p>
            <a:br/>
            <a:pPr>
              <a:defRPr sz="950" i="1">
                <a:solidFill>
                  <a:srgbClr val="3C5A82"/>
                </a:solidFill>
              </a:defRPr>
            </a:pPr>
            <a:r>
              <a:t>Query: [ Find governing law and liability caps... ]</a:t>
            </a:r>
          </a:p>
        </p:txBody>
      </p:sp>
      <p:sp>
        <p:nvSpPr>
          <p:cNvPr id="11" name="Rounded Rectangle 10"/>
          <p:cNvSpPr/>
          <p:nvPr/>
        </p:nvSpPr>
        <p:spPr>
          <a:xfrm>
            <a:off x="2651760" y="4023360"/>
            <a:ext cx="9326880" cy="182880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lIns="137160" tIns="137160"/>
          <a:lstStyle/>
          <a:p>
            <a:pPr algn="ctr">
              <a:defRPr b="1"/>
            </a:pPr>
            <a:r>
              <a:t>Extracted Clauses &amp; Predictions Log</a:t>
            </a:r>
          </a:p>
          <a:p>
            <a:br/>
            <a:pPr>
              <a:defRPr b="1" sz="950">
                <a:solidFill>
                  <a:srgbClr val="172544"/>
                </a:solidFill>
              </a:defRPr>
            </a:pPr>
            <a:r>
              <a:t>Clause Snippet                      | Predicted Class  | Conf. | Action</a:t>
            </a:r>
          </a:p>
          <a:p>
            <a:pPr>
              <a:defRPr sz="900">
                <a:solidFill>
                  <a:srgbClr val="212529"/>
                </a:solidFill>
                <a:latin typeface="Consolas"/>
              </a:defRPr>
            </a:pPr>
            <a:r>
              <a:t>"This Agreement governed by NY law..." | Governing Law     | 98.4% | [View]</a:t>
            </a:r>
            <a:br/>
            <a:r>
              <a:t>"In no event shall liability exceed $50k..."| Cap On Liability | 95.8% | [View]</a:t>
            </a:r>
            <a:br/>
            <a:r>
              <a:t>"Neither party may assign rights..."       | Anti-Assignment  | 91.2% | [View]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16</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SCREEN DETAILS</a:t>
            </a:r>
          </a:p>
          <a:p>
            <a:pPr>
              <a:spcBef>
                <a:spcPts val="400"/>
              </a:spcBef>
              <a:defRPr sz="1300" i="1">
                <a:solidFill>
                  <a:srgbClr val="3C5A82"/>
                </a:solidFill>
                <a:latin typeface="Calibri"/>
              </a:defRPr>
            </a:pPr>
            <a:r>
              <a:t>Functional GUI Components and Actions</a:t>
            </a:r>
          </a:p>
        </p:txBody>
      </p:sp>
      <p:sp>
        <p:nvSpPr>
          <p:cNvPr id="6" name="Rounded Rectangle 5"/>
          <p:cNvSpPr/>
          <p:nvPr/>
        </p:nvSpPr>
        <p:spPr>
          <a:xfrm>
            <a:off x="457200" y="1645920"/>
            <a:ext cx="3383280" cy="1828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783080"/>
            <a:ext cx="3108960" cy="1554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1. Upload PDF Button</a:t>
            </a:r>
          </a:p>
          <a:p>
            <a:pPr>
              <a:spcAft>
                <a:spcPts val="400"/>
              </a:spcAft>
              <a:defRPr sz="1100">
                <a:solidFill>
                  <a:srgbClr val="212529"/>
                </a:solidFill>
                <a:latin typeface="Calibri"/>
              </a:defRPr>
            </a:pPr>
            <a:r>
              <a:t>• Ingests multi-page commercial contracts.</a:t>
            </a:r>
          </a:p>
          <a:p>
            <a:pPr>
              <a:spcAft>
                <a:spcPts val="400"/>
              </a:spcAft>
              <a:defRPr sz="1100">
                <a:solidFill>
                  <a:srgbClr val="212529"/>
                </a:solidFill>
                <a:latin typeface="Calibri"/>
              </a:defRPr>
            </a:pPr>
            <a:r>
              <a:t>• Accepts standard PDF files.</a:t>
            </a:r>
          </a:p>
          <a:p>
            <a:pPr>
              <a:spcAft>
                <a:spcPts val="400"/>
              </a:spcAft>
              <a:defRPr sz="1100">
                <a:solidFill>
                  <a:srgbClr val="212529"/>
                </a:solidFill>
                <a:latin typeface="Calibri"/>
              </a:defRPr>
            </a:pPr>
            <a:r>
              <a:t>• Triggers text extraction and classification.</a:t>
            </a:r>
          </a:p>
        </p:txBody>
      </p:sp>
      <p:sp>
        <p:nvSpPr>
          <p:cNvPr id="8" name="Rounded Rectangle 7"/>
          <p:cNvSpPr/>
          <p:nvPr/>
        </p:nvSpPr>
        <p:spPr>
          <a:xfrm>
            <a:off x="4389120" y="1645920"/>
            <a:ext cx="3383280" cy="1828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83080"/>
            <a:ext cx="3108960" cy="1554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2. Search Box</a:t>
            </a:r>
          </a:p>
          <a:p>
            <a:pPr>
              <a:spcAft>
                <a:spcPts val="400"/>
              </a:spcAft>
              <a:defRPr sz="1100">
                <a:solidFill>
                  <a:srgbClr val="212529"/>
                </a:solidFill>
                <a:latin typeface="Calibri"/>
              </a:defRPr>
            </a:pPr>
            <a:r>
              <a:t>• Supports natural language query strings.</a:t>
            </a:r>
          </a:p>
          <a:p>
            <a:pPr>
              <a:spcAft>
                <a:spcPts val="400"/>
              </a:spcAft>
              <a:defRPr sz="1100">
                <a:solidFill>
                  <a:srgbClr val="212529"/>
                </a:solidFill>
                <a:latin typeface="Calibri"/>
              </a:defRPr>
            </a:pPr>
            <a:r>
              <a:t>• Vectorizes input in the TF-IDF space.</a:t>
            </a:r>
          </a:p>
          <a:p>
            <a:pPr>
              <a:spcAft>
                <a:spcPts val="400"/>
              </a:spcAft>
              <a:defRPr sz="1100">
                <a:solidFill>
                  <a:srgbClr val="212529"/>
                </a:solidFill>
                <a:latin typeface="Calibri"/>
              </a:defRPr>
            </a:pPr>
            <a:r>
              <a:t>• Returns cosine similarity results.</a:t>
            </a:r>
          </a:p>
        </p:txBody>
      </p:sp>
      <p:sp>
        <p:nvSpPr>
          <p:cNvPr id="10" name="Rounded Rectangle 9"/>
          <p:cNvSpPr/>
          <p:nvPr/>
        </p:nvSpPr>
        <p:spPr>
          <a:xfrm>
            <a:off x="8321040" y="1645920"/>
            <a:ext cx="3383280" cy="1828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0" y="1783080"/>
            <a:ext cx="3108960" cy="1554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3. Clause Viewer</a:t>
            </a:r>
          </a:p>
          <a:p>
            <a:pPr>
              <a:spcAft>
                <a:spcPts val="400"/>
              </a:spcAft>
              <a:defRPr sz="1100">
                <a:solidFill>
                  <a:srgbClr val="212529"/>
                </a:solidFill>
                <a:latin typeface="Calibri"/>
              </a:defRPr>
            </a:pPr>
            <a:r>
              <a:t>• Scrollable table presenting clause text.</a:t>
            </a:r>
          </a:p>
          <a:p>
            <a:pPr>
              <a:spcAft>
                <a:spcPts val="400"/>
              </a:spcAft>
              <a:defRPr sz="1100">
                <a:solidFill>
                  <a:srgbClr val="212529"/>
                </a:solidFill>
                <a:latin typeface="Calibri"/>
              </a:defRPr>
            </a:pPr>
            <a:r>
              <a:t>• Highlights key sentences.</a:t>
            </a:r>
          </a:p>
          <a:p>
            <a:pPr>
              <a:spcAft>
                <a:spcPts val="400"/>
              </a:spcAft>
              <a:defRPr sz="1100">
                <a:solidFill>
                  <a:srgbClr val="212529"/>
                </a:solidFill>
                <a:latin typeface="Calibri"/>
              </a:defRPr>
            </a:pPr>
            <a:r>
              <a:t>• Displays predicted legal labels.</a:t>
            </a:r>
          </a:p>
        </p:txBody>
      </p:sp>
      <p:sp>
        <p:nvSpPr>
          <p:cNvPr id="12" name="Rounded Rectangle 11"/>
          <p:cNvSpPr/>
          <p:nvPr/>
        </p:nvSpPr>
        <p:spPr>
          <a:xfrm>
            <a:off x="2377440" y="3749039"/>
            <a:ext cx="3383280" cy="1828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4600" y="3886199"/>
            <a:ext cx="3108960" cy="1554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4. Category Filter</a:t>
            </a:r>
          </a:p>
          <a:p>
            <a:pPr>
              <a:spcAft>
                <a:spcPts val="400"/>
              </a:spcAft>
              <a:defRPr sz="1100">
                <a:solidFill>
                  <a:srgbClr val="212529"/>
                </a:solidFill>
                <a:latin typeface="Calibri"/>
              </a:defRPr>
            </a:pPr>
            <a:r>
              <a:t>• Filter display by category.</a:t>
            </a:r>
          </a:p>
          <a:p>
            <a:pPr>
              <a:spcAft>
                <a:spcPts val="400"/>
              </a:spcAft>
              <a:defRPr sz="1100">
                <a:solidFill>
                  <a:srgbClr val="212529"/>
                </a:solidFill>
                <a:latin typeface="Calibri"/>
              </a:defRPr>
            </a:pPr>
            <a:r>
              <a:t>• User can filter to show e.g. 'Governing Law'.</a:t>
            </a:r>
          </a:p>
          <a:p>
            <a:pPr>
              <a:spcAft>
                <a:spcPts val="400"/>
              </a:spcAft>
              <a:defRPr sz="1100">
                <a:solidFill>
                  <a:srgbClr val="212529"/>
                </a:solidFill>
                <a:latin typeface="Calibri"/>
              </a:defRPr>
            </a:pPr>
            <a:r>
              <a:t>• Helps triage specific legal obligations.</a:t>
            </a:r>
          </a:p>
        </p:txBody>
      </p:sp>
      <p:sp>
        <p:nvSpPr>
          <p:cNvPr id="14" name="Rounded Rectangle 13"/>
          <p:cNvSpPr/>
          <p:nvPr/>
        </p:nvSpPr>
        <p:spPr>
          <a:xfrm>
            <a:off x="6309360" y="3749039"/>
            <a:ext cx="3383280" cy="1828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3886199"/>
            <a:ext cx="3108960" cy="1554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5. Prediction Result Card</a:t>
            </a:r>
          </a:p>
          <a:p>
            <a:pPr>
              <a:spcAft>
                <a:spcPts val="400"/>
              </a:spcAft>
              <a:defRPr sz="1100">
                <a:solidFill>
                  <a:srgbClr val="212529"/>
                </a:solidFill>
                <a:latin typeface="Calibri"/>
              </a:defRPr>
            </a:pPr>
            <a:r>
              <a:t>• Displays prediction classification labels.</a:t>
            </a:r>
          </a:p>
          <a:p>
            <a:pPr>
              <a:spcAft>
                <a:spcPts val="400"/>
              </a:spcAft>
              <a:defRPr sz="1100">
                <a:solidFill>
                  <a:srgbClr val="212529"/>
                </a:solidFill>
                <a:latin typeface="Calibri"/>
              </a:defRPr>
            </a:pPr>
            <a:r>
              <a:t>• Includes probability confidence scores.</a:t>
            </a:r>
          </a:p>
          <a:p>
            <a:pPr>
              <a:spcAft>
                <a:spcPts val="400"/>
              </a:spcAft>
              <a:defRPr sz="1100">
                <a:solidFill>
                  <a:srgbClr val="212529"/>
                </a:solidFill>
                <a:latin typeface="Calibri"/>
              </a:defRPr>
            </a:pPr>
            <a:r>
              <a:t>• Flags low-confidence predictions for review.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17</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TOOLS &amp; TECHNOLOGIES</a:t>
            </a:r>
          </a:p>
          <a:p>
            <a:pPr>
              <a:spcBef>
                <a:spcPts val="400"/>
              </a:spcBef>
              <a:defRPr sz="1300" i="1">
                <a:solidFill>
                  <a:srgbClr val="3C5A82"/>
                </a:solidFill>
                <a:latin typeface="Calibri"/>
              </a:defRPr>
            </a:pPr>
            <a:r>
              <a:t>System Development Stack</a:t>
            </a:r>
          </a:p>
        </p:txBody>
      </p:sp>
      <p:sp>
        <p:nvSpPr>
          <p:cNvPr id="6" name="Rounded Rectangle 5"/>
          <p:cNvSpPr/>
          <p:nvPr/>
        </p:nvSpPr>
        <p:spPr>
          <a:xfrm>
            <a:off x="457200" y="1645920"/>
            <a:ext cx="338328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783080"/>
            <a:ext cx="3108960" cy="3840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Languages &amp; Web</a:t>
            </a:r>
          </a:p>
          <a:p>
            <a:pPr>
              <a:spcAft>
                <a:spcPts val="400"/>
              </a:spcAft>
              <a:defRPr sz="1100">
                <a:solidFill>
                  <a:srgbClr val="212529"/>
                </a:solidFill>
                <a:latin typeface="Calibri"/>
              </a:defRPr>
            </a:pPr>
            <a:r>
              <a:t>• Python: Core language for data analysis, preprocessing, and machine learning model training.</a:t>
            </a:r>
          </a:p>
          <a:p>
            <a:pPr>
              <a:spcAft>
                <a:spcPts val="400"/>
              </a:spcAft>
              <a:defRPr sz="1100">
                <a:solidFill>
                  <a:srgbClr val="212529"/>
                </a:solidFill>
                <a:latin typeface="Calibri"/>
              </a:defRPr>
            </a:pPr>
            <a:r>
              <a:t>• Flask: Lightweight WSGI web framework, used to expose RESTful APIs for the application.</a:t>
            </a:r>
          </a:p>
          <a:p>
            <a:pPr>
              <a:spcAft>
                <a:spcPts val="400"/>
              </a:spcAft>
              <a:defRPr sz="1100">
                <a:solidFill>
                  <a:srgbClr val="212529"/>
                </a:solidFill>
                <a:latin typeface="Calibri"/>
              </a:defRPr>
            </a:pPr>
            <a:r>
              <a:t>• HTML, CSS, JavaScript: Standard technologies for building the user interface.</a:t>
            </a:r>
          </a:p>
        </p:txBody>
      </p:sp>
      <p:sp>
        <p:nvSpPr>
          <p:cNvPr id="8" name="Rounded Rectangle 7"/>
          <p:cNvSpPr/>
          <p:nvPr/>
        </p:nvSpPr>
        <p:spPr>
          <a:xfrm>
            <a:off x="4389120" y="1645920"/>
            <a:ext cx="338328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83080"/>
            <a:ext cx="3108960" cy="3840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Data &amp; Machine Learning</a:t>
            </a:r>
          </a:p>
          <a:p>
            <a:pPr>
              <a:spcAft>
                <a:spcPts val="400"/>
              </a:spcAft>
              <a:defRPr sz="1100">
                <a:solidFill>
                  <a:srgbClr val="212529"/>
                </a:solidFill>
                <a:latin typeface="Calibri"/>
              </a:defRPr>
            </a:pPr>
            <a:r>
              <a:t>• Scikit-learn: Vectorization (TF-IDF) and machine learning models (Naive Bayes, SVM, Logistic Regression, Random Forest).</a:t>
            </a:r>
          </a:p>
          <a:p>
            <a:pPr>
              <a:spcAft>
                <a:spcPts val="400"/>
              </a:spcAft>
              <a:defRPr sz="1100">
                <a:solidFill>
                  <a:srgbClr val="212529"/>
                </a:solidFill>
                <a:latin typeface="Calibri"/>
              </a:defRPr>
            </a:pPr>
            <a:r>
              <a:t>• spaCy &amp; NLTK: Text tokenization, stopword removal, and lemmatization.</a:t>
            </a:r>
          </a:p>
          <a:p>
            <a:pPr>
              <a:spcAft>
                <a:spcPts val="400"/>
              </a:spcAft>
              <a:defRPr sz="1100">
                <a:solidFill>
                  <a:srgbClr val="212529"/>
                </a:solidFill>
                <a:latin typeface="Calibri"/>
              </a:defRPr>
            </a:pPr>
            <a:r>
              <a:t>• Pandas &amp; NumPy: Data cleaning and exploratory analysis.</a:t>
            </a:r>
          </a:p>
        </p:txBody>
      </p:sp>
      <p:sp>
        <p:nvSpPr>
          <p:cNvPr id="10" name="Rounded Rectangle 9"/>
          <p:cNvSpPr/>
          <p:nvPr/>
        </p:nvSpPr>
        <p:spPr>
          <a:xfrm>
            <a:off x="8321040" y="1645920"/>
            <a:ext cx="338328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0" y="1783080"/>
            <a:ext cx="3108960" cy="3840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Utilities &amp; Database</a:t>
            </a:r>
          </a:p>
          <a:p>
            <a:pPr>
              <a:spcAft>
                <a:spcPts val="400"/>
              </a:spcAft>
              <a:defRPr sz="1100">
                <a:solidFill>
                  <a:srgbClr val="212529"/>
                </a:solidFill>
                <a:latin typeface="Calibri"/>
              </a:defRPr>
            </a:pPr>
            <a:r>
              <a:t>• SQLite: Self-contained relational database to store clauses, predicted categories, and metadata.</a:t>
            </a:r>
          </a:p>
          <a:p>
            <a:pPr>
              <a:spcAft>
                <a:spcPts val="400"/>
              </a:spcAft>
              <a:defRPr sz="1100">
                <a:solidFill>
                  <a:srgbClr val="212529"/>
                </a:solidFill>
                <a:latin typeface="Calibri"/>
              </a:defRPr>
            </a:pPr>
            <a:r>
              <a:t>• PyMuPDF (fitz): Text extraction from PDF documents.</a:t>
            </a:r>
          </a:p>
          <a:p>
            <a:pPr>
              <a:spcAft>
                <a:spcPts val="400"/>
              </a:spcAft>
              <a:defRPr sz="1100">
                <a:solidFill>
                  <a:srgbClr val="212529"/>
                </a:solidFill>
                <a:latin typeface="Calibri"/>
              </a:defRPr>
            </a:pPr>
            <a:r>
              <a:t>• Matplotlib, Seaborn, WordCloud: Libraries for generating data analysis visualizations.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18</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EXPECTED OUTPUT</a:t>
            </a:r>
          </a:p>
          <a:p>
            <a:pPr>
              <a:spcBef>
                <a:spcPts val="400"/>
              </a:spcBef>
              <a:defRPr sz="1300" i="1">
                <a:solidFill>
                  <a:srgbClr val="3C5A82"/>
                </a:solidFill>
                <a:latin typeface="Calibri"/>
              </a:defRPr>
            </a:pPr>
            <a:r>
              <a:t>Sample System Output Log and Search Rankings</a:t>
            </a:r>
          </a:p>
        </p:txBody>
      </p:sp>
      <p:graphicFrame>
        <p:nvGraphicFramePr>
          <p:cNvPr id="6" name="Table 5"/>
          <p:cNvGraphicFramePr>
            <a:graphicFrameLocks noGrp="1"/>
          </p:cNvGraphicFramePr>
          <p:nvPr/>
        </p:nvGraphicFramePr>
        <p:xfrm>
          <a:off x="457200" y="1645920"/>
          <a:ext cx="11274551" cy="2926080"/>
        </p:xfrm>
        <a:graphic>
          <a:graphicData uri="http://schemas.openxmlformats.org/drawingml/2006/table">
            <a:tbl>
              <a:tblPr firstRow="1" bandRow="1">
                <a:tableStyleId>{5C22544A-7EE6-4342-B048-85BDC9FD1C3A}</a:tableStyleId>
              </a:tblPr>
              <a:tblGrid>
                <a:gridCol w="1828800"/>
                <a:gridCol w="4114800"/>
                <a:gridCol w="1828800"/>
                <a:gridCol w="1645920"/>
                <a:gridCol w="1856231"/>
              </a:tblGrid>
              <a:tr h="731520">
                <a:tc>
                  <a:txBody>
                    <a:bodyPr wrap="square" lIns="73152" tIns="73152" bIns="73152" rIns="73152"/>
                    <a:lstStyle/>
                    <a:p>
                      <a:pPr algn="ctr">
                        <a:defRPr sz="950" b="1">
                          <a:solidFill>
                            <a:srgbClr val="FFFFFF"/>
                          </a:solidFill>
                          <a:latin typeface="Calibri"/>
                        </a:defRPr>
                      </a:pPr>
                      <a:r>
                        <a:t>Contract File</a:t>
                      </a:r>
                    </a:p>
                  </a:txBody>
                  <a:tcPr>
                    <a:solidFill>
                      <a:srgbClr val="172544"/>
                    </a:solidFill>
                  </a:tcPr>
                </a:tc>
                <a:tc>
                  <a:txBody>
                    <a:bodyPr wrap="square" lIns="73152" tIns="73152" bIns="73152" rIns="73152"/>
                    <a:lstStyle/>
                    <a:p>
                      <a:pPr algn="ctr">
                        <a:defRPr sz="950" b="1">
                          <a:solidFill>
                            <a:srgbClr val="FFFFFF"/>
                          </a:solidFill>
                          <a:latin typeface="Calibri"/>
                        </a:defRPr>
                      </a:pPr>
                      <a:r>
                        <a:t>Extracted Clause Text Snippet</a:t>
                      </a:r>
                    </a:p>
                  </a:txBody>
                  <a:tcPr>
                    <a:solidFill>
                      <a:srgbClr val="172544"/>
                    </a:solidFill>
                  </a:tcPr>
                </a:tc>
                <a:tc>
                  <a:txBody>
                    <a:bodyPr wrap="square" lIns="73152" tIns="73152" bIns="73152" rIns="73152"/>
                    <a:lstStyle/>
                    <a:p>
                      <a:pPr algn="ctr">
                        <a:defRPr sz="950" b="1">
                          <a:solidFill>
                            <a:srgbClr val="FFFFFF"/>
                          </a:solidFill>
                          <a:latin typeface="Calibri"/>
                        </a:defRPr>
                      </a:pPr>
                      <a:r>
                        <a:t>Predicted Class</a:t>
                      </a:r>
                    </a:p>
                  </a:txBody>
                  <a:tcPr>
                    <a:solidFill>
                      <a:srgbClr val="172544"/>
                    </a:solidFill>
                  </a:tcPr>
                </a:tc>
                <a:tc>
                  <a:txBody>
                    <a:bodyPr wrap="square" lIns="73152" tIns="73152" bIns="73152" rIns="73152"/>
                    <a:lstStyle/>
                    <a:p>
                      <a:pPr algn="ctr">
                        <a:defRPr sz="950" b="1">
                          <a:solidFill>
                            <a:srgbClr val="FFFFFF"/>
                          </a:solidFill>
                          <a:latin typeface="Calibri"/>
                        </a:defRPr>
                      </a:pPr>
                      <a:r>
                        <a:t>Confidence</a:t>
                      </a:r>
                    </a:p>
                  </a:txBody>
                  <a:tcPr>
                    <a:solidFill>
                      <a:srgbClr val="172544"/>
                    </a:solidFill>
                  </a:tcPr>
                </a:tc>
                <a:tc>
                  <a:txBody>
                    <a:bodyPr wrap="square" lIns="73152" tIns="73152" bIns="73152" rIns="73152"/>
                    <a:lstStyle/>
                    <a:p>
                      <a:pPr algn="ctr">
                        <a:defRPr sz="950" b="1">
                          <a:solidFill>
                            <a:srgbClr val="FFFFFF"/>
                          </a:solidFill>
                          <a:latin typeface="Calibri"/>
                        </a:defRPr>
                      </a:pPr>
                      <a:r>
                        <a:t>Cosine Sim (Query)</a:t>
                      </a:r>
                    </a:p>
                  </a:txBody>
                  <a:tcPr>
                    <a:solidFill>
                      <a:srgbClr val="172544"/>
                    </a:solidFill>
                  </a:tcPr>
                </a:tc>
              </a:tr>
              <a:tr h="731520">
                <a:tc>
                  <a:txBody>
                    <a:bodyPr wrap="square" lIns="73152" tIns="73152" bIns="73152" rIns="73152"/>
                    <a:lstStyle/>
                    <a:p>
                      <a:pPr>
                        <a:defRPr sz="950" b="1">
                          <a:solidFill>
                            <a:srgbClr val="212529"/>
                          </a:solidFill>
                          <a:latin typeface="Calibri"/>
                        </a:defRPr>
                      </a:pPr>
                      <a:r>
                        <a:t>NDA_2026.pdf</a:t>
                      </a:r>
                    </a:p>
                  </a:txBody>
                  <a:tcPr>
                    <a:solidFill>
                      <a:srgbClr val="E6EBF5"/>
                    </a:solidFill>
                  </a:tcPr>
                </a:tc>
                <a:tc>
                  <a:txBody>
                    <a:bodyPr wrap="square" lIns="73152" tIns="73152" bIns="73152" rIns="73152"/>
                    <a:lstStyle/>
                    <a:p>
                      <a:pPr>
                        <a:defRPr sz="950">
                          <a:solidFill>
                            <a:srgbClr val="212529"/>
                          </a:solidFill>
                          <a:latin typeface="Calibri"/>
                        </a:defRPr>
                      </a:pPr>
                      <a:r>
                        <a:t>"This Agreement shall be governed by, and construed in accordance with, the laws of the State of New York..."</a:t>
                      </a:r>
                    </a:p>
                  </a:txBody>
                  <a:tcPr>
                    <a:solidFill>
                      <a:srgbClr val="E6EBF5"/>
                    </a:solidFill>
                  </a:tcPr>
                </a:tc>
                <a:tc>
                  <a:txBody>
                    <a:bodyPr wrap="square" lIns="73152" tIns="73152" bIns="73152" rIns="73152"/>
                    <a:lstStyle/>
                    <a:p>
                      <a:pPr>
                        <a:defRPr sz="950">
                          <a:solidFill>
                            <a:srgbClr val="212529"/>
                          </a:solidFill>
                          <a:latin typeface="Calibri"/>
                        </a:defRPr>
                      </a:pPr>
                      <a:r>
                        <a:t>Governing Law</a:t>
                      </a:r>
                    </a:p>
                  </a:txBody>
                  <a:tcPr>
                    <a:solidFill>
                      <a:srgbClr val="E6EBF5"/>
                    </a:solidFill>
                  </a:tcPr>
                </a:tc>
                <a:tc>
                  <a:txBody>
                    <a:bodyPr wrap="square" lIns="73152" tIns="73152" bIns="73152" rIns="73152"/>
                    <a:lstStyle/>
                    <a:p>
                      <a:pPr>
                        <a:defRPr sz="950">
                          <a:solidFill>
                            <a:srgbClr val="212529"/>
                          </a:solidFill>
                          <a:latin typeface="Calibri"/>
                        </a:defRPr>
                      </a:pPr>
                      <a:r>
                        <a:t>98.4%</a:t>
                      </a:r>
                    </a:p>
                  </a:txBody>
                  <a:tcPr>
                    <a:solidFill>
                      <a:srgbClr val="E6EBF5"/>
                    </a:solidFill>
                  </a:tcPr>
                </a:tc>
                <a:tc>
                  <a:txBody>
                    <a:bodyPr wrap="square" lIns="73152" tIns="73152" bIns="73152" rIns="73152"/>
                    <a:lstStyle/>
                    <a:p>
                      <a:pPr>
                        <a:defRPr sz="950">
                          <a:solidFill>
                            <a:srgbClr val="212529"/>
                          </a:solidFill>
                          <a:latin typeface="Calibri"/>
                        </a:defRPr>
                      </a:pPr>
                      <a:r>
                        <a:t>0.91 (Query: 'state law')</a:t>
                      </a:r>
                    </a:p>
                  </a:txBody>
                  <a:tcPr>
                    <a:solidFill>
                      <a:srgbClr val="E6EBF5"/>
                    </a:solidFill>
                  </a:tcPr>
                </a:tc>
              </a:tr>
              <a:tr h="731520">
                <a:tc>
                  <a:txBody>
                    <a:bodyPr wrap="square" lIns="73152" tIns="73152" bIns="73152" rIns="73152"/>
                    <a:lstStyle/>
                    <a:p>
                      <a:pPr>
                        <a:defRPr sz="950" b="1">
                          <a:solidFill>
                            <a:srgbClr val="212529"/>
                          </a:solidFill>
                          <a:latin typeface="Calibri"/>
                        </a:defRPr>
                      </a:pPr>
                      <a:r>
                        <a:t>SLA_Service.pdf</a:t>
                      </a:r>
                    </a:p>
                  </a:txBody>
                  <a:tcPr>
                    <a:solidFill>
                      <a:srgbClr val="FFFFFF"/>
                    </a:solidFill>
                  </a:tcPr>
                </a:tc>
                <a:tc>
                  <a:txBody>
                    <a:bodyPr wrap="square" lIns="73152" tIns="73152" bIns="73152" rIns="73152"/>
                    <a:lstStyle/>
                    <a:p>
                      <a:pPr>
                        <a:defRPr sz="950">
                          <a:solidFill>
                            <a:srgbClr val="212529"/>
                          </a:solidFill>
                          <a:latin typeface="Calibri"/>
                        </a:defRPr>
                      </a:pPr>
                      <a:r>
                        <a:t>"In no event shall either party's aggregate liability under this agreement exceed fifty thousand dollars ($50,000)..."</a:t>
                      </a:r>
                    </a:p>
                  </a:txBody>
                  <a:tcPr>
                    <a:solidFill>
                      <a:srgbClr val="FFFFFF"/>
                    </a:solidFill>
                  </a:tcPr>
                </a:tc>
                <a:tc>
                  <a:txBody>
                    <a:bodyPr wrap="square" lIns="73152" tIns="73152" bIns="73152" rIns="73152"/>
                    <a:lstStyle/>
                    <a:p>
                      <a:pPr>
                        <a:defRPr sz="950">
                          <a:solidFill>
                            <a:srgbClr val="212529"/>
                          </a:solidFill>
                          <a:latin typeface="Calibri"/>
                        </a:defRPr>
                      </a:pPr>
                      <a:r>
                        <a:t>Cap On Liability</a:t>
                      </a:r>
                    </a:p>
                  </a:txBody>
                  <a:tcPr>
                    <a:solidFill>
                      <a:srgbClr val="FFFFFF"/>
                    </a:solidFill>
                  </a:tcPr>
                </a:tc>
                <a:tc>
                  <a:txBody>
                    <a:bodyPr wrap="square" lIns="73152" tIns="73152" bIns="73152" rIns="73152"/>
                    <a:lstStyle/>
                    <a:p>
                      <a:pPr>
                        <a:defRPr sz="950">
                          <a:solidFill>
                            <a:srgbClr val="212529"/>
                          </a:solidFill>
                          <a:latin typeface="Calibri"/>
                        </a:defRPr>
                      </a:pPr>
                      <a:r>
                        <a:t>95.8%</a:t>
                      </a:r>
                    </a:p>
                  </a:txBody>
                  <a:tcPr>
                    <a:solidFill>
                      <a:srgbClr val="FFFFFF"/>
                    </a:solidFill>
                  </a:tcPr>
                </a:tc>
                <a:tc>
                  <a:txBody>
                    <a:bodyPr wrap="square" lIns="73152" tIns="73152" bIns="73152" rIns="73152"/>
                    <a:lstStyle/>
                    <a:p>
                      <a:pPr>
                        <a:defRPr sz="950">
                          <a:solidFill>
                            <a:srgbClr val="212529"/>
                          </a:solidFill>
                          <a:latin typeface="Calibri"/>
                        </a:defRPr>
                      </a:pPr>
                      <a:r>
                        <a:t>0.85 (Query: 'liability limit')</a:t>
                      </a:r>
                    </a:p>
                  </a:txBody>
                  <a:tcPr>
                    <a:solidFill>
                      <a:srgbClr val="FFFFFF"/>
                    </a:solidFill>
                  </a:tcPr>
                </a:tc>
              </a:tr>
              <a:tr h="731520">
                <a:tc>
                  <a:txBody>
                    <a:bodyPr wrap="square" lIns="73152" tIns="73152" bIns="73152" rIns="73152"/>
                    <a:lstStyle/>
                    <a:p>
                      <a:pPr>
                        <a:defRPr sz="950" b="1">
                          <a:solidFill>
                            <a:srgbClr val="212529"/>
                          </a:solidFill>
                          <a:latin typeface="Calibri"/>
                        </a:defRPr>
                      </a:pPr>
                      <a:r>
                        <a:t>Lease_Final.pdf</a:t>
                      </a:r>
                    </a:p>
                  </a:txBody>
                  <a:tcPr>
                    <a:solidFill>
                      <a:srgbClr val="E6EBF5"/>
                    </a:solidFill>
                  </a:tcPr>
                </a:tc>
                <a:tc>
                  <a:txBody>
                    <a:bodyPr wrap="square" lIns="73152" tIns="73152" bIns="73152" rIns="73152"/>
                    <a:lstStyle/>
                    <a:p>
                      <a:pPr>
                        <a:defRPr sz="950">
                          <a:solidFill>
                            <a:srgbClr val="212529"/>
                          </a:solidFill>
                          <a:latin typeface="Calibri"/>
                        </a:defRPr>
                      </a:pPr>
                      <a:r>
                        <a:t>"Tenant shall not assign this Lease or sublet the premises without obtaining landlord's prior written consent..."</a:t>
                      </a:r>
                    </a:p>
                  </a:txBody>
                  <a:tcPr>
                    <a:solidFill>
                      <a:srgbClr val="E6EBF5"/>
                    </a:solidFill>
                  </a:tcPr>
                </a:tc>
                <a:tc>
                  <a:txBody>
                    <a:bodyPr wrap="square" lIns="73152" tIns="73152" bIns="73152" rIns="73152"/>
                    <a:lstStyle/>
                    <a:p>
                      <a:pPr>
                        <a:defRPr sz="950">
                          <a:solidFill>
                            <a:srgbClr val="212529"/>
                          </a:solidFill>
                          <a:latin typeface="Calibri"/>
                        </a:defRPr>
                      </a:pPr>
                      <a:r>
                        <a:t>Anti-Assignment</a:t>
                      </a:r>
                    </a:p>
                  </a:txBody>
                  <a:tcPr>
                    <a:solidFill>
                      <a:srgbClr val="E6EBF5"/>
                    </a:solidFill>
                  </a:tcPr>
                </a:tc>
                <a:tc>
                  <a:txBody>
                    <a:bodyPr wrap="square" lIns="73152" tIns="73152" bIns="73152" rIns="73152"/>
                    <a:lstStyle/>
                    <a:p>
                      <a:pPr>
                        <a:defRPr sz="950">
                          <a:solidFill>
                            <a:srgbClr val="212529"/>
                          </a:solidFill>
                          <a:latin typeface="Calibri"/>
                        </a:defRPr>
                      </a:pPr>
                      <a:r>
                        <a:t>91.2%</a:t>
                      </a:r>
                    </a:p>
                  </a:txBody>
                  <a:tcPr>
                    <a:solidFill>
                      <a:srgbClr val="E6EBF5"/>
                    </a:solidFill>
                  </a:tcPr>
                </a:tc>
                <a:tc>
                  <a:txBody>
                    <a:bodyPr wrap="square" lIns="73152" tIns="73152" bIns="73152" rIns="73152"/>
                    <a:lstStyle/>
                    <a:p>
                      <a:pPr>
                        <a:defRPr sz="950">
                          <a:solidFill>
                            <a:srgbClr val="212529"/>
                          </a:solidFill>
                          <a:latin typeface="Calibri"/>
                        </a:defRPr>
                      </a:pPr>
                      <a:r>
                        <a:t>0.78 (Query: 'transfer lease')</a:t>
                      </a:r>
                    </a:p>
                  </a:txBody>
                  <a:tcPr>
                    <a:solidFill>
                      <a:srgbClr val="E6EBF5"/>
                    </a:solidFill>
                  </a:tcPr>
                </a:tc>
              </a:tr>
            </a:tbl>
          </a:graphicData>
        </a:graphic>
      </p:graphicFrame>
      <p:sp>
        <p:nvSpPr>
          <p:cNvPr id="7" name="TextBox 6"/>
          <p:cNvSpPr txBox="1"/>
          <p:nvPr/>
        </p:nvSpPr>
        <p:spPr>
          <a:xfrm>
            <a:off x="457200" y="4663440"/>
            <a:ext cx="11274552" cy="1371600"/>
          </a:xfrm>
          <a:prstGeom prst="rect">
            <a:avLst/>
          </a:prstGeom>
          <a:noFill/>
        </p:spPr>
        <p:txBody>
          <a:bodyPr wrap="square" lIns="0" tIns="0" bIns="0" rIns="0">
            <a:spAutoFit/>
          </a:bodyPr>
          <a:lstStyle/>
          <a:p>
            <a:pPr>
              <a:spcAft>
                <a:spcPts val="600"/>
              </a:spcAft>
              <a:defRPr sz="1400" b="1">
                <a:solidFill>
                  <a:srgbClr val="1EA0F0"/>
                </a:solidFill>
                <a:latin typeface="Trebuchet MS"/>
              </a:defRPr>
            </a:pPr>
            <a:r>
              <a:t>Output Summary</a:t>
            </a:r>
          </a:p>
          <a:p>
            <a:pPr>
              <a:spcAft>
                <a:spcPts val="400"/>
              </a:spcAft>
              <a:defRPr sz="1100">
                <a:solidFill>
                  <a:srgbClr val="212529"/>
                </a:solidFill>
                <a:latin typeface="Calibri"/>
              </a:defRPr>
            </a:pPr>
            <a:r>
              <a:t>• Automatic Classification: Categorizes clauses into predefined legal topics (Governing Law, Cap On Liability) and displays confidence scores.</a:t>
            </a:r>
          </a:p>
          <a:p>
            <a:pPr>
              <a:spcAft>
                <a:spcPts val="400"/>
              </a:spcAft>
              <a:defRPr sz="1100">
                <a:solidFill>
                  <a:srgbClr val="212529"/>
                </a:solidFill>
                <a:latin typeface="Calibri"/>
              </a:defRPr>
            </a:pPr>
            <a:r>
              <a:t>• Search Relevance: The system ranks clauses based on query concepts (e.g. 'liability limit' matched 'aggregate liability exceed'), showing that similarity-based retrieval is effective even without literal keyword matches.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5486400" cy="274320"/>
          </a:xfrm>
          <a:prstGeom prst="rect">
            <a:avLst/>
          </a:prstGeom>
          <a:noFill/>
        </p:spPr>
        <p:txBody>
          <a:bodyPr wrap="square" lIns="0" tIns="0" bIns="0" rIns="0">
            <a:spAutoFit/>
          </a:bodyPr>
          <a:lstStyle/>
          <a:p>
            <a:pPr>
              <a:defRPr sz="850">
                <a:solidFill>
                  <a:srgbClr val="3C5A82"/>
                </a:solidFill>
                <a:latin typeface="Calibri"/>
              </a:defRPr>
            </a:pPr>
            <a:r>
              <a:t>ClauseIQ -- Machine Learning-Based Contract Clause Classification and Intelligent Search</a:t>
            </a:r>
          </a:p>
        </p:txBody>
      </p:sp>
      <p:sp>
        <p:nvSpPr>
          <p:cNvPr id="4" name="TextBox 3"/>
          <p:cNvSpPr txBox="1"/>
          <p:nvPr/>
        </p:nvSpPr>
        <p:spPr>
          <a:xfrm>
            <a:off x="9144000" y="6446520"/>
            <a:ext cx="2681935" cy="274320"/>
          </a:xfrm>
          <a:prstGeom prst="rect">
            <a:avLst/>
          </a:prstGeom>
          <a:noFill/>
        </p:spPr>
        <p:txBody>
          <a:bodyPr wrap="square" lIns="0" tIns="0" bIns="0" rIns="0">
            <a:spAutoFit/>
          </a:bodyPr>
          <a:lstStyle/>
          <a:p>
            <a:pPr algn="r">
              <a:defRPr sz="850">
                <a:solidFill>
                  <a:srgbClr val="3C5A82"/>
                </a:solidFill>
                <a:latin typeface="Calibri"/>
              </a:defRPr>
            </a:pPr>
            <a:r>
              <a:t>Dept. of Computer Applications, MACE | Slide 19</a:t>
            </a:r>
          </a:p>
        </p:txBody>
      </p:sp>
      <p:sp>
        <p:nvSpPr>
          <p:cNvPr id="5" name="TextBox 4"/>
          <p:cNvSpPr txBox="1"/>
          <p:nvPr/>
        </p:nvSpPr>
        <p:spPr>
          <a:xfrm>
            <a:off x="457200" y="365760"/>
            <a:ext cx="11274552" cy="914400"/>
          </a:xfrm>
          <a:prstGeom prst="rect">
            <a:avLst/>
          </a:prstGeom>
          <a:noFill/>
        </p:spPr>
        <p:txBody>
          <a:bodyPr wrap="square" lIns="0" tIns="0" bIns="0" rIns="0">
            <a:spAutoFit/>
          </a:bodyPr>
          <a:lstStyle/>
          <a:p>
            <a:pPr>
              <a:defRPr sz="2400" b="1">
                <a:solidFill>
                  <a:srgbClr val="172544"/>
                </a:solidFill>
                <a:latin typeface="Trebuchet MS"/>
              </a:defRPr>
            </a:pPr>
            <a:r>
              <a:t>FUTURE ENHANCEMENTS</a:t>
            </a:r>
          </a:p>
          <a:p>
            <a:pPr>
              <a:spcBef>
                <a:spcPts val="400"/>
              </a:spcBef>
              <a:defRPr sz="1300" i="1">
                <a:solidFill>
                  <a:srgbClr val="3C5A82"/>
                </a:solidFill>
                <a:latin typeface="Calibri"/>
              </a:defRPr>
            </a:pPr>
            <a:r>
              <a:t>ClauseIQ Development Roadmap</a:t>
            </a:r>
          </a:p>
        </p:txBody>
      </p:sp>
      <p:sp>
        <p:nvSpPr>
          <p:cNvPr id="6" name="Rounded Rectangle 5"/>
          <p:cNvSpPr/>
          <p:nvPr/>
        </p:nvSpPr>
        <p:spPr>
          <a:xfrm>
            <a:off x="457200" y="1645920"/>
            <a:ext cx="530352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783080"/>
            <a:ext cx="5029200" cy="3840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1. Model &amp; Search Enhancements</a:t>
            </a:r>
          </a:p>
          <a:p>
            <a:pPr>
              <a:spcAft>
                <a:spcPts val="400"/>
              </a:spcAft>
              <a:defRPr sz="1100">
                <a:solidFill>
                  <a:srgbClr val="212529"/>
                </a:solidFill>
                <a:latin typeface="Calibri"/>
              </a:defRPr>
            </a:pPr>
            <a:r>
              <a:t>• Large Language Model (LLM) Integration:</a:t>
            </a:r>
          </a:p>
          <a:p>
            <a:pPr>
              <a:spcAft>
                <a:spcPts val="400"/>
              </a:spcAft>
              <a:defRPr sz="1100">
                <a:solidFill>
                  <a:srgbClr val="212529"/>
                </a:solidFill>
                <a:latin typeface="Calibri"/>
              </a:defRPr>
            </a:pPr>
            <a:r>
              <a:t>• Evaluate lightweight LLMs for zero-shot classification and complex reasoning in fourth-semester work.</a:t>
            </a:r>
          </a:p>
          <a:p>
            <a:pPr>
              <a:spcAft>
                <a:spcPts val="400"/>
              </a:spcAft>
              <a:defRPr sz="1100">
                <a:solidFill>
                  <a:srgbClr val="212529"/>
                </a:solidFill>
                <a:latin typeface="Calibri"/>
              </a:defRPr>
            </a:pPr>
            <a:r>
              <a:t>• Retrieval-Augmented Generation (RAG):</a:t>
            </a:r>
          </a:p>
          <a:p>
            <a:pPr>
              <a:spcAft>
                <a:spcPts val="400"/>
              </a:spcAft>
              <a:defRPr sz="1100">
                <a:solidFill>
                  <a:srgbClr val="212529"/>
                </a:solidFill>
                <a:latin typeface="Calibri"/>
              </a:defRPr>
            </a:pPr>
            <a:r>
              <a:t>• Implement RAG to connect our clause database to generative models, allowing users to synthesize summaries and check contract compliance.</a:t>
            </a:r>
          </a:p>
          <a:p>
            <a:pPr>
              <a:spcAft>
                <a:spcPts val="400"/>
              </a:spcAft>
              <a:defRPr sz="1100">
                <a:solidFill>
                  <a:srgbClr val="212529"/>
                </a:solidFill>
                <a:latin typeface="Calibri"/>
              </a:defRPr>
            </a:pPr>
            <a:r>
              <a:t>• Multilingual Processing:</a:t>
            </a:r>
          </a:p>
          <a:p>
            <a:pPr>
              <a:spcAft>
                <a:spcPts val="400"/>
              </a:spcAft>
              <a:defRPr sz="1100">
                <a:solidFill>
                  <a:srgbClr val="212529"/>
                </a:solidFill>
                <a:latin typeface="Calibri"/>
              </a:defRPr>
            </a:pPr>
            <a:r>
              <a:t>• Extend processing to classify multilingual contracts (Spanish, French, German) by incorporating translation layers.</a:t>
            </a:r>
          </a:p>
        </p:txBody>
      </p:sp>
      <p:sp>
        <p:nvSpPr>
          <p:cNvPr id="8" name="Rounded Rectangle 7"/>
          <p:cNvSpPr/>
          <p:nvPr/>
        </p:nvSpPr>
        <p:spPr>
          <a:xfrm>
            <a:off x="6217920" y="1645920"/>
            <a:ext cx="5303520" cy="4114800"/>
          </a:xfrm>
          <a:prstGeom prst="round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783080"/>
            <a:ext cx="5029200" cy="3840480"/>
          </a:xfrm>
          <a:prstGeom prst="rect">
            <a:avLst/>
          </a:prstGeom>
          <a:noFill/>
        </p:spPr>
        <p:txBody>
          <a:bodyPr wrap="square" lIns="0" tIns="0" bIns="0" rIns="0">
            <a:spAutoFit/>
          </a:bodyPr>
          <a:lstStyle/>
          <a:p>
            <a:pPr>
              <a:spcAft>
                <a:spcPts val="600"/>
              </a:spcAft>
              <a:defRPr sz="1400" b="1">
                <a:solidFill>
                  <a:srgbClr val="172544"/>
                </a:solidFill>
                <a:latin typeface="Trebuchet MS"/>
              </a:defRPr>
            </a:pPr>
            <a:r>
              <a:t>2. Platform &amp; UI Additions</a:t>
            </a:r>
          </a:p>
          <a:p>
            <a:pPr>
              <a:spcAft>
                <a:spcPts val="400"/>
              </a:spcAft>
              <a:defRPr sz="1100">
                <a:solidFill>
                  <a:srgbClr val="212529"/>
                </a:solidFill>
                <a:latin typeface="Calibri"/>
              </a:defRPr>
            </a:pPr>
            <a:r>
              <a:t>• Cloud Deployment:</a:t>
            </a:r>
          </a:p>
          <a:p>
            <a:pPr>
              <a:spcAft>
                <a:spcPts val="400"/>
              </a:spcAft>
              <a:defRPr sz="1100">
                <a:solidFill>
                  <a:srgbClr val="212529"/>
                </a:solidFill>
                <a:latin typeface="Calibri"/>
              </a:defRPr>
            </a:pPr>
            <a:r>
              <a:t>• Migrate from SQLite/Flask to a scalable architecture using FastAPI and PostgreSQL/Supabase, hosting on AWS.</a:t>
            </a:r>
          </a:p>
          <a:p>
            <a:pPr>
              <a:spcAft>
                <a:spcPts val="400"/>
              </a:spcAft>
              <a:defRPr sz="1100">
                <a:solidFill>
                  <a:srgbClr val="212529"/>
                </a:solidFill>
                <a:latin typeface="Calibri"/>
              </a:defRPr>
            </a:pPr>
            <a:r>
              <a:t>• Automated Contract Summarization:</a:t>
            </a:r>
          </a:p>
          <a:p>
            <a:pPr>
              <a:spcAft>
                <a:spcPts val="400"/>
              </a:spcAft>
              <a:defRPr sz="1100">
                <a:solidFill>
                  <a:srgbClr val="212529"/>
                </a:solidFill>
                <a:latin typeface="Calibri"/>
              </a:defRPr>
            </a:pPr>
            <a:r>
              <a:t>• Integrate summarization models to generate executive summaries of documents.</a:t>
            </a:r>
          </a:p>
          <a:p>
            <a:pPr>
              <a:spcAft>
                <a:spcPts val="400"/>
              </a:spcAft>
              <a:defRPr sz="1100">
                <a:solidFill>
                  <a:srgbClr val="212529"/>
                </a:solidFill>
                <a:latin typeface="Calibri"/>
              </a:defRPr>
            </a:pPr>
            <a:r>
              <a:t>• Interactive Legal Chatbot:</a:t>
            </a:r>
          </a:p>
          <a:p>
            <a:pPr>
              <a:spcAft>
                <a:spcPts val="400"/>
              </a:spcAft>
              <a:defRPr sz="1100">
                <a:solidFill>
                  <a:srgbClr val="212529"/>
                </a:solidFill>
                <a:latin typeface="Calibri"/>
              </a:defRPr>
            </a:pPr>
            <a:r>
              <a:t>• Build a conversational chatbot that can answer questions based on the retrieved clauses of uploaded agreements.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544"/>
        </a:solidFill>
        <a:effectLst/>
      </p:bgPr>
    </p:bg>
    <p:spTree>
      <p:nvGrpSpPr>
        <p:cNvPr id="1" name=""/>
        <p:cNvGrpSpPr/>
        <p:nvPr/>
      </p:nvGrpSpPr>
      <p:grpSpPr/>
      <p:sp>
        <p:nvSpPr>
          <p:cNvPr id="2" name="Rectangle 1"/>
          <p:cNvSpPr/>
          <p:nvPr/>
        </p:nvSpPr>
        <p:spPr>
          <a:xfrm>
            <a:off x="182880" y="182880"/>
            <a:ext cx="11825935" cy="6492240"/>
          </a:xfrm>
          <a:prstGeom prst="rect">
            <a:avLst/>
          </a:prstGeom>
          <a:noFill/>
          <a:ln w="19050">
            <a:solidFill>
              <a:srgbClr val="3C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0" y="2011680"/>
            <a:ext cx="7616952" cy="3200400"/>
          </a:xfrm>
          <a:prstGeom prst="rect">
            <a:avLst/>
          </a:prstGeom>
          <a:noFill/>
        </p:spPr>
        <p:txBody>
          <a:bodyPr wrap="square" lIns="0" tIns="0" bIns="0" rIns="0">
            <a:spAutoFit/>
          </a:bodyPr>
          <a:lstStyle/>
          <a:p>
            <a:pPr algn="ctr">
              <a:spcAft>
                <a:spcPts val="800"/>
              </a:spcAft>
              <a:defRPr sz="5600" b="1">
                <a:solidFill>
                  <a:srgbClr val="1EA0F0"/>
                </a:solidFill>
                <a:latin typeface="Trebuchet MS"/>
              </a:defRPr>
            </a:pPr>
            <a:r>
              <a:t>THANK YOU</a:t>
            </a:r>
          </a:p>
          <a:p>
            <a:pPr algn="ctr">
              <a:spcAft>
                <a:spcPts val="2400"/>
              </a:spcAft>
              <a:defRPr sz="1600" b="1">
                <a:solidFill>
                  <a:srgbClr val="FFFFFF"/>
                </a:solidFill>
                <a:latin typeface="Calibri"/>
              </a:defRPr>
            </a:pPr>
            <a:r>
              <a:t>ClauseIQ: Contract Clause Classification &amp; Intelligent Search System</a:t>
            </a:r>
          </a:p>
          <a:p>
            <a:pPr algn="ctr">
              <a:defRPr sz="1300">
                <a:solidFill>
                  <a:srgbClr val="F0F4F8"/>
                </a:solidFill>
                <a:latin typeface="Calibri"/>
              </a:defRPr>
            </a:pPr>
            <a:r>
              <a:t>Student Name: Mohammed Farhan K  |  Reg No: MAC25MCA-2042</a:t>
            </a:r>
            <a:br/>
            <a:r>
              <a:t>Project Guide: Dr. Sonia Abraham</a:t>
            </a:r>
            <a:br/>
            <a:r>
              <a:t>Department of Computer Applications</a:t>
            </a:r>
            <a:br/>
            <a:r>
              <a:t>Mar Athanasius College of Engineering, Kothamangalam</a:t>
            </a:r>
            <a:br/>
            <a:r>
              <a:t>Contact: farhank@mace.ac.in  |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