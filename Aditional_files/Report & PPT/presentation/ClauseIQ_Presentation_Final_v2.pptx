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I am Mohammed Farhan K, a student of the MCA Department at Mar Athanasius College of Engineering. Today, I am presenting the first stage of my Mini Project titled 'ClauseIQ -- Machine Learning-Based Contract Clause Classification and Intelligent Search System'. This project is supervised by my guide, Dr. Sonia Abraham. This presentation will cover the problem statement, objectives, literature review, dataset analysis, exploratory data analysis, preprocessing, chosen machine learning algorithms, flowcharts, pseudocodes, system architecture, and our proposed GUI design.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look at the core problem. Commercial organizations deal with a massive volume of active legal contracts. Manual analysis of these documents is slow and prone to cognitive errors, potentially exposing companies to compliance risks. Standard keyword search is literal and doesn't capture semantics. A query for 'Liability Limit' will miss clauses that refer to 'aggregate exposure limit' or 'indemnity cap'. Contracts also lack a standardized structure. This creates high operational costs and delays. ClauseIQ addresses this by automating clause classification and similarity-based retrieval.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has six key engineering objectives: First, parse and extract text from PDFs. Second, segment unstructured text into clauses. Third, classify clauses automatically into 41 predefined CUAD categories. Fourth, implement a similarity-based search engine. Fifth, evaluate and compare four classical ML algorithms. Sixth, build a clean dashboard interface. We emphasize lightweight, deterministic local processing to preserve privacy, eliminate hallucination risks, and keep the application computationally lightweight, fitting within the MCA Mini Project scope.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review covers three recent IEEE papers. Quevedo et al. (2024) provide a mapping study that validates contract clause classification as a core Legal NLP task. Siino et al. (2025) review LLM applications in law, highlighting risks like hallucinations, privacy, and compute costs, which justifies our choice of deterministic classical ML. Kutbi (2023) shows that replacing named entities with generic tokens in preprocessing increases classification accuracy and preserves privacy. The research gap is the lack of lightweight, explainable, local systems, which ClauseIQ addresses.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dataset analysis, we utilize the Contract Understanding Atticus Dataset (CUAD), which is a public, expert-annotated legal NLP benchmark. It consists of 510 real commercial contracts from the SEC EDGAR database, with over 13,000 manually annotated clause spans across 41 categories. We flattened this QA dataset into a structured CSV, yielding 13,823 clauses. The pie chart on the right displays the class distribution. We notice a strong imbalance: the largest class 'Parties' accounts for 18.5% of the dataset, which requires class-balancing strategies.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Exploratory Data Analysis, we profile the dataset using Pandas. The dataset contains 13,823 rows and 5 columns. We used shape to verify size, info() to confirm that there are zero missing values, and describe() to analyze clause lengths. The mean word count is 40.7, but the median is 31, with a long tail up to 479 words. This right-skewed distribution justifies length-normalized TF-IDF vectorization. We also used value_counts() to profile the 41 categories, showing a severe class imbalance ranging from 2,554 'Parties' samples down to 27 'Price Restrictions' samples, which necessitates a stratified train-test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outlines our data preprocessing steps. The raw text goes through text cleaning (case normalisation and noise stripping), short-span filtering, tokenization, and lemmatization using spaCy. We then convert the text to numerical features using TF-IDF. We extract unigrams and bigrams, cap the vocabulary at 5,000 terms, and use L2 normalization to handle variable clause lengths. Finally, we split the corpus into an 80% training set and a 20% test set. We use a stratified split to ensure that all 41 categories, even the rarest ones, are represented proportionally in both sets.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results of our data visualization analysis. On the left, the horizontal bar chart illustrates the top 10 categories, highlighting the strong class imbalance, with 'Parties' being the dominant class. On the right, the Word Cloud shows the most common terms in the contracts. We see high frequencies of boilerplate legal terms like 'shall', 'agreement', 'party', 'confidential', and 'liability'. This visualizes why unigrams alone are insufficient and bigrams are needed to capture category-specific context. These charts were generated using Matplotlib, Seaborn, and the WordCloud libraries.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select four classical machine learning algorithms. Multinomial Naive Bayes serves as our simple baseline. Linear SVM is chosen because text classification problems are often linearly separable in high-dimensional spaces, and SVMs handle sparse TF-IDF vectors exceptionally well. Logistic Regression provides class probability distributions, which is useful for indicating prediction confidence to the user. Random Forest is selected as an ensemble method to capture non-linear interactions between terms.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grid highlights the trade-offs of each model. While Random Forest is robust, it has a larger memory footprint and slower training speeds. Linear SVM and Logistic Regression are computationally efficient and perform exceptionally well on sparse, high-dimensional TF-IDF matrices. Comparing multiple classifiers allows us to empirically determine the optimal balance of accuracy, memory footprint, and inference speed, ensuring that ClauseIQ remains explainable and lightweight for local desktop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displays the system flowchart. The process starts when the user uploads a contract. PyMuPDF extracts the raw text. Next, the text is segmented into distinct clauses and cleaned. We transform the cleaned text into numerical features using TF-IDF. This vectors are sent to two modules: the ML Classifier (predicts the category and outputs confidence scores) and the Search Engine (compares queries using Cosine Similarity and displays ranked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pseudocode details the algorithmic flow. When a PDF is uploaded, PyMuPDF extracts the raw text. The text is segmented into distinct clauses, and short paragraphs are filtered out. We then extract features using TF-IDF. The classifier predicts the category and calculates the confidence score. Finally, if the user submits a search query, it is vectorized and ranked against the corpus using Cosine Similarity, displaying the results in the 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pipeline displays our linear component workflow. The user interacts with the React frontend to upload PDFs. The frontend sends requests to our Flask backend via RESTful APIs. The backend processes the document using PyMuPDF, converts the clauses to TF-IDF vectors, performs machine learning predictions, and executes search rankings. The results are stored in SQLite and returned as JSON data to render in the user interface.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architecture is structured into three layers: First, the Client Layer built with React.js, which manages user interaction. Second, the Logic Layer implemented as a Flask API in Python, which handles PDF parsing, text preprocessing, model prediction, and cosine-similarity calculations. Third, the Data Layer utilizing SQLite to store extracted text segments, prediction metadata, and confidence scores. This self-contained structure allows offline, local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displays a visual mockup of our proposed user interface, built directly with shapes. The layout consists of a dark blue top header bar, a slate blue left sidebar for navigation, and a main area split into cards. The left card contains a drag-and-drop file upload zone. The right card contains the similarity search engine bar. At the bottom, the results table displays the extracted clause texts, predicted categories, confidence scores, and action buttons.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details the functionality of the GUI components: The Upload PDF button ingests documents. The Search Box parses natural language queries and runs Cosine Similarity to surface relevant clauses. The Clause Viewer displays text snippets with their predicted categories. The Category Filter helps legal professionals filter the table to specific topics, and the Prediction Result Card displays the predicted labels and confidence scores, flagging low-confidence values.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our system stack: Python is the core language. We use Flask for the backend, HTML, CSS, and JS for frontend layouts, and SQLite for self-contained relational storage. For machine learning, we use Scikit-learn to handle training, classification, and TF-IDF extraction, spaCy and NLTK for preprocessing, and PyMuPDF to extract text from PDFs. Matplotlib, Seaborn, and WordCloud are used to generate visual summaries.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showcases the expected system output. When a contract PDF is uploaded, the system segments the text, predicts its legal category, and displays the classifier's confidence score. If the user searches for a query like 'liability limit', the system matches clauses like 'aggregate liability exceed $50,000' using Cosine Similarity, even though they don't share identical literal keywords.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ahead, we have defined several enhancements for our fourth-semester main project. First, we will evaluate lightweight LLMs and deep learning models (e.g. Legal-BERT) to handle complex zero-shot classification tasks. Second, we plan to implement Retrieval-Augmented Generation (RAG) to allow conversational queries over the clause database. Third, we will extend the system with multilingual support, automatic summarization, and cloud deployment on AWS.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time and attention. I am now open to your questions, feedback, and suggestions.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544"/>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3C5A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1371600"/>
            <a:ext cx="137160" cy="137160"/>
          </a:xfrm>
          <a:prstGeom prst="ellipse">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2011680"/>
            <a:ext cx="137160" cy="137160"/>
          </a:xfrm>
          <a:prstGeom prst="ellipse">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2926080"/>
            <a:ext cx="137160" cy="137160"/>
          </a:xfrm>
          <a:prstGeom prst="ellipse">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371600" y="3840480"/>
            <a:ext cx="137160" cy="137160"/>
          </a:xfrm>
          <a:prstGeom prst="ellipse">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86000" y="3200400"/>
            <a:ext cx="137160" cy="137160"/>
          </a:xfrm>
          <a:prstGeom prst="ellipse">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5029200"/>
            <a:ext cx="137160" cy="137160"/>
          </a:xfrm>
          <a:prstGeom prst="ellipse">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11680" y="5303520"/>
            <a:ext cx="137160" cy="137160"/>
          </a:xfrm>
          <a:prstGeom prst="ellipse">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926080" y="4389120"/>
            <a:ext cx="137160" cy="137160"/>
          </a:xfrm>
          <a:prstGeom prst="ellipse">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280160"/>
            <a:ext cx="8412480" cy="2103120"/>
          </a:xfrm>
          <a:prstGeom prst="rect">
            <a:avLst/>
          </a:prstGeom>
          <a:noFill/>
        </p:spPr>
        <p:txBody>
          <a:bodyPr wrap="square" lIns="0" tIns="0" bIns="0" rIns="0">
            <a:spAutoFit/>
          </a:bodyPr>
          <a:lstStyle/>
          <a:p>
            <a:pPr>
              <a:defRPr sz="5400" b="1">
                <a:solidFill>
                  <a:srgbClr val="1EA0F0"/>
                </a:solidFill>
                <a:latin typeface="Trebuchet MS"/>
              </a:defRPr>
            </a:pPr>
            <a:r>
              <a:t>ClauseIQ</a:t>
            </a:r>
          </a:p>
          <a:p>
            <a:pPr>
              <a:spcBef>
                <a:spcPts val="800"/>
              </a:spcBef>
              <a:defRPr sz="2200" b="1">
                <a:solidFill>
                  <a:srgbClr val="FFFFFF"/>
                </a:solidFill>
                <a:latin typeface="Calibri"/>
              </a:defRPr>
            </a:pPr>
            <a:r>
              <a:t>Machine Learning-Based Contract Clause Classification</a:t>
            </a:r>
            <a:br/>
            <a:r>
              <a:t>&amp; Intelligent Search System</a:t>
            </a:r>
          </a:p>
        </p:txBody>
      </p:sp>
      <p:sp>
        <p:nvSpPr>
          <p:cNvPr id="12" name="TextBox 11"/>
          <p:cNvSpPr txBox="1"/>
          <p:nvPr/>
        </p:nvSpPr>
        <p:spPr>
          <a:xfrm>
            <a:off x="2926080" y="3566160"/>
            <a:ext cx="8412480" cy="2560320"/>
          </a:xfrm>
          <a:prstGeom prst="rect">
            <a:avLst/>
          </a:prstGeom>
          <a:noFill/>
        </p:spPr>
        <p:txBody>
          <a:bodyPr wrap="square" lIns="0" tIns="0" bIns="0" rIns="0">
            <a:spAutoFit/>
          </a:bodyPr>
          <a:lstStyle/>
          <a:p>
            <a:pPr>
              <a:spcAft>
                <a:spcPts val="200"/>
              </a:spcAft>
              <a:defRPr sz="1100" b="1">
                <a:solidFill>
                  <a:srgbClr val="1EA0F0"/>
                </a:solidFill>
              </a:defRPr>
            </a:pPr>
            <a:r>
              <a:t>DEVELOPED BY:</a:t>
            </a:r>
          </a:p>
          <a:p>
            <a:pPr>
              <a:spcAft>
                <a:spcPts val="1200"/>
              </a:spcAft>
              <a:defRPr sz="1400">
                <a:solidFill>
                  <a:srgbClr val="FFFFFF"/>
                </a:solidFill>
              </a:defRPr>
            </a:pPr>
            <a:r>
              <a:t>Mohammed Farhan K | Reg No: MAC25MCA-2042</a:t>
            </a:r>
            <a:br/>
            <a:r>
              <a:t>Department of Computer Applications</a:t>
            </a:r>
          </a:p>
          <a:p>
            <a:pPr>
              <a:spcAft>
                <a:spcPts val="200"/>
              </a:spcAft>
              <a:defRPr sz="1100" b="1">
                <a:solidFill>
                  <a:srgbClr val="1EA0F0"/>
                </a:solidFill>
              </a:defRPr>
            </a:pPr>
            <a:r>
              <a:t>PROJECT GUIDE:</a:t>
            </a:r>
          </a:p>
          <a:p>
            <a:pPr>
              <a:spcAft>
                <a:spcPts val="1200"/>
              </a:spcAft>
              <a:defRPr sz="1400">
                <a:solidFill>
                  <a:srgbClr val="FFFFFF"/>
                </a:solidFill>
              </a:defRPr>
            </a:pPr>
            <a:r>
              <a:t>Dr. Sonia Abraham | Associate Professor, Dept. of Computer Applications</a:t>
            </a:r>
          </a:p>
          <a:p>
            <a:pPr>
              <a:defRPr sz="1150" i="1">
                <a:solidFill>
                  <a:srgbClr val="F0F4F8"/>
                </a:solidFill>
              </a:defRPr>
            </a:pPr>
            <a:r>
              <a:t>Mar Athanasius College of Engineering, Kothamangalam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2</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PROBLEM STATEMENT</a:t>
            </a:r>
          </a:p>
          <a:p>
            <a:pPr>
              <a:spcBef>
                <a:spcPts val="400"/>
              </a:spcBef>
              <a:defRPr sz="1500" i="1">
                <a:solidFill>
                  <a:srgbClr val="3C5A82"/>
                </a:solidFill>
                <a:latin typeface="Calibri"/>
              </a:defRPr>
            </a:pPr>
            <a:r>
              <a:t>Challenges in Traditional Legal Document Processing</a:t>
            </a:r>
          </a:p>
        </p:txBody>
      </p:sp>
      <p:sp>
        <p:nvSpPr>
          <p:cNvPr id="6" name="Rounded Rectangle 5"/>
          <p:cNvSpPr/>
          <p:nvPr/>
        </p:nvSpPr>
        <p:spPr>
          <a:xfrm>
            <a:off x="548640" y="1645920"/>
            <a:ext cx="3383280" cy="393192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83080"/>
            <a:ext cx="3108960" cy="365760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1. Review Fatigue</a:t>
            </a:r>
          </a:p>
          <a:p>
            <a:pPr>
              <a:spcAft>
                <a:spcPts val="600"/>
              </a:spcAft>
              <a:defRPr sz="2200">
                <a:solidFill>
                  <a:srgbClr val="212529"/>
                </a:solidFill>
                <a:latin typeface="Calibri"/>
              </a:defRPr>
            </a:pPr>
            <a:r>
              <a:t>• Thousands of legal contracts.</a:t>
            </a:r>
          </a:p>
          <a:p>
            <a:pPr>
              <a:spcAft>
                <a:spcPts val="600"/>
              </a:spcAft>
              <a:defRPr sz="2200">
                <a:solidFill>
                  <a:srgbClr val="212529"/>
                </a:solidFill>
                <a:latin typeface="Calibri"/>
              </a:defRPr>
            </a:pPr>
            <a:r>
              <a:t>• Manual review is slow.</a:t>
            </a:r>
          </a:p>
          <a:p>
            <a:pPr>
              <a:spcAft>
                <a:spcPts val="600"/>
              </a:spcAft>
              <a:defRPr sz="2200">
                <a:solidFill>
                  <a:srgbClr val="212529"/>
                </a:solidFill>
                <a:latin typeface="Calibri"/>
              </a:defRPr>
            </a:pPr>
            <a:r>
              <a:t>• Fatigue causes risk omissions.</a:t>
            </a:r>
          </a:p>
        </p:txBody>
      </p:sp>
      <p:sp>
        <p:nvSpPr>
          <p:cNvPr id="8" name="Rounded Rectangle 7"/>
          <p:cNvSpPr/>
          <p:nvPr/>
        </p:nvSpPr>
        <p:spPr>
          <a:xfrm>
            <a:off x="4297680" y="1645920"/>
            <a:ext cx="3383280" cy="393192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783080"/>
            <a:ext cx="3108960" cy="365760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2. No Semantic Search</a:t>
            </a:r>
          </a:p>
          <a:p>
            <a:pPr>
              <a:spcAft>
                <a:spcPts val="600"/>
              </a:spcAft>
              <a:defRPr sz="2200">
                <a:solidFill>
                  <a:srgbClr val="212529"/>
                </a:solidFill>
                <a:latin typeface="Calibri"/>
              </a:defRPr>
            </a:pPr>
            <a:r>
              <a:t>• Keyword searches are literal.</a:t>
            </a:r>
          </a:p>
          <a:p>
            <a:pPr>
              <a:spcAft>
                <a:spcPts val="600"/>
              </a:spcAft>
              <a:defRPr sz="2200">
                <a:solidFill>
                  <a:srgbClr val="212529"/>
                </a:solidFill>
                <a:latin typeface="Calibri"/>
              </a:defRPr>
            </a:pPr>
            <a:r>
              <a:t>• Synonyms are entirely missed.</a:t>
            </a:r>
          </a:p>
          <a:p>
            <a:pPr>
              <a:spcAft>
                <a:spcPts val="600"/>
              </a:spcAft>
              <a:defRPr sz="2200">
                <a:solidFill>
                  <a:srgbClr val="212529"/>
                </a:solidFill>
                <a:latin typeface="Calibri"/>
              </a:defRPr>
            </a:pPr>
            <a:r>
              <a:t>• Fails on terminology changes.</a:t>
            </a:r>
          </a:p>
        </p:txBody>
      </p:sp>
      <p:sp>
        <p:nvSpPr>
          <p:cNvPr id="10" name="Rounded Rectangle 9"/>
          <p:cNvSpPr/>
          <p:nvPr/>
        </p:nvSpPr>
        <p:spPr>
          <a:xfrm>
            <a:off x="8046720" y="1645920"/>
            <a:ext cx="3383280" cy="393192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783080"/>
            <a:ext cx="3108960" cy="365760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3. High Review Costs</a:t>
            </a:r>
          </a:p>
          <a:p>
            <a:pPr>
              <a:spcAft>
                <a:spcPts val="600"/>
              </a:spcAft>
              <a:defRPr sz="2200">
                <a:solidFill>
                  <a:srgbClr val="212529"/>
                </a:solidFill>
                <a:latin typeface="Calibri"/>
              </a:defRPr>
            </a:pPr>
            <a:r>
              <a:t>• Agreements are unstructured.</a:t>
            </a:r>
          </a:p>
          <a:p>
            <a:pPr>
              <a:spcAft>
                <a:spcPts val="600"/>
              </a:spcAft>
              <a:defRPr sz="2200">
                <a:solidFill>
                  <a:srgbClr val="212529"/>
                </a:solidFill>
                <a:latin typeface="Calibri"/>
              </a:defRPr>
            </a:pPr>
            <a:r>
              <a:t>• Key clauses are buried.</a:t>
            </a:r>
          </a:p>
          <a:p>
            <a:pPr>
              <a:spcAft>
                <a:spcPts val="600"/>
              </a:spcAft>
              <a:defRPr sz="2200">
                <a:solidFill>
                  <a:srgbClr val="212529"/>
                </a:solidFill>
                <a:latin typeface="Calibri"/>
              </a:defRPr>
            </a:pPr>
            <a:r>
              <a:t>• High due diligence costs.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3</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PROJECT OBJECTIVES</a:t>
            </a:r>
          </a:p>
          <a:p>
            <a:pPr>
              <a:spcBef>
                <a:spcPts val="400"/>
              </a:spcBef>
              <a:defRPr sz="1500" i="1">
                <a:solidFill>
                  <a:srgbClr val="3C5A82"/>
                </a:solidFill>
                <a:latin typeface="Calibri"/>
              </a:defRPr>
            </a:pPr>
            <a:r>
              <a:t>Engineering Goals of the ClauseIQ Pipeline</a:t>
            </a:r>
          </a:p>
        </p:txBody>
      </p:sp>
      <p:sp>
        <p:nvSpPr>
          <p:cNvPr id="6" name="Rounded Rectangle 5"/>
          <p:cNvSpPr/>
          <p:nvPr/>
        </p:nvSpPr>
        <p:spPr>
          <a:xfrm>
            <a:off x="548640" y="1645920"/>
            <a:ext cx="5303520" cy="4114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83080"/>
            <a:ext cx="5029200" cy="3840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Functional Deliverables</a:t>
            </a:r>
          </a:p>
          <a:p>
            <a:pPr>
              <a:spcAft>
                <a:spcPts val="600"/>
              </a:spcAft>
              <a:defRPr sz="2200">
                <a:solidFill>
                  <a:srgbClr val="212529"/>
                </a:solidFill>
                <a:latin typeface="Calibri"/>
              </a:defRPr>
            </a:pPr>
            <a:r>
              <a:t>• Extract text via PyMuPDF.</a:t>
            </a:r>
          </a:p>
          <a:p>
            <a:pPr>
              <a:spcAft>
                <a:spcPts val="600"/>
              </a:spcAft>
              <a:defRPr sz="2200">
                <a:solidFill>
                  <a:srgbClr val="212529"/>
                </a:solidFill>
                <a:latin typeface="Calibri"/>
              </a:defRPr>
            </a:pPr>
            <a:r>
              <a:t>• Segment text into clauses.</a:t>
            </a:r>
          </a:p>
          <a:p>
            <a:pPr>
              <a:spcAft>
                <a:spcPts val="600"/>
              </a:spcAft>
              <a:defRPr sz="2200">
                <a:solidFill>
                  <a:srgbClr val="212529"/>
                </a:solidFill>
                <a:latin typeface="Calibri"/>
              </a:defRPr>
            </a:pPr>
            <a:r>
              <a:t>• Categorize into 41 legal classes.</a:t>
            </a:r>
          </a:p>
          <a:p>
            <a:pPr>
              <a:spcAft>
                <a:spcPts val="600"/>
              </a:spcAft>
              <a:defRPr sz="2200">
                <a:solidFill>
                  <a:srgbClr val="212529"/>
                </a:solidFill>
                <a:latin typeface="Calibri"/>
              </a:defRPr>
            </a:pPr>
            <a:r>
              <a:t>• Implement concept-aware search.</a:t>
            </a:r>
          </a:p>
          <a:p>
            <a:pPr>
              <a:spcAft>
                <a:spcPts val="600"/>
              </a:spcAft>
              <a:defRPr sz="2200">
                <a:solidFill>
                  <a:srgbClr val="212529"/>
                </a:solidFill>
                <a:latin typeface="Calibri"/>
              </a:defRPr>
            </a:pPr>
            <a:r>
              <a:t>• Compare four ML classifiers.</a:t>
            </a:r>
          </a:p>
          <a:p>
            <a:pPr>
              <a:spcAft>
                <a:spcPts val="600"/>
              </a:spcAft>
              <a:defRPr sz="2200">
                <a:solidFill>
                  <a:srgbClr val="212529"/>
                </a:solidFill>
                <a:latin typeface="Calibri"/>
              </a:defRPr>
            </a:pPr>
            <a:r>
              <a:t>• Expose professional GUI dashboard.</a:t>
            </a:r>
          </a:p>
        </p:txBody>
      </p:sp>
      <p:sp>
        <p:nvSpPr>
          <p:cNvPr id="8" name="Rounded Rectangle 7"/>
          <p:cNvSpPr/>
          <p:nvPr/>
        </p:nvSpPr>
        <p:spPr>
          <a:xfrm>
            <a:off x="6217920" y="1645920"/>
            <a:ext cx="5303520" cy="4114800"/>
          </a:xfrm>
          <a:prstGeom prst="roundRect">
            <a:avLst/>
          </a:prstGeom>
          <a:solidFill>
            <a:srgbClr val="E6F0FF"/>
          </a:solidFill>
          <a:ln w="1905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5029200" cy="3840480"/>
          </a:xfrm>
          <a:prstGeom prst="rect">
            <a:avLst/>
          </a:prstGeom>
          <a:noFill/>
        </p:spPr>
        <p:txBody>
          <a:bodyPr wrap="square" lIns="0" tIns="0" bIns="0" rIns="0">
            <a:spAutoFit/>
          </a:bodyPr>
          <a:lstStyle/>
          <a:p>
            <a:pPr>
              <a:spcAft>
                <a:spcPts val="1000"/>
              </a:spcAft>
              <a:defRPr sz="2600" b="1">
                <a:solidFill>
                  <a:srgbClr val="1EA0F0"/>
                </a:solidFill>
                <a:latin typeface="Trebuchet MS"/>
              </a:defRPr>
            </a:pPr>
            <a:r>
              <a:t>Architecture Focus</a:t>
            </a:r>
          </a:p>
          <a:p>
            <a:pPr>
              <a:spcAft>
                <a:spcPts val="600"/>
              </a:spcAft>
              <a:defRPr sz="2200">
                <a:solidFill>
                  <a:srgbClr val="172544"/>
                </a:solidFill>
                <a:latin typeface="Calibri"/>
              </a:defRPr>
            </a:pPr>
            <a:r>
              <a:t>Lightweight Classical ML Pipeline:</a:t>
            </a:r>
          </a:p>
          <a:p>
            <a:pPr>
              <a:spcAft>
                <a:spcPts val="600"/>
              </a:spcAft>
              <a:defRPr sz="2200">
                <a:solidFill>
                  <a:srgbClr val="172544"/>
                </a:solidFill>
                <a:latin typeface="Calibri"/>
              </a:defRPr>
            </a:pPr>
            <a:r>
              <a:t>• Deterministic outputs.</a:t>
            </a:r>
          </a:p>
          <a:p>
            <a:pPr>
              <a:spcAft>
                <a:spcPts val="600"/>
              </a:spcAft>
              <a:defRPr sz="2200">
                <a:solidFill>
                  <a:srgbClr val="172544"/>
                </a:solidFill>
                <a:latin typeface="Calibri"/>
              </a:defRPr>
            </a:pPr>
            <a:r>
              <a:t>• Zero hallucination risk.</a:t>
            </a:r>
          </a:p>
          <a:p>
            <a:pPr>
              <a:spcAft>
                <a:spcPts val="600"/>
              </a:spcAft>
              <a:defRPr sz="2200">
                <a:solidFill>
                  <a:srgbClr val="172544"/>
                </a:solidFill>
                <a:latin typeface="Calibri"/>
              </a:defRPr>
            </a:pPr>
            <a:r>
              <a:t>• Local CPU deployment.</a:t>
            </a:r>
          </a:p>
          <a:p>
            <a:pPr>
              <a:spcAft>
                <a:spcPts val="600"/>
              </a:spcAft>
              <a:defRPr sz="2200">
                <a:solidFill>
                  <a:srgbClr val="172544"/>
                </a:solidFill>
                <a:latin typeface="Calibri"/>
              </a:defRPr>
            </a:pPr>
            <a:r>
              <a:t>• Safe for private legal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4</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LITERATURE REVIEW</a:t>
            </a:r>
          </a:p>
          <a:p>
            <a:pPr>
              <a:spcBef>
                <a:spcPts val="400"/>
              </a:spcBef>
              <a:defRPr sz="1500" i="1">
                <a:solidFill>
                  <a:srgbClr val="3C5A82"/>
                </a:solidFill>
                <a:latin typeface="Calibri"/>
              </a:defRPr>
            </a:pPr>
            <a:r>
              <a:t>Comparison of Supporting IEEE Publications</a:t>
            </a:r>
          </a:p>
        </p:txBody>
      </p:sp>
      <p:graphicFrame>
        <p:nvGraphicFramePr>
          <p:cNvPr id="6" name="Table 5"/>
          <p:cNvGraphicFramePr>
            <a:graphicFrameLocks noGrp="1"/>
          </p:cNvGraphicFramePr>
          <p:nvPr/>
        </p:nvGraphicFramePr>
        <p:xfrm>
          <a:off x="457200" y="1463040"/>
          <a:ext cx="11274552" cy="3291840"/>
        </p:xfrm>
        <a:graphic>
          <a:graphicData uri="http://schemas.openxmlformats.org/drawingml/2006/table">
            <a:tbl>
              <a:tblPr firstRow="1" bandRow="1">
                <a:tableStyleId>{5C22544A-7EE6-4342-B048-85BDC9FD1C3A}</a:tableStyleId>
              </a:tblPr>
              <a:tblGrid>
                <a:gridCol w="2011680"/>
                <a:gridCol w="2011680"/>
                <a:gridCol w="2560320"/>
                <a:gridCol w="2377440"/>
                <a:gridCol w="2313432"/>
              </a:tblGrid>
              <a:tr h="822960">
                <a:tc>
                  <a:txBody>
                    <a:bodyPr wrap="square" tIns="91440" bIns="91440"/>
                    <a:lstStyle/>
                    <a:p>
                      <a:pPr algn="ctr">
                        <a:defRPr sz="2000" b="1">
                          <a:solidFill>
                            <a:srgbClr val="FFFFFF"/>
                          </a:solidFill>
                          <a:latin typeface="Calibri"/>
                        </a:defRPr>
                      </a:pPr>
                      <a:r>
                        <a:t>Paper (Year)</a:t>
                      </a:r>
                    </a:p>
                  </a:txBody>
                  <a:tcPr>
                    <a:solidFill>
                      <a:srgbClr val="172544"/>
                    </a:solidFill>
                  </a:tcPr>
                </a:tc>
                <a:tc>
                  <a:txBody>
                    <a:bodyPr wrap="square" tIns="91440" bIns="91440"/>
                    <a:lstStyle/>
                    <a:p>
                      <a:pPr algn="ctr">
                        <a:defRPr sz="2000" b="1">
                          <a:solidFill>
                            <a:srgbClr val="FFFFFF"/>
                          </a:solidFill>
                          <a:latin typeface="Calibri"/>
                        </a:defRPr>
                      </a:pPr>
                      <a:r>
                        <a:t>Methodology</a:t>
                      </a:r>
                    </a:p>
                  </a:txBody>
                  <a:tcPr>
                    <a:solidFill>
                      <a:srgbClr val="172544"/>
                    </a:solidFill>
                  </a:tcPr>
                </a:tc>
                <a:tc>
                  <a:txBody>
                    <a:bodyPr wrap="square" tIns="91440" bIns="91440"/>
                    <a:lstStyle/>
                    <a:p>
                      <a:pPr algn="ctr">
                        <a:defRPr sz="2000" b="1">
                          <a:solidFill>
                            <a:srgbClr val="FFFFFF"/>
                          </a:solidFill>
                          <a:latin typeface="Calibri"/>
                        </a:defRPr>
                      </a:pPr>
                      <a:r>
                        <a:t>Key Advantage</a:t>
                      </a:r>
                    </a:p>
                  </a:txBody>
                  <a:tcPr>
                    <a:solidFill>
                      <a:srgbClr val="172544"/>
                    </a:solidFill>
                  </a:tcPr>
                </a:tc>
                <a:tc>
                  <a:txBody>
                    <a:bodyPr wrap="square" tIns="91440" bIns="91440"/>
                    <a:lstStyle/>
                    <a:p>
                      <a:pPr algn="ctr">
                        <a:defRPr sz="2000" b="1">
                          <a:solidFill>
                            <a:srgbClr val="FFFFFF"/>
                          </a:solidFill>
                          <a:latin typeface="Calibri"/>
                        </a:defRPr>
                      </a:pPr>
                      <a:r>
                        <a:t>Limitations</a:t>
                      </a:r>
                    </a:p>
                  </a:txBody>
                  <a:tcPr>
                    <a:solidFill>
                      <a:srgbClr val="172544"/>
                    </a:solidFill>
                  </a:tcPr>
                </a:tc>
                <a:tc>
                  <a:txBody>
                    <a:bodyPr wrap="square" tIns="91440" bIns="91440"/>
                    <a:lstStyle/>
                    <a:p>
                      <a:pPr algn="ctr">
                        <a:defRPr sz="2000" b="1">
                          <a:solidFill>
                            <a:srgbClr val="FFFFFF"/>
                          </a:solidFill>
                          <a:latin typeface="Calibri"/>
                        </a:defRPr>
                      </a:pPr>
                      <a:r>
                        <a:t>Relation to ClauseIQ</a:t>
                      </a:r>
                    </a:p>
                  </a:txBody>
                  <a:tcPr>
                    <a:solidFill>
                      <a:srgbClr val="172544"/>
                    </a:solidFill>
                  </a:tcPr>
                </a:tc>
              </a:tr>
              <a:tr h="822960">
                <a:tc>
                  <a:txBody>
                    <a:bodyPr wrap="square" tIns="91440" bIns="91440"/>
                    <a:lstStyle/>
                    <a:p>
                      <a:pPr>
                        <a:defRPr sz="2000" b="1">
                          <a:solidFill>
                            <a:srgbClr val="212529"/>
                          </a:solidFill>
                          <a:latin typeface="Calibri"/>
                        </a:defRPr>
                      </a:pPr>
                      <a:r>
                        <a:t>Quevedo (2024)</a:t>
                      </a:r>
                    </a:p>
                  </a:txBody>
                  <a:tcPr>
                    <a:solidFill>
                      <a:srgbClr val="E6EBF5"/>
                    </a:solidFill>
                  </a:tcPr>
                </a:tc>
                <a:tc>
                  <a:txBody>
                    <a:bodyPr wrap="square" tIns="91440" bIns="91440"/>
                    <a:lstStyle/>
                    <a:p>
                      <a:pPr>
                        <a:defRPr sz="2000">
                          <a:solidFill>
                            <a:srgbClr val="212529"/>
                          </a:solidFill>
                          <a:latin typeface="Calibri"/>
                        </a:defRPr>
                      </a:pPr>
                      <a:r>
                        <a:t>Mapping study of 75 papers.</a:t>
                      </a:r>
                    </a:p>
                  </a:txBody>
                  <a:tcPr>
                    <a:solidFill>
                      <a:srgbClr val="E6EBF5"/>
                    </a:solidFill>
                  </a:tcPr>
                </a:tc>
                <a:tc>
                  <a:txBody>
                    <a:bodyPr wrap="square" tIns="91440" bIns="91440"/>
                    <a:lstStyle/>
                    <a:p>
                      <a:pPr>
                        <a:defRPr sz="2000">
                          <a:solidFill>
                            <a:srgbClr val="212529"/>
                          </a:solidFill>
                          <a:latin typeface="Calibri"/>
                        </a:defRPr>
                      </a:pPr>
                      <a:r>
                        <a:t>Maps Legal NLP trends and resources.</a:t>
                      </a:r>
                    </a:p>
                  </a:txBody>
                  <a:tcPr>
                    <a:solidFill>
                      <a:srgbClr val="E6EBF5"/>
                    </a:solidFill>
                  </a:tcPr>
                </a:tc>
                <a:tc>
                  <a:txBody>
                    <a:bodyPr wrap="square" tIns="91440" bIns="91440"/>
                    <a:lstStyle/>
                    <a:p>
                      <a:pPr>
                        <a:defRPr sz="2000">
                          <a:solidFill>
                            <a:srgbClr val="212529"/>
                          </a:solidFill>
                          <a:latin typeface="Calibri"/>
                        </a:defRPr>
                      </a:pPr>
                      <a:r>
                        <a:t>Review only; no implementation.</a:t>
                      </a:r>
                    </a:p>
                  </a:txBody>
                  <a:tcPr>
                    <a:solidFill>
                      <a:srgbClr val="E6EBF5"/>
                    </a:solidFill>
                  </a:tcPr>
                </a:tc>
                <a:tc>
                  <a:txBody>
                    <a:bodyPr wrap="square" tIns="91440" bIns="91440"/>
                    <a:lstStyle/>
                    <a:p>
                      <a:pPr>
                        <a:defRPr sz="2000">
                          <a:solidFill>
                            <a:srgbClr val="212529"/>
                          </a:solidFill>
                          <a:latin typeface="Calibri"/>
                        </a:defRPr>
                      </a:pPr>
                      <a:r>
                        <a:t>Validates clause categorization tasks.</a:t>
                      </a:r>
                    </a:p>
                  </a:txBody>
                  <a:tcPr>
                    <a:solidFill>
                      <a:srgbClr val="E6EBF5"/>
                    </a:solidFill>
                  </a:tcPr>
                </a:tc>
              </a:tr>
              <a:tr h="822960">
                <a:tc>
                  <a:txBody>
                    <a:bodyPr wrap="square" tIns="91440" bIns="91440"/>
                    <a:lstStyle/>
                    <a:p>
                      <a:pPr>
                        <a:defRPr sz="2000" b="1">
                          <a:solidFill>
                            <a:srgbClr val="212529"/>
                          </a:solidFill>
                          <a:latin typeface="Calibri"/>
                        </a:defRPr>
                      </a:pPr>
                      <a:r>
                        <a:t>Siino (2025)</a:t>
                      </a:r>
                    </a:p>
                  </a:txBody>
                  <a:tcPr>
                    <a:solidFill>
                      <a:srgbClr val="FFFFFF"/>
                    </a:solidFill>
                  </a:tcPr>
                </a:tc>
                <a:tc>
                  <a:txBody>
                    <a:bodyPr wrap="square" tIns="91440" bIns="91440"/>
                    <a:lstStyle/>
                    <a:p>
                      <a:pPr>
                        <a:defRPr sz="2000">
                          <a:solidFill>
                            <a:srgbClr val="212529"/>
                          </a:solidFill>
                          <a:latin typeface="Calibri"/>
                        </a:defRPr>
                      </a:pPr>
                      <a:r>
                        <a:t>Survey of 61 legal LLM models.</a:t>
                      </a:r>
                    </a:p>
                  </a:txBody>
                  <a:tcPr>
                    <a:solidFill>
                      <a:srgbClr val="FFFFFF"/>
                    </a:solidFill>
                  </a:tcPr>
                </a:tc>
                <a:tc>
                  <a:txBody>
                    <a:bodyPr wrap="square" tIns="91440" bIns="91440"/>
                    <a:lstStyle/>
                    <a:p>
                      <a:pPr>
                        <a:defRPr sz="2000">
                          <a:solidFill>
                            <a:srgbClr val="212529"/>
                          </a:solidFill>
                          <a:latin typeface="Calibri"/>
                        </a:defRPr>
                      </a:pPr>
                      <a:r>
                        <a:t>Identifies LLM task improvements.</a:t>
                      </a:r>
                    </a:p>
                  </a:txBody>
                  <a:tcPr>
                    <a:solidFill>
                      <a:srgbClr val="FFFFFF"/>
                    </a:solidFill>
                  </a:tcPr>
                </a:tc>
                <a:tc>
                  <a:txBody>
                    <a:bodyPr wrap="square" tIns="91440" bIns="91440"/>
                    <a:lstStyle/>
                    <a:p>
                      <a:pPr>
                        <a:defRPr sz="2000">
                          <a:solidFill>
                            <a:srgbClr val="212529"/>
                          </a:solidFill>
                          <a:latin typeface="Calibri"/>
                        </a:defRPr>
                      </a:pPr>
                      <a:r>
                        <a:t>Highlights hallucination risk &amp; cost.</a:t>
                      </a:r>
                    </a:p>
                  </a:txBody>
                  <a:tcPr>
                    <a:solidFill>
                      <a:srgbClr val="FFFFFF"/>
                    </a:solidFill>
                  </a:tcPr>
                </a:tc>
                <a:tc>
                  <a:txBody>
                    <a:bodyPr wrap="square" tIns="91440" bIns="91440"/>
                    <a:lstStyle/>
                    <a:p>
                      <a:pPr>
                        <a:defRPr sz="2000">
                          <a:solidFill>
                            <a:srgbClr val="212529"/>
                          </a:solidFill>
                          <a:latin typeface="Calibri"/>
                        </a:defRPr>
                      </a:pPr>
                      <a:r>
                        <a:t>Justifies choice of classical ML baseline.</a:t>
                      </a:r>
                    </a:p>
                  </a:txBody>
                  <a:tcPr>
                    <a:solidFill>
                      <a:srgbClr val="FFFFFF"/>
                    </a:solidFill>
                  </a:tcPr>
                </a:tc>
              </a:tr>
              <a:tr h="822960">
                <a:tc>
                  <a:txBody>
                    <a:bodyPr wrap="square" tIns="91440" bIns="91440"/>
                    <a:lstStyle/>
                    <a:p>
                      <a:pPr>
                        <a:defRPr sz="2000" b="1">
                          <a:solidFill>
                            <a:srgbClr val="212529"/>
                          </a:solidFill>
                          <a:latin typeface="Calibri"/>
                        </a:defRPr>
                      </a:pPr>
                      <a:r>
                        <a:t>Kutbi (2023)</a:t>
                      </a:r>
                    </a:p>
                  </a:txBody>
                  <a:tcPr>
                    <a:solidFill>
                      <a:srgbClr val="E6EBF5"/>
                    </a:solidFill>
                  </a:tcPr>
                </a:tc>
                <a:tc>
                  <a:txBody>
                    <a:bodyPr wrap="square" tIns="91440" bIns="91440"/>
                    <a:lstStyle/>
                    <a:p>
                      <a:pPr>
                        <a:defRPr sz="2000">
                          <a:solidFill>
                            <a:srgbClr val="212529"/>
                          </a:solidFill>
                          <a:latin typeface="Calibri"/>
                        </a:defRPr>
                      </a:pPr>
                      <a:r>
                        <a:t>spaCy NER pre-processor.</a:t>
                      </a:r>
                    </a:p>
                  </a:txBody>
                  <a:tcPr>
                    <a:solidFill>
                      <a:srgbClr val="E6EBF5"/>
                    </a:solidFill>
                  </a:tcPr>
                </a:tc>
                <a:tc>
                  <a:txBody>
                    <a:bodyPr wrap="square" tIns="91440" bIns="91440"/>
                    <a:lstStyle/>
                    <a:p>
                      <a:pPr>
                        <a:defRPr sz="2000">
                          <a:solidFill>
                            <a:srgbClr val="212529"/>
                          </a:solidFill>
                          <a:latin typeface="Calibri"/>
                        </a:defRPr>
                      </a:pPr>
                      <a:r>
                        <a:t>Entity replacement preserves privacy.</a:t>
                      </a:r>
                    </a:p>
                  </a:txBody>
                  <a:tcPr>
                    <a:solidFill>
                      <a:srgbClr val="E6EBF5"/>
                    </a:solidFill>
                  </a:tcPr>
                </a:tc>
                <a:tc>
                  <a:txBody>
                    <a:bodyPr wrap="square" tIns="91440" bIns="91440"/>
                    <a:lstStyle/>
                    <a:p>
                      <a:pPr>
                        <a:defRPr sz="2000">
                          <a:solidFill>
                            <a:srgbClr val="212529"/>
                          </a:solidFill>
                          <a:latin typeface="Calibri"/>
                        </a:defRPr>
                      </a:pPr>
                      <a:r>
                        <a:t>Requires pre-trained NER models.</a:t>
                      </a:r>
                    </a:p>
                  </a:txBody>
                  <a:tcPr>
                    <a:solidFill>
                      <a:srgbClr val="E6EBF5"/>
                    </a:solidFill>
                  </a:tcPr>
                </a:tc>
                <a:tc>
                  <a:txBody>
                    <a:bodyPr wrap="square" tIns="91440" bIns="91440"/>
                    <a:lstStyle/>
                    <a:p>
                      <a:pPr>
                        <a:defRPr sz="2000">
                          <a:solidFill>
                            <a:srgbClr val="212529"/>
                          </a:solidFill>
                          <a:latin typeface="Calibri"/>
                        </a:defRPr>
                      </a:pPr>
                      <a:r>
                        <a:t>Validates text cleaning protocols.</a:t>
                      </a:r>
                    </a:p>
                  </a:txBody>
                  <a:tcPr>
                    <a:solidFill>
                      <a:srgbClr val="E6EBF5"/>
                    </a:solidFill>
                  </a:tcPr>
                </a:tc>
              </a:tr>
            </a:tbl>
          </a:graphicData>
        </a:graphic>
      </p:graphicFrame>
      <p:sp>
        <p:nvSpPr>
          <p:cNvPr id="7" name="TextBox 6"/>
          <p:cNvSpPr txBox="1"/>
          <p:nvPr/>
        </p:nvSpPr>
        <p:spPr>
          <a:xfrm>
            <a:off x="457200" y="4937760"/>
            <a:ext cx="11274552" cy="1097280"/>
          </a:xfrm>
          <a:prstGeom prst="rect">
            <a:avLst/>
          </a:prstGeom>
          <a:noFill/>
        </p:spPr>
        <p:txBody>
          <a:bodyPr wrap="square" lIns="0" tIns="0" bIns="0" rIns="0">
            <a:spAutoFit/>
          </a:bodyPr>
          <a:lstStyle/>
          <a:p>
            <a:pPr>
              <a:spcAft>
                <a:spcPts val="200"/>
              </a:spcAft>
              <a:defRPr sz="2200" b="1">
                <a:solidFill>
                  <a:srgbClr val="1EA0F0"/>
                </a:solidFill>
              </a:defRPr>
            </a:pPr>
            <a:r>
              <a:t>RESEARCH GAP:</a:t>
            </a:r>
          </a:p>
          <a:p>
            <a:pPr>
              <a:defRPr sz="2200">
                <a:solidFill>
                  <a:srgbClr val="212529"/>
                </a:solidFill>
                <a:latin typeface="Calibri"/>
              </a:defRPr>
            </a:pPr>
            <a:r>
              <a:t>• Current papers focus on heavy LLMs that are expensive and prone to hallucination.</a:t>
            </a:r>
            <a:br/>
            <a:r>
              <a:t>• Lack of lightweight, explainable, and local tools for clause classification.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5</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DATASET ANALYSIS</a:t>
            </a:r>
          </a:p>
          <a:p>
            <a:pPr>
              <a:spcBef>
                <a:spcPts val="400"/>
              </a:spcBef>
              <a:defRPr sz="1500" i="1">
                <a:solidFill>
                  <a:srgbClr val="3C5A82"/>
                </a:solidFill>
                <a:latin typeface="Calibri"/>
              </a:defRPr>
            </a:pPr>
            <a:r>
              <a:t>CUAD: Contract Understanding Atticus Dataset</a:t>
            </a:r>
          </a:p>
        </p:txBody>
      </p:sp>
      <p:sp>
        <p:nvSpPr>
          <p:cNvPr id="6" name="Rounded Rectangle 5"/>
          <p:cNvSpPr/>
          <p:nvPr/>
        </p:nvSpPr>
        <p:spPr>
          <a:xfrm>
            <a:off x="548640" y="1645920"/>
            <a:ext cx="5486400" cy="4114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83080"/>
            <a:ext cx="5212080" cy="3840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Dataset Properties</a:t>
            </a:r>
          </a:p>
          <a:p>
            <a:pPr>
              <a:spcAft>
                <a:spcPts val="600"/>
              </a:spcAft>
              <a:defRPr sz="2200">
                <a:solidFill>
                  <a:srgbClr val="212529"/>
                </a:solidFill>
                <a:latin typeface="Calibri"/>
              </a:defRPr>
            </a:pPr>
            <a:r>
              <a:t>• 510 commercial contracts.</a:t>
            </a:r>
          </a:p>
          <a:p>
            <a:pPr>
              <a:spcAft>
                <a:spcPts val="600"/>
              </a:spcAft>
              <a:defRPr sz="2200">
                <a:solidFill>
                  <a:srgbClr val="212529"/>
                </a:solidFill>
                <a:latin typeface="Calibri"/>
              </a:defRPr>
            </a:pPr>
            <a:r>
              <a:t>• SEC EDGAR source database.</a:t>
            </a:r>
          </a:p>
          <a:p>
            <a:pPr>
              <a:spcAft>
                <a:spcPts val="600"/>
              </a:spcAft>
              <a:defRPr sz="2200">
                <a:solidFill>
                  <a:srgbClr val="212529"/>
                </a:solidFill>
                <a:latin typeface="Calibri"/>
              </a:defRPr>
            </a:pPr>
            <a:r>
              <a:t>• 41 distinct legal categories.</a:t>
            </a:r>
          </a:p>
          <a:p>
            <a:pPr>
              <a:spcAft>
                <a:spcPts val="600"/>
              </a:spcAft>
              <a:defRPr sz="2200">
                <a:solidFill>
                  <a:srgbClr val="212529"/>
                </a:solidFill>
                <a:latin typeface="Calibri"/>
              </a:defRPr>
            </a:pPr>
            <a:r>
              <a:t>• 13,000+ annotated clauses.</a:t>
            </a:r>
          </a:p>
          <a:p>
            <a:pPr>
              <a:spcAft>
                <a:spcPts val="600"/>
              </a:spcAft>
              <a:defRPr sz="2200">
                <a:solidFill>
                  <a:srgbClr val="212529"/>
                </a:solidFill>
                <a:latin typeface="Calibri"/>
              </a:defRPr>
            </a:pPr>
            <a:r>
              <a:t>• Flattened to clause-level CSV.</a:t>
            </a:r>
          </a:p>
        </p:txBody>
      </p:sp>
      <p:pic>
        <p:nvPicPr>
          <p:cNvPr id="8" name="Picture 7" descr="category_pie_chart.png"/>
          <p:cNvPicPr>
            <a:picLocks noChangeAspect="1"/>
          </p:cNvPicPr>
          <p:nvPr/>
        </p:nvPicPr>
        <p:blipFill>
          <a:blip r:embed="rId2"/>
          <a:stretch>
            <a:fillRect/>
          </a:stretch>
        </p:blipFill>
        <p:spPr>
          <a:xfrm>
            <a:off x="6400800" y="1645920"/>
            <a:ext cx="5212080" cy="432491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6</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EXPLORATORY DATA ANALYSIS</a:t>
            </a:r>
          </a:p>
          <a:p>
            <a:pPr>
              <a:spcBef>
                <a:spcPts val="400"/>
              </a:spcBef>
              <a:defRPr sz="1500" i="1">
                <a:solidFill>
                  <a:srgbClr val="3C5A82"/>
                </a:solidFill>
                <a:latin typeface="Calibri"/>
              </a:defRPr>
            </a:pPr>
            <a:r>
              <a:t>Statistical Profiling and Pandas Methods</a:t>
            </a:r>
          </a:p>
        </p:txBody>
      </p:sp>
      <p:sp>
        <p:nvSpPr>
          <p:cNvPr id="6" name="Rounded Rectangle 5"/>
          <p:cNvSpPr/>
          <p:nvPr/>
        </p:nvSpPr>
        <p:spPr>
          <a:xfrm>
            <a:off x="548640" y="1645920"/>
            <a:ext cx="5303520" cy="4114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83080"/>
            <a:ext cx="5029200" cy="3840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Metadata &amp; Distribution</a:t>
            </a:r>
          </a:p>
          <a:p>
            <a:pPr>
              <a:spcAft>
                <a:spcPts val="600"/>
              </a:spcAft>
              <a:defRPr sz="2200">
                <a:solidFill>
                  <a:srgbClr val="212529"/>
                </a:solidFill>
                <a:latin typeface="Calibri"/>
              </a:defRPr>
            </a:pPr>
            <a:r>
              <a:t>• Data shape: 13,823 rows, 5 columns.</a:t>
            </a:r>
          </a:p>
          <a:p>
            <a:pPr>
              <a:spcAft>
                <a:spcPts val="600"/>
              </a:spcAft>
              <a:defRPr sz="2200">
                <a:solidFill>
                  <a:srgbClr val="212529"/>
                </a:solidFill>
                <a:latin typeface="Calibri"/>
              </a:defRPr>
            </a:pPr>
            <a:r>
              <a:t>• Missing values: 0 across all columns.</a:t>
            </a:r>
          </a:p>
          <a:p>
            <a:pPr>
              <a:spcAft>
                <a:spcPts val="600"/>
              </a:spcAft>
              <a:defRPr sz="2200">
                <a:solidFill>
                  <a:srgbClr val="212529"/>
                </a:solidFill>
                <a:latin typeface="Calibri"/>
              </a:defRPr>
            </a:pPr>
            <a:r>
              <a:t>• Duplicate text spans: 0 duplicates.</a:t>
            </a:r>
          </a:p>
          <a:p>
            <a:pPr>
              <a:spcAft>
                <a:spcPts val="600"/>
              </a:spcAft>
              <a:defRPr sz="2200">
                <a:solidFill>
                  <a:srgbClr val="212529"/>
                </a:solidFill>
                <a:latin typeface="Calibri"/>
              </a:defRPr>
            </a:pPr>
            <a:r>
              <a:t>• Skewed word lengths:</a:t>
            </a:r>
          </a:p>
          <a:p>
            <a:pPr>
              <a:spcAft>
                <a:spcPts val="600"/>
              </a:spcAft>
              <a:defRPr sz="2200">
                <a:solidFill>
                  <a:srgbClr val="212529"/>
                </a:solidFill>
                <a:latin typeface="Calibri"/>
              </a:defRPr>
            </a:pPr>
            <a:r>
              <a:t>• Mean: 40.7, Median: 31 words.</a:t>
            </a:r>
          </a:p>
          <a:p>
            <a:pPr>
              <a:spcAft>
                <a:spcPts val="600"/>
              </a:spcAft>
              <a:defRPr sz="2200">
                <a:solidFill>
                  <a:srgbClr val="212529"/>
                </a:solidFill>
                <a:latin typeface="Calibri"/>
              </a:defRPr>
            </a:pPr>
            <a:r>
              <a:t>• Tail stretches up to 479 words.</a:t>
            </a:r>
          </a:p>
        </p:txBody>
      </p:sp>
      <p:sp>
        <p:nvSpPr>
          <p:cNvPr id="8" name="Rounded Rectangle 7"/>
          <p:cNvSpPr/>
          <p:nvPr/>
        </p:nvSpPr>
        <p:spPr>
          <a:xfrm>
            <a:off x="6217920" y="1645920"/>
            <a:ext cx="5303520" cy="4114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5029200" cy="3840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Statistical Operations</a:t>
            </a:r>
          </a:p>
          <a:p>
            <a:pPr>
              <a:spcAft>
                <a:spcPts val="600"/>
              </a:spcAft>
              <a:defRPr sz="2200">
                <a:solidFill>
                  <a:srgbClr val="212529"/>
                </a:solidFill>
                <a:latin typeface="Calibri"/>
              </a:defRPr>
            </a:pPr>
            <a:r>
              <a:t>• info(): Verify non-null types.</a:t>
            </a:r>
          </a:p>
          <a:p>
            <a:pPr>
              <a:spcAft>
                <a:spcPts val="600"/>
              </a:spcAft>
              <a:defRPr sz="2200">
                <a:solidFill>
                  <a:srgbClr val="212529"/>
                </a:solidFill>
                <a:latin typeface="Calibri"/>
              </a:defRPr>
            </a:pPr>
            <a:r>
              <a:t>• describe(): Length statistics.</a:t>
            </a:r>
          </a:p>
          <a:p>
            <a:pPr>
              <a:spcAft>
                <a:spcPts val="600"/>
              </a:spcAft>
              <a:defRPr sz="2200">
                <a:solidFill>
                  <a:srgbClr val="212529"/>
                </a:solidFill>
                <a:latin typeface="Calibri"/>
              </a:defRPr>
            </a:pPr>
            <a:r>
              <a:t>• value_counts(): Category imbalance.</a:t>
            </a:r>
          </a:p>
          <a:p>
            <a:pPr>
              <a:spcAft>
                <a:spcPts val="600"/>
              </a:spcAft>
              <a:defRPr sz="2200">
                <a:solidFill>
                  <a:srgbClr val="212529"/>
                </a:solidFill>
                <a:latin typeface="Calibri"/>
              </a:defRPr>
            </a:pPr>
            <a:r>
              <a:t>• head() / tail(): Inspect structure.</a:t>
            </a:r>
          </a:p>
          <a:p>
            <a:pPr>
              <a:spcAft>
                <a:spcPts val="600"/>
              </a:spcAft>
              <a:defRPr sz="2200">
                <a:solidFill>
                  <a:srgbClr val="212529"/>
                </a:solidFill>
                <a:latin typeface="Calibri"/>
              </a:defRPr>
            </a:pPr>
            <a:r>
              <a:t>Requires length-normalized TF-IDF and stratified dataset splits.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7</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DATA PREPROCESSING PIPELINE</a:t>
            </a:r>
          </a:p>
          <a:p>
            <a:pPr>
              <a:spcBef>
                <a:spcPts val="400"/>
              </a:spcBef>
              <a:defRPr sz="1500" i="1">
                <a:solidFill>
                  <a:srgbClr val="3C5A82"/>
                </a:solidFill>
                <a:latin typeface="Calibri"/>
              </a:defRPr>
            </a:pPr>
            <a:r>
              <a:t>Feature Engineering and Dataset Split</a:t>
            </a:r>
          </a:p>
        </p:txBody>
      </p:sp>
      <p:sp>
        <p:nvSpPr>
          <p:cNvPr id="6" name="Rounded Rectangle 5"/>
          <p:cNvSpPr/>
          <p:nvPr/>
        </p:nvSpPr>
        <p:spPr>
          <a:xfrm>
            <a:off x="457200" y="1463040"/>
            <a:ext cx="1645920" cy="502920"/>
          </a:xfrm>
          <a:prstGeom prst="roundRect">
            <a:avLst/>
          </a:prstGeom>
          <a:solidFill>
            <a:srgbClr val="1725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Raw Text</a:t>
            </a:r>
          </a:p>
        </p:txBody>
      </p:sp>
      <p:sp>
        <p:nvSpPr>
          <p:cNvPr id="7" name="Right Arrow 6"/>
          <p:cNvSpPr/>
          <p:nvPr/>
        </p:nvSpPr>
        <p:spPr>
          <a:xfrm>
            <a:off x="2148840" y="1572768"/>
            <a:ext cx="18288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377440" y="1463040"/>
            <a:ext cx="1645920" cy="502920"/>
          </a:xfrm>
          <a:prstGeom prst="roundRect">
            <a:avLst/>
          </a:prstGeom>
          <a:solidFill>
            <a:srgbClr val="3C5A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Cleaning</a:t>
            </a:r>
          </a:p>
        </p:txBody>
      </p:sp>
      <p:sp>
        <p:nvSpPr>
          <p:cNvPr id="9" name="Right Arrow 8"/>
          <p:cNvSpPr/>
          <p:nvPr/>
        </p:nvSpPr>
        <p:spPr>
          <a:xfrm>
            <a:off x="4069080" y="1572768"/>
            <a:ext cx="18288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80" y="1463040"/>
            <a:ext cx="1645920" cy="502920"/>
          </a:xfrm>
          <a:prstGeom prst="roundRect">
            <a:avLst/>
          </a:prstGeom>
          <a:solidFill>
            <a:srgbClr val="3C5A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Tokenize</a:t>
            </a:r>
          </a:p>
        </p:txBody>
      </p:sp>
      <p:sp>
        <p:nvSpPr>
          <p:cNvPr id="11" name="Right Arrow 10"/>
          <p:cNvSpPr/>
          <p:nvPr/>
        </p:nvSpPr>
        <p:spPr>
          <a:xfrm>
            <a:off x="5989320" y="1572768"/>
            <a:ext cx="18288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463040"/>
            <a:ext cx="1645920" cy="502920"/>
          </a:xfrm>
          <a:prstGeom prst="roundRect">
            <a:avLst/>
          </a:prstGeom>
          <a:solidFill>
            <a:srgbClr val="3C5A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Lemmatize</a:t>
            </a:r>
          </a:p>
        </p:txBody>
      </p:sp>
      <p:sp>
        <p:nvSpPr>
          <p:cNvPr id="13" name="Right Arrow 12"/>
          <p:cNvSpPr/>
          <p:nvPr/>
        </p:nvSpPr>
        <p:spPr>
          <a:xfrm>
            <a:off x="7909560" y="1572768"/>
            <a:ext cx="18288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38160" y="1463040"/>
            <a:ext cx="1645920" cy="502920"/>
          </a:xfrm>
          <a:prstGeom prst="roundRect">
            <a:avLst/>
          </a:prstGeom>
          <a:solidFill>
            <a:srgbClr val="3C5A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TF-IDF Vector</a:t>
            </a:r>
          </a:p>
        </p:txBody>
      </p:sp>
      <p:sp>
        <p:nvSpPr>
          <p:cNvPr id="15" name="Right Arrow 14"/>
          <p:cNvSpPr/>
          <p:nvPr/>
        </p:nvSpPr>
        <p:spPr>
          <a:xfrm>
            <a:off x="9829800" y="1572768"/>
            <a:ext cx="18288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0" y="1463040"/>
            <a:ext cx="1645920" cy="502920"/>
          </a:xfrm>
          <a:prstGeom prst="roundRect">
            <a:avLst/>
          </a:prstGeom>
          <a:solidFill>
            <a:srgbClr val="1725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Features</a:t>
            </a:r>
          </a:p>
        </p:txBody>
      </p:sp>
      <p:sp>
        <p:nvSpPr>
          <p:cNvPr id="17" name="Rounded Rectangle 16"/>
          <p:cNvSpPr/>
          <p:nvPr/>
        </p:nvSpPr>
        <p:spPr>
          <a:xfrm>
            <a:off x="548640" y="2194560"/>
            <a:ext cx="5303520" cy="356616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331720"/>
            <a:ext cx="5029200" cy="329184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Text Preprocessing</a:t>
            </a:r>
          </a:p>
          <a:p>
            <a:pPr>
              <a:spcAft>
                <a:spcPts val="600"/>
              </a:spcAft>
              <a:defRPr sz="2200">
                <a:solidFill>
                  <a:srgbClr val="212529"/>
                </a:solidFill>
                <a:latin typeface="Calibri"/>
              </a:defRPr>
            </a:pPr>
            <a:r>
              <a:t>• Normalization: Lowercase &amp; clean.</a:t>
            </a:r>
          </a:p>
          <a:p>
            <a:pPr>
              <a:spcAft>
                <a:spcPts val="600"/>
              </a:spcAft>
              <a:defRPr sz="2200">
                <a:solidFill>
                  <a:srgbClr val="212529"/>
                </a:solidFill>
                <a:latin typeface="Calibri"/>
              </a:defRPr>
            </a:pPr>
            <a:r>
              <a:t>• Short Filter: Drop spans &lt; 3 words.</a:t>
            </a:r>
          </a:p>
          <a:p>
            <a:pPr>
              <a:spcAft>
                <a:spcPts val="600"/>
              </a:spcAft>
              <a:defRPr sz="2200">
                <a:solidFill>
                  <a:srgbClr val="212529"/>
                </a:solidFill>
                <a:latin typeface="Calibri"/>
              </a:defRPr>
            </a:pPr>
            <a:r>
              <a:t>• spaCy: Lemmatization &amp; tokenizing.</a:t>
            </a:r>
          </a:p>
          <a:p>
            <a:pPr>
              <a:spcAft>
                <a:spcPts val="600"/>
              </a:spcAft>
              <a:defRPr sz="2200">
                <a:solidFill>
                  <a:srgbClr val="212529"/>
                </a:solidFill>
                <a:latin typeface="Calibri"/>
              </a:defRPr>
            </a:pPr>
            <a:r>
              <a:t>• Stopwords: Eliminate noise words.</a:t>
            </a:r>
          </a:p>
        </p:txBody>
      </p:sp>
      <p:sp>
        <p:nvSpPr>
          <p:cNvPr id="19" name="Rounded Rectangle 18"/>
          <p:cNvSpPr/>
          <p:nvPr/>
        </p:nvSpPr>
        <p:spPr>
          <a:xfrm>
            <a:off x="6217920" y="2194560"/>
            <a:ext cx="5303520" cy="356616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2331720"/>
            <a:ext cx="5029200" cy="329184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Feature &amp; Split</a:t>
            </a:r>
          </a:p>
          <a:p>
            <a:pPr>
              <a:spcAft>
                <a:spcPts val="600"/>
              </a:spcAft>
              <a:defRPr sz="2200">
                <a:solidFill>
                  <a:srgbClr val="212529"/>
                </a:solidFill>
                <a:latin typeface="Calibri"/>
              </a:defRPr>
            </a:pPr>
            <a:r>
              <a:t>• TF-IDF features (max=5000).</a:t>
            </a:r>
          </a:p>
          <a:p>
            <a:pPr>
              <a:spcAft>
                <a:spcPts val="600"/>
              </a:spcAft>
              <a:defRPr sz="2200">
                <a:solidFill>
                  <a:srgbClr val="212529"/>
                </a:solidFill>
                <a:latin typeface="Calibri"/>
              </a:defRPr>
            </a:pPr>
            <a:r>
              <a:t>• (1,2)-grams capture bigram context.</a:t>
            </a:r>
          </a:p>
          <a:p>
            <a:pPr>
              <a:spcAft>
                <a:spcPts val="600"/>
              </a:spcAft>
              <a:defRPr sz="2200">
                <a:solidFill>
                  <a:srgbClr val="212529"/>
                </a:solidFill>
                <a:latin typeface="Calibri"/>
              </a:defRPr>
            </a:pPr>
            <a:r>
              <a:t>• Stratified 80:20 split ratio.</a:t>
            </a:r>
          </a:p>
          <a:p>
            <a:pPr>
              <a:spcAft>
                <a:spcPts val="600"/>
              </a:spcAft>
              <a:defRPr sz="2200">
                <a:solidFill>
                  <a:srgbClr val="212529"/>
                </a:solidFill>
                <a:latin typeface="Calibri"/>
              </a:defRPr>
            </a:pPr>
            <a:r>
              <a:t>• Class-weights handle imbalance.</a:t>
            </a:r>
          </a:p>
        </p:txBody>
      </p:sp>
      <p:pic>
        <p:nvPicPr>
          <p:cNvPr id="21" name="Picture 20" descr="train_test_split.png"/>
          <p:cNvPicPr>
            <a:picLocks noChangeAspect="1"/>
          </p:cNvPicPr>
          <p:nvPr/>
        </p:nvPicPr>
        <p:blipFill>
          <a:blip r:embed="rId2"/>
          <a:stretch>
            <a:fillRect/>
          </a:stretch>
        </p:blipFill>
        <p:spPr>
          <a:xfrm>
            <a:off x="6217920" y="4846320"/>
            <a:ext cx="5303520" cy="146631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8</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DATA VISUALIZATION ANALYSIS</a:t>
            </a:r>
          </a:p>
          <a:p>
            <a:pPr>
              <a:spcBef>
                <a:spcPts val="400"/>
              </a:spcBef>
              <a:defRPr sz="1500" i="1">
                <a:solidFill>
                  <a:srgbClr val="3C5A82"/>
                </a:solidFill>
                <a:latin typeface="Calibri"/>
              </a:defRPr>
            </a:pPr>
            <a:r>
              <a:t>Exploratory Charts of the Clause Corpus</a:t>
            </a:r>
          </a:p>
        </p:txBody>
      </p:sp>
      <p:pic>
        <p:nvPicPr>
          <p:cNvPr id="6" name="Picture 5" descr="clause_category_frequency.png"/>
          <p:cNvPicPr>
            <a:picLocks noChangeAspect="1"/>
          </p:cNvPicPr>
          <p:nvPr/>
        </p:nvPicPr>
        <p:blipFill>
          <a:blip r:embed="rId2"/>
          <a:stretch>
            <a:fillRect/>
          </a:stretch>
        </p:blipFill>
        <p:spPr>
          <a:xfrm>
            <a:off x="457200" y="1463040"/>
            <a:ext cx="5486400" cy="3657600"/>
          </a:xfrm>
          <a:prstGeom prst="rect">
            <a:avLst/>
          </a:prstGeom>
        </p:spPr>
      </p:pic>
      <p:pic>
        <p:nvPicPr>
          <p:cNvPr id="7" name="Picture 6" descr="word_cloud.png"/>
          <p:cNvPicPr>
            <a:picLocks noChangeAspect="1"/>
          </p:cNvPicPr>
          <p:nvPr/>
        </p:nvPicPr>
        <p:blipFill>
          <a:blip r:embed="rId3"/>
          <a:stretch>
            <a:fillRect/>
          </a:stretch>
        </p:blipFill>
        <p:spPr>
          <a:xfrm>
            <a:off x="6217920" y="1463040"/>
            <a:ext cx="5486400" cy="3657600"/>
          </a:xfrm>
          <a:prstGeom prst="rect">
            <a:avLst/>
          </a:prstGeom>
        </p:spPr>
      </p:pic>
      <p:sp>
        <p:nvSpPr>
          <p:cNvPr id="8" name="TextBox 7"/>
          <p:cNvSpPr txBox="1"/>
          <p:nvPr/>
        </p:nvSpPr>
        <p:spPr>
          <a:xfrm>
            <a:off x="457200" y="5303520"/>
            <a:ext cx="11274552" cy="822960"/>
          </a:xfrm>
          <a:prstGeom prst="rect">
            <a:avLst/>
          </a:prstGeom>
          <a:noFill/>
        </p:spPr>
        <p:txBody>
          <a:bodyPr wrap="square" lIns="0" tIns="0" bIns="0" rIns="0">
            <a:spAutoFit/>
          </a:bodyPr>
          <a:lstStyle/>
          <a:p>
            <a:pPr>
              <a:spcAft>
                <a:spcPts val="400"/>
              </a:spcAft>
              <a:defRPr sz="2200">
                <a:solidFill>
                  <a:srgbClr val="212529"/>
                </a:solidFill>
              </a:defRPr>
            </a:pPr>
            <a:r>
              <a:t>• Bar Chart shows severe class imbalance, requiring macro-F1.</a:t>
            </a:r>
          </a:p>
          <a:p>
            <a:pPr>
              <a:defRPr sz="2200">
                <a:solidFill>
                  <a:srgbClr val="212529"/>
                </a:solidFill>
              </a:defRPr>
            </a:pPr>
            <a:r>
              <a:t>• Word Cloud displays legal vocab, validating stopword removal.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9</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MACHINE LEARNING ALGORITHMS</a:t>
            </a:r>
          </a:p>
          <a:p>
            <a:pPr>
              <a:spcBef>
                <a:spcPts val="400"/>
              </a:spcBef>
              <a:defRPr sz="1500" i="1">
                <a:solidFill>
                  <a:srgbClr val="3C5A82"/>
                </a:solidFill>
                <a:latin typeface="Calibri"/>
              </a:defRPr>
            </a:pPr>
            <a:r>
              <a:t>Working Principles and Selections for Classification</a:t>
            </a:r>
          </a:p>
        </p:txBody>
      </p:sp>
      <p:graphicFrame>
        <p:nvGraphicFramePr>
          <p:cNvPr id="6" name="Table 5"/>
          <p:cNvGraphicFramePr>
            <a:graphicFrameLocks noGrp="1"/>
          </p:cNvGraphicFramePr>
          <p:nvPr/>
        </p:nvGraphicFramePr>
        <p:xfrm>
          <a:off x="457200" y="1645920"/>
          <a:ext cx="11274552" cy="4114800"/>
        </p:xfrm>
        <a:graphic>
          <a:graphicData uri="http://schemas.openxmlformats.org/drawingml/2006/table">
            <a:tbl>
              <a:tblPr firstRow="1" bandRow="1">
                <a:tableStyleId>{5C22544A-7EE6-4342-B048-85BDC9FD1C3A}</a:tableStyleId>
              </a:tblPr>
              <a:tblGrid>
                <a:gridCol w="2286000"/>
                <a:gridCol w="3200400"/>
                <a:gridCol w="3017520"/>
                <a:gridCol w="2770632"/>
              </a:tblGrid>
              <a:tr h="822960">
                <a:tc>
                  <a:txBody>
                    <a:bodyPr wrap="square" tIns="91440" bIns="91440"/>
                    <a:lstStyle/>
                    <a:p>
                      <a:pPr algn="ctr">
                        <a:defRPr sz="2000" b="1">
                          <a:solidFill>
                            <a:srgbClr val="FFFFFF"/>
                          </a:solidFill>
                          <a:latin typeface="Calibri"/>
                        </a:defRPr>
                      </a:pPr>
                      <a:r>
                        <a:t>Algorithm</a:t>
                      </a:r>
                    </a:p>
                  </a:txBody>
                  <a:tcPr>
                    <a:solidFill>
                      <a:srgbClr val="172544"/>
                    </a:solidFill>
                  </a:tcPr>
                </a:tc>
                <a:tc>
                  <a:txBody>
                    <a:bodyPr wrap="square" tIns="91440" bIns="91440"/>
                    <a:lstStyle/>
                    <a:p>
                      <a:pPr algn="ctr">
                        <a:defRPr sz="2000" b="1">
                          <a:solidFill>
                            <a:srgbClr val="FFFFFF"/>
                          </a:solidFill>
                          <a:latin typeface="Calibri"/>
                        </a:defRPr>
                      </a:pPr>
                      <a:r>
                        <a:t>Working Principle</a:t>
                      </a:r>
                    </a:p>
                  </a:txBody>
                  <a:tcPr>
                    <a:solidFill>
                      <a:srgbClr val="172544"/>
                    </a:solidFill>
                  </a:tcPr>
                </a:tc>
                <a:tc>
                  <a:txBody>
                    <a:bodyPr wrap="square" tIns="91440" bIns="91440"/>
                    <a:lstStyle/>
                    <a:p>
                      <a:pPr algn="ctr">
                        <a:defRPr sz="2000" b="1">
                          <a:solidFill>
                            <a:srgbClr val="FFFFFF"/>
                          </a:solidFill>
                          <a:latin typeface="Calibri"/>
                        </a:defRPr>
                      </a:pPr>
                      <a:r>
                        <a:t>Key Advantage</a:t>
                      </a:r>
                    </a:p>
                  </a:txBody>
                  <a:tcPr>
                    <a:solidFill>
                      <a:srgbClr val="172544"/>
                    </a:solidFill>
                  </a:tcPr>
                </a:tc>
                <a:tc>
                  <a:txBody>
                    <a:bodyPr wrap="square" tIns="91440" bIns="91440"/>
                    <a:lstStyle/>
                    <a:p>
                      <a:pPr algn="ctr">
                        <a:defRPr sz="2000" b="1">
                          <a:solidFill>
                            <a:srgbClr val="FFFFFF"/>
                          </a:solidFill>
                          <a:latin typeface="Calibri"/>
                        </a:defRPr>
                      </a:pPr>
                      <a:r>
                        <a:t>Key Disadvantage</a:t>
                      </a:r>
                    </a:p>
                  </a:txBody>
                  <a:tcPr>
                    <a:solidFill>
                      <a:srgbClr val="172544"/>
                    </a:solidFill>
                  </a:tcPr>
                </a:tc>
              </a:tr>
              <a:tr h="822960">
                <a:tc>
                  <a:txBody>
                    <a:bodyPr wrap="square" tIns="91440" bIns="91440"/>
                    <a:lstStyle/>
                    <a:p>
                      <a:pPr>
                        <a:defRPr sz="2000" b="1">
                          <a:solidFill>
                            <a:srgbClr val="212529"/>
                          </a:solidFill>
                          <a:latin typeface="Calibri"/>
                        </a:defRPr>
                      </a:pPr>
                      <a:r>
                        <a:t>Logistic Regression</a:t>
                      </a:r>
                    </a:p>
                  </a:txBody>
                  <a:tcPr>
                    <a:solidFill>
                      <a:srgbClr val="E6EBF5"/>
                    </a:solidFill>
                  </a:tcPr>
                </a:tc>
                <a:tc>
                  <a:txBody>
                    <a:bodyPr wrap="square" tIns="91440" bIns="91440"/>
                    <a:lstStyle/>
                    <a:p>
                      <a:pPr>
                        <a:defRPr sz="2000">
                          <a:solidFill>
                            <a:srgbClr val="212529"/>
                          </a:solidFill>
                          <a:latin typeface="Calibri"/>
                        </a:defRPr>
                      </a:pPr>
                      <a:r>
                        <a:t>Multiclass Softmax boundary</a:t>
                      </a:r>
                    </a:p>
                  </a:txBody>
                  <a:tcPr>
                    <a:solidFill>
                      <a:srgbClr val="E6EBF5"/>
                    </a:solidFill>
                  </a:tcPr>
                </a:tc>
                <a:tc>
                  <a:txBody>
                    <a:bodyPr wrap="square" tIns="91440" bIns="91440"/>
                    <a:lstStyle/>
                    <a:p>
                      <a:pPr>
                        <a:defRPr sz="2000">
                          <a:solidFill>
                            <a:srgbClr val="212529"/>
                          </a:solidFill>
                          <a:latin typeface="Calibri"/>
                        </a:defRPr>
                      </a:pPr>
                      <a:r>
                        <a:t>Outputs probability scores</a:t>
                      </a:r>
                    </a:p>
                  </a:txBody>
                  <a:tcPr>
                    <a:solidFill>
                      <a:srgbClr val="E6EBF5"/>
                    </a:solidFill>
                  </a:tcPr>
                </a:tc>
                <a:tc>
                  <a:txBody>
                    <a:bodyPr wrap="square" tIns="91440" bIns="91440"/>
                    <a:lstStyle/>
                    <a:p>
                      <a:pPr>
                        <a:defRPr sz="2000">
                          <a:solidFill>
                            <a:srgbClr val="212529"/>
                          </a:solidFill>
                          <a:latin typeface="Calibri"/>
                        </a:defRPr>
                      </a:pPr>
                      <a:r>
                        <a:t>Assumes linear boundary</a:t>
                      </a:r>
                    </a:p>
                  </a:txBody>
                  <a:tcPr>
                    <a:solidFill>
                      <a:srgbClr val="E6EBF5"/>
                    </a:solidFill>
                  </a:tcPr>
                </a:tc>
              </a:tr>
              <a:tr h="822960">
                <a:tc>
                  <a:txBody>
                    <a:bodyPr wrap="square" tIns="91440" bIns="91440"/>
                    <a:lstStyle/>
                    <a:p>
                      <a:pPr>
                        <a:defRPr sz="2000" b="1">
                          <a:solidFill>
                            <a:srgbClr val="212529"/>
                          </a:solidFill>
                          <a:latin typeface="Calibri"/>
                        </a:defRPr>
                      </a:pPr>
                      <a:r>
                        <a:t>Support Vector Machine</a:t>
                      </a:r>
                    </a:p>
                  </a:txBody>
                  <a:tcPr>
                    <a:solidFill>
                      <a:srgbClr val="FFFFFF"/>
                    </a:solidFill>
                  </a:tcPr>
                </a:tc>
                <a:tc>
                  <a:txBody>
                    <a:bodyPr wrap="square" tIns="91440" bIns="91440"/>
                    <a:lstStyle/>
                    <a:p>
                      <a:pPr>
                        <a:defRPr sz="2000">
                          <a:solidFill>
                            <a:srgbClr val="212529"/>
                          </a:solidFill>
                          <a:latin typeface="Calibri"/>
                        </a:defRPr>
                      </a:pPr>
                      <a:r>
                        <a:t>Linear Kernel hyperplane margin</a:t>
                      </a:r>
                    </a:p>
                  </a:txBody>
                  <a:tcPr>
                    <a:solidFill>
                      <a:srgbClr val="FFFFFF"/>
                    </a:solidFill>
                  </a:tcPr>
                </a:tc>
                <a:tc>
                  <a:txBody>
                    <a:bodyPr wrap="square" tIns="91440" bIns="91440"/>
                    <a:lstStyle/>
                    <a:p>
                      <a:pPr>
                        <a:defRPr sz="2000">
                          <a:solidFill>
                            <a:srgbClr val="212529"/>
                          </a:solidFill>
                          <a:latin typeface="Calibri"/>
                        </a:defRPr>
                      </a:pPr>
                      <a:r>
                        <a:t>Excellent for high-dim text</a:t>
                      </a:r>
                    </a:p>
                  </a:txBody>
                  <a:tcPr>
                    <a:solidFill>
                      <a:srgbClr val="FFFFFF"/>
                    </a:solidFill>
                  </a:tcPr>
                </a:tc>
                <a:tc>
                  <a:txBody>
                    <a:bodyPr wrap="square" tIns="91440" bIns="91440"/>
                    <a:lstStyle/>
                    <a:p>
                      <a:pPr>
                        <a:defRPr sz="2000">
                          <a:solidFill>
                            <a:srgbClr val="212529"/>
                          </a:solidFill>
                          <a:latin typeface="Calibri"/>
                        </a:defRPr>
                      </a:pPr>
                      <a:r>
                        <a:t>High training complexity</a:t>
                      </a:r>
                    </a:p>
                  </a:txBody>
                  <a:tcPr>
                    <a:solidFill>
                      <a:srgbClr val="FFFFFF"/>
                    </a:solidFill>
                  </a:tcPr>
                </a:tc>
              </a:tr>
              <a:tr h="822960">
                <a:tc>
                  <a:txBody>
                    <a:bodyPr wrap="square" tIns="91440" bIns="91440"/>
                    <a:lstStyle/>
                    <a:p>
                      <a:pPr>
                        <a:defRPr sz="2000" b="1">
                          <a:solidFill>
                            <a:srgbClr val="212529"/>
                          </a:solidFill>
                          <a:latin typeface="Calibri"/>
                        </a:defRPr>
                      </a:pPr>
                      <a:r>
                        <a:t>Multinomial Naive Bayes</a:t>
                      </a:r>
                    </a:p>
                  </a:txBody>
                  <a:tcPr>
                    <a:solidFill>
                      <a:srgbClr val="E6EBF5"/>
                    </a:solidFill>
                  </a:tcPr>
                </a:tc>
                <a:tc>
                  <a:txBody>
                    <a:bodyPr wrap="square" tIns="91440" bIns="91440"/>
                    <a:lstStyle/>
                    <a:p>
                      <a:pPr>
                        <a:defRPr sz="2000">
                          <a:solidFill>
                            <a:srgbClr val="212529"/>
                          </a:solidFill>
                          <a:latin typeface="Calibri"/>
                        </a:defRPr>
                      </a:pPr>
                      <a:r>
                        <a:t>Bayesian conditional probability</a:t>
                      </a:r>
                    </a:p>
                  </a:txBody>
                  <a:tcPr>
                    <a:solidFill>
                      <a:srgbClr val="E6EBF5"/>
                    </a:solidFill>
                  </a:tcPr>
                </a:tc>
                <a:tc>
                  <a:txBody>
                    <a:bodyPr wrap="square" tIns="91440" bIns="91440"/>
                    <a:lstStyle/>
                    <a:p>
                      <a:pPr>
                        <a:defRPr sz="2000">
                          <a:solidFill>
                            <a:srgbClr val="212529"/>
                          </a:solidFill>
                          <a:latin typeface="Calibri"/>
                        </a:defRPr>
                      </a:pPr>
                      <a:r>
                        <a:t>Extremely fast baseline</a:t>
                      </a:r>
                    </a:p>
                  </a:txBody>
                  <a:tcPr>
                    <a:solidFill>
                      <a:srgbClr val="E6EBF5"/>
                    </a:solidFill>
                  </a:tcPr>
                </a:tc>
                <a:tc>
                  <a:txBody>
                    <a:bodyPr wrap="square" tIns="91440" bIns="91440"/>
                    <a:lstStyle/>
                    <a:p>
                      <a:pPr>
                        <a:defRPr sz="2000">
                          <a:solidFill>
                            <a:srgbClr val="212529"/>
                          </a:solidFill>
                          <a:latin typeface="Calibri"/>
                        </a:defRPr>
                      </a:pPr>
                      <a:r>
                        <a:t>Assumes independent terms</a:t>
                      </a:r>
                    </a:p>
                  </a:txBody>
                  <a:tcPr>
                    <a:solidFill>
                      <a:srgbClr val="E6EBF5"/>
                    </a:solidFill>
                  </a:tcPr>
                </a:tc>
              </a:tr>
              <a:tr h="822960">
                <a:tc>
                  <a:txBody>
                    <a:bodyPr wrap="square" tIns="91440" bIns="91440"/>
                    <a:lstStyle/>
                    <a:p>
                      <a:pPr>
                        <a:defRPr sz="2000" b="1">
                          <a:solidFill>
                            <a:srgbClr val="212529"/>
                          </a:solidFill>
                          <a:latin typeface="Calibri"/>
                        </a:defRPr>
                      </a:pPr>
                      <a:r>
                        <a:t>Random Forest</a:t>
                      </a:r>
                    </a:p>
                  </a:txBody>
                  <a:tcPr>
                    <a:solidFill>
                      <a:srgbClr val="FFFFFF"/>
                    </a:solidFill>
                  </a:tcPr>
                </a:tc>
                <a:tc>
                  <a:txBody>
                    <a:bodyPr wrap="square" tIns="91440" bIns="91440"/>
                    <a:lstStyle/>
                    <a:p>
                      <a:pPr>
                        <a:defRPr sz="2000">
                          <a:solidFill>
                            <a:srgbClr val="212529"/>
                          </a:solidFill>
                          <a:latin typeface="Calibri"/>
                        </a:defRPr>
                      </a:pPr>
                      <a:r>
                        <a:t>Ensemble of Decision Trees</a:t>
                      </a:r>
                    </a:p>
                  </a:txBody>
                  <a:tcPr>
                    <a:solidFill>
                      <a:srgbClr val="FFFFFF"/>
                    </a:solidFill>
                  </a:tcPr>
                </a:tc>
                <a:tc>
                  <a:txBody>
                    <a:bodyPr wrap="square" tIns="91440" bIns="91440"/>
                    <a:lstStyle/>
                    <a:p>
                      <a:pPr>
                        <a:defRPr sz="2000">
                          <a:solidFill>
                            <a:srgbClr val="212529"/>
                          </a:solidFill>
                          <a:latin typeface="Calibri"/>
                        </a:defRPr>
                      </a:pPr>
                      <a:r>
                        <a:t>Captures non-linear features</a:t>
                      </a:r>
                    </a:p>
                  </a:txBody>
                  <a:tcPr>
                    <a:solidFill>
                      <a:srgbClr val="FFFFFF"/>
                    </a:solidFill>
                  </a:tcPr>
                </a:tc>
                <a:tc>
                  <a:txBody>
                    <a:bodyPr wrap="square" tIns="91440" bIns="91440"/>
                    <a:lstStyle/>
                    <a:p>
                      <a:pPr>
                        <a:defRPr sz="2000">
                          <a:solidFill>
                            <a:srgbClr val="212529"/>
                          </a:solidFill>
                          <a:latin typeface="Calibri"/>
                        </a:defRPr>
                      </a:pPr>
                      <a:r>
                        <a:t>Slow training, large size</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10</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ALGORITHMIC COMPARISON STRATEGY</a:t>
            </a:r>
          </a:p>
          <a:p>
            <a:pPr>
              <a:spcBef>
                <a:spcPts val="400"/>
              </a:spcBef>
              <a:defRPr sz="1500" i="1">
                <a:solidFill>
                  <a:srgbClr val="3C5A82"/>
                </a:solidFill>
                <a:latin typeface="Calibri"/>
              </a:defRPr>
            </a:pPr>
            <a:r>
              <a:t>Parameters and Selection Rationale</a:t>
            </a:r>
          </a:p>
        </p:txBody>
      </p:sp>
      <p:graphicFrame>
        <p:nvGraphicFramePr>
          <p:cNvPr id="6" name="Table 5"/>
          <p:cNvGraphicFramePr>
            <a:graphicFrameLocks noGrp="1"/>
          </p:cNvGraphicFramePr>
          <p:nvPr/>
        </p:nvGraphicFramePr>
        <p:xfrm>
          <a:off x="457200" y="1645920"/>
          <a:ext cx="11274552" cy="3291840"/>
        </p:xfrm>
        <a:graphic>
          <a:graphicData uri="http://schemas.openxmlformats.org/drawingml/2006/table">
            <a:tbl>
              <a:tblPr firstRow="1" bandRow="1">
                <a:tableStyleId>{5C22544A-7EE6-4342-B048-85BDC9FD1C3A}</a:tableStyleId>
              </a:tblPr>
              <a:tblGrid>
                <a:gridCol w="2560320"/>
                <a:gridCol w="2011680"/>
                <a:gridCol w="2011680"/>
                <a:gridCol w="1828800"/>
                <a:gridCol w="2862072"/>
              </a:tblGrid>
              <a:tr h="658368">
                <a:tc>
                  <a:txBody>
                    <a:bodyPr wrap="square" tIns="91440" bIns="91440"/>
                    <a:lstStyle/>
                    <a:p>
                      <a:pPr algn="ctr">
                        <a:defRPr sz="2000" b="1">
                          <a:solidFill>
                            <a:srgbClr val="FFFFFF"/>
                          </a:solidFill>
                          <a:latin typeface="Calibri"/>
                        </a:defRPr>
                      </a:pPr>
                      <a:r>
                        <a:t>Algorithm</a:t>
                      </a:r>
                    </a:p>
                  </a:txBody>
                  <a:tcPr>
                    <a:solidFill>
                      <a:srgbClr val="172544"/>
                    </a:solidFill>
                  </a:tcPr>
                </a:tc>
                <a:tc>
                  <a:txBody>
                    <a:bodyPr wrap="square" tIns="91440" bIns="91440"/>
                    <a:lstStyle/>
                    <a:p>
                      <a:pPr algn="ctr">
                        <a:defRPr sz="2000" b="1">
                          <a:solidFill>
                            <a:srgbClr val="FFFFFF"/>
                          </a:solidFill>
                          <a:latin typeface="Calibri"/>
                        </a:defRPr>
                      </a:pPr>
                      <a:r>
                        <a:t>Train Speed</a:t>
                      </a:r>
                    </a:p>
                  </a:txBody>
                  <a:tcPr>
                    <a:solidFill>
                      <a:srgbClr val="172544"/>
                    </a:solidFill>
                  </a:tcPr>
                </a:tc>
                <a:tc>
                  <a:txBody>
                    <a:bodyPr wrap="square" tIns="91440" bIns="91440"/>
                    <a:lstStyle/>
                    <a:p>
                      <a:pPr algn="ctr">
                        <a:defRPr sz="2000" b="1">
                          <a:solidFill>
                            <a:srgbClr val="FFFFFF"/>
                          </a:solidFill>
                          <a:latin typeface="Calibri"/>
                        </a:defRPr>
                      </a:pPr>
                      <a:r>
                        <a:t>Accuracy</a:t>
                      </a:r>
                    </a:p>
                  </a:txBody>
                  <a:tcPr>
                    <a:solidFill>
                      <a:srgbClr val="172544"/>
                    </a:solidFill>
                  </a:tcPr>
                </a:tc>
                <a:tc>
                  <a:txBody>
                    <a:bodyPr wrap="square" tIns="91440" bIns="91440"/>
                    <a:lstStyle/>
                    <a:p>
                      <a:pPr algn="ctr">
                        <a:defRPr sz="2000" b="1">
                          <a:solidFill>
                            <a:srgbClr val="FFFFFF"/>
                          </a:solidFill>
                          <a:latin typeface="Calibri"/>
                        </a:defRPr>
                      </a:pPr>
                      <a:r>
                        <a:t>Memory</a:t>
                      </a:r>
                    </a:p>
                  </a:txBody>
                  <a:tcPr>
                    <a:solidFill>
                      <a:srgbClr val="172544"/>
                    </a:solidFill>
                  </a:tcPr>
                </a:tc>
                <a:tc>
                  <a:txBody>
                    <a:bodyPr wrap="square" tIns="91440" bIns="91440"/>
                    <a:lstStyle/>
                    <a:p>
                      <a:pPr algn="ctr">
                        <a:defRPr sz="2000" b="1">
                          <a:solidFill>
                            <a:srgbClr val="FFFFFF"/>
                          </a:solidFill>
                          <a:latin typeface="Calibri"/>
                        </a:defRPr>
                      </a:pPr>
                      <a:r>
                        <a:t>Best Use Case</a:t>
                      </a:r>
                    </a:p>
                  </a:txBody>
                  <a:tcPr>
                    <a:solidFill>
                      <a:srgbClr val="172544"/>
                    </a:solidFill>
                  </a:tcPr>
                </a:tc>
              </a:tr>
              <a:tr h="658368">
                <a:tc>
                  <a:txBody>
                    <a:bodyPr wrap="square" tIns="91440" bIns="91440"/>
                    <a:lstStyle/>
                    <a:p>
                      <a:pPr>
                        <a:defRPr sz="2000" b="1">
                          <a:solidFill>
                            <a:srgbClr val="212529"/>
                          </a:solidFill>
                          <a:latin typeface="Calibri"/>
                        </a:defRPr>
                      </a:pPr>
                      <a:r>
                        <a:t>Naive Bayes</a:t>
                      </a:r>
                    </a:p>
                  </a:txBody>
                  <a:tcPr>
                    <a:solidFill>
                      <a:srgbClr val="E6EBF5"/>
                    </a:solidFill>
                  </a:tcPr>
                </a:tc>
                <a:tc>
                  <a:txBody>
                    <a:bodyPr wrap="square" tIns="91440" bIns="91440"/>
                    <a:lstStyle/>
                    <a:p>
                      <a:pPr>
                        <a:defRPr sz="2000">
                          <a:solidFill>
                            <a:srgbClr val="212529"/>
                          </a:solidFill>
                          <a:latin typeface="Calibri"/>
                        </a:defRPr>
                      </a:pPr>
                      <a:r>
                        <a:t>Very Fast</a:t>
                      </a:r>
                    </a:p>
                  </a:txBody>
                  <a:tcPr>
                    <a:solidFill>
                      <a:srgbClr val="E6EBF5"/>
                    </a:solidFill>
                  </a:tcPr>
                </a:tc>
                <a:tc>
                  <a:txBody>
                    <a:bodyPr wrap="square" tIns="91440" bIns="91440"/>
                    <a:lstStyle/>
                    <a:p>
                      <a:pPr>
                        <a:defRPr sz="2000">
                          <a:solidFill>
                            <a:srgbClr val="212529"/>
                          </a:solidFill>
                          <a:latin typeface="Calibri"/>
                        </a:defRPr>
                      </a:pPr>
                      <a:r>
                        <a:t>Moderate</a:t>
                      </a:r>
                    </a:p>
                  </a:txBody>
                  <a:tcPr>
                    <a:solidFill>
                      <a:srgbClr val="E6EBF5"/>
                    </a:solidFill>
                  </a:tcPr>
                </a:tc>
                <a:tc>
                  <a:txBody>
                    <a:bodyPr wrap="square" tIns="91440" bIns="91440"/>
                    <a:lstStyle/>
                    <a:p>
                      <a:pPr>
                        <a:defRPr sz="2000">
                          <a:solidFill>
                            <a:srgbClr val="212529"/>
                          </a:solidFill>
                          <a:latin typeface="Calibri"/>
                        </a:defRPr>
                      </a:pPr>
                      <a:r>
                        <a:t>Very Low</a:t>
                      </a:r>
                    </a:p>
                  </a:txBody>
                  <a:tcPr>
                    <a:solidFill>
                      <a:srgbClr val="E6EBF5"/>
                    </a:solidFill>
                  </a:tcPr>
                </a:tc>
                <a:tc>
                  <a:txBody>
                    <a:bodyPr wrap="square" tIns="91440" bIns="91440"/>
                    <a:lstStyle/>
                    <a:p>
                      <a:pPr>
                        <a:defRPr sz="2000">
                          <a:solidFill>
                            <a:srgbClr val="212529"/>
                          </a:solidFill>
                          <a:latin typeface="Calibri"/>
                        </a:defRPr>
                      </a:pPr>
                      <a:r>
                        <a:t>Fast Baseline</a:t>
                      </a:r>
                    </a:p>
                  </a:txBody>
                  <a:tcPr>
                    <a:solidFill>
                      <a:srgbClr val="E6EBF5"/>
                    </a:solidFill>
                  </a:tcPr>
                </a:tc>
              </a:tr>
              <a:tr h="658368">
                <a:tc>
                  <a:txBody>
                    <a:bodyPr wrap="square" tIns="91440" bIns="91440"/>
                    <a:lstStyle/>
                    <a:p>
                      <a:pPr>
                        <a:defRPr sz="2000" b="1">
                          <a:solidFill>
                            <a:srgbClr val="212529"/>
                          </a:solidFill>
                          <a:latin typeface="Calibri"/>
                        </a:defRPr>
                      </a:pPr>
                      <a:r>
                        <a:t>Linear SVM</a:t>
                      </a:r>
                    </a:p>
                  </a:txBody>
                  <a:tcPr>
                    <a:solidFill>
                      <a:srgbClr val="FFFFFF"/>
                    </a:solidFill>
                  </a:tcPr>
                </a:tc>
                <a:tc>
                  <a:txBody>
                    <a:bodyPr wrap="square" tIns="91440" bIns="91440"/>
                    <a:lstStyle/>
                    <a:p>
                      <a:pPr>
                        <a:defRPr sz="2000">
                          <a:solidFill>
                            <a:srgbClr val="212529"/>
                          </a:solidFill>
                          <a:latin typeface="Calibri"/>
                        </a:defRPr>
                      </a:pPr>
                      <a:r>
                        <a:t>Moderate</a:t>
                      </a:r>
                    </a:p>
                  </a:txBody>
                  <a:tcPr>
                    <a:solidFill>
                      <a:srgbClr val="FFFFFF"/>
                    </a:solidFill>
                  </a:tcPr>
                </a:tc>
                <a:tc>
                  <a:txBody>
                    <a:bodyPr wrap="square" tIns="91440" bIns="91440"/>
                    <a:lstStyle/>
                    <a:p>
                      <a:pPr>
                        <a:defRPr sz="2000">
                          <a:solidFill>
                            <a:srgbClr val="212529"/>
                          </a:solidFill>
                          <a:latin typeface="Calibri"/>
                        </a:defRPr>
                      </a:pPr>
                      <a:r>
                        <a:t>Very High</a:t>
                      </a:r>
                    </a:p>
                  </a:txBody>
                  <a:tcPr>
                    <a:solidFill>
                      <a:srgbClr val="FFFFFF"/>
                    </a:solidFill>
                  </a:tcPr>
                </a:tc>
                <a:tc>
                  <a:txBody>
                    <a:bodyPr wrap="square" tIns="91440" bIns="91440"/>
                    <a:lstStyle/>
                    <a:p>
                      <a:pPr>
                        <a:defRPr sz="2000">
                          <a:solidFill>
                            <a:srgbClr val="212529"/>
                          </a:solidFill>
                          <a:latin typeface="Calibri"/>
                        </a:defRPr>
                      </a:pPr>
                      <a:r>
                        <a:t>Low</a:t>
                      </a:r>
                    </a:p>
                  </a:txBody>
                  <a:tcPr>
                    <a:solidFill>
                      <a:srgbClr val="FFFFFF"/>
                    </a:solidFill>
                  </a:tcPr>
                </a:tc>
                <a:tc>
                  <a:txBody>
                    <a:bodyPr wrap="square" tIns="91440" bIns="91440"/>
                    <a:lstStyle/>
                    <a:p>
                      <a:pPr>
                        <a:defRPr sz="2000">
                          <a:solidFill>
                            <a:srgbClr val="212529"/>
                          </a:solidFill>
                          <a:latin typeface="Calibri"/>
                        </a:defRPr>
                      </a:pPr>
                      <a:r>
                        <a:t>High-Dim Text</a:t>
                      </a:r>
                    </a:p>
                  </a:txBody>
                  <a:tcPr>
                    <a:solidFill>
                      <a:srgbClr val="FFFFFF"/>
                    </a:solidFill>
                  </a:tcPr>
                </a:tc>
              </a:tr>
              <a:tr h="658368">
                <a:tc>
                  <a:txBody>
                    <a:bodyPr wrap="square" tIns="91440" bIns="91440"/>
                    <a:lstStyle/>
                    <a:p>
                      <a:pPr>
                        <a:defRPr sz="2000" b="1">
                          <a:solidFill>
                            <a:srgbClr val="212529"/>
                          </a:solidFill>
                          <a:latin typeface="Calibri"/>
                        </a:defRPr>
                      </a:pPr>
                      <a:r>
                        <a:t>Logistic Regression</a:t>
                      </a:r>
                    </a:p>
                  </a:txBody>
                  <a:tcPr>
                    <a:solidFill>
                      <a:srgbClr val="E6EBF5"/>
                    </a:solidFill>
                  </a:tcPr>
                </a:tc>
                <a:tc>
                  <a:txBody>
                    <a:bodyPr wrap="square" tIns="91440" bIns="91440"/>
                    <a:lstStyle/>
                    <a:p>
                      <a:pPr>
                        <a:defRPr sz="2000">
                          <a:solidFill>
                            <a:srgbClr val="212529"/>
                          </a:solidFill>
                          <a:latin typeface="Calibri"/>
                        </a:defRPr>
                      </a:pPr>
                      <a:r>
                        <a:t>Fast</a:t>
                      </a:r>
                    </a:p>
                  </a:txBody>
                  <a:tcPr>
                    <a:solidFill>
                      <a:srgbClr val="E6EBF5"/>
                    </a:solidFill>
                  </a:tcPr>
                </a:tc>
                <a:tc>
                  <a:txBody>
                    <a:bodyPr wrap="square" tIns="91440" bIns="91440"/>
                    <a:lstStyle/>
                    <a:p>
                      <a:pPr>
                        <a:defRPr sz="2000">
                          <a:solidFill>
                            <a:srgbClr val="212529"/>
                          </a:solidFill>
                          <a:latin typeface="Calibri"/>
                        </a:defRPr>
                      </a:pPr>
                      <a:r>
                        <a:t>High</a:t>
                      </a:r>
                    </a:p>
                  </a:txBody>
                  <a:tcPr>
                    <a:solidFill>
                      <a:srgbClr val="E6EBF5"/>
                    </a:solidFill>
                  </a:tcPr>
                </a:tc>
                <a:tc>
                  <a:txBody>
                    <a:bodyPr wrap="square" tIns="91440" bIns="91440"/>
                    <a:lstStyle/>
                    <a:p>
                      <a:pPr>
                        <a:defRPr sz="2000">
                          <a:solidFill>
                            <a:srgbClr val="212529"/>
                          </a:solidFill>
                          <a:latin typeface="Calibri"/>
                        </a:defRPr>
                      </a:pPr>
                      <a:r>
                        <a:t>Low</a:t>
                      </a:r>
                    </a:p>
                  </a:txBody>
                  <a:tcPr>
                    <a:solidFill>
                      <a:srgbClr val="E6EBF5"/>
                    </a:solidFill>
                  </a:tcPr>
                </a:tc>
                <a:tc>
                  <a:txBody>
                    <a:bodyPr wrap="square" tIns="91440" bIns="91440"/>
                    <a:lstStyle/>
                    <a:p>
                      <a:pPr>
                        <a:defRPr sz="2000">
                          <a:solidFill>
                            <a:srgbClr val="212529"/>
                          </a:solidFill>
                          <a:latin typeface="Calibri"/>
                        </a:defRPr>
                      </a:pPr>
                      <a:r>
                        <a:t>Explainable Classifier</a:t>
                      </a:r>
                    </a:p>
                  </a:txBody>
                  <a:tcPr>
                    <a:solidFill>
                      <a:srgbClr val="E6EBF5"/>
                    </a:solidFill>
                  </a:tcPr>
                </a:tc>
              </a:tr>
              <a:tr h="658368">
                <a:tc>
                  <a:txBody>
                    <a:bodyPr wrap="square" tIns="91440" bIns="91440"/>
                    <a:lstStyle/>
                    <a:p>
                      <a:pPr>
                        <a:defRPr sz="2000" b="1">
                          <a:solidFill>
                            <a:srgbClr val="212529"/>
                          </a:solidFill>
                          <a:latin typeface="Calibri"/>
                        </a:defRPr>
                      </a:pPr>
                      <a:r>
                        <a:t>Random Forest</a:t>
                      </a:r>
                    </a:p>
                  </a:txBody>
                  <a:tcPr>
                    <a:solidFill>
                      <a:srgbClr val="FFFFFF"/>
                    </a:solidFill>
                  </a:tcPr>
                </a:tc>
                <a:tc>
                  <a:txBody>
                    <a:bodyPr wrap="square" tIns="91440" bIns="91440"/>
                    <a:lstStyle/>
                    <a:p>
                      <a:pPr>
                        <a:defRPr sz="2000">
                          <a:solidFill>
                            <a:srgbClr val="212529"/>
                          </a:solidFill>
                          <a:latin typeface="Calibri"/>
                        </a:defRPr>
                      </a:pPr>
                      <a:r>
                        <a:t>Slow</a:t>
                      </a:r>
                    </a:p>
                  </a:txBody>
                  <a:tcPr>
                    <a:solidFill>
                      <a:srgbClr val="FFFFFF"/>
                    </a:solidFill>
                  </a:tcPr>
                </a:tc>
                <a:tc>
                  <a:txBody>
                    <a:bodyPr wrap="square" tIns="91440" bIns="91440"/>
                    <a:lstStyle/>
                    <a:p>
                      <a:pPr>
                        <a:defRPr sz="2000">
                          <a:solidFill>
                            <a:srgbClr val="212529"/>
                          </a:solidFill>
                          <a:latin typeface="Calibri"/>
                        </a:defRPr>
                      </a:pPr>
                      <a:r>
                        <a:t>High</a:t>
                      </a:r>
                    </a:p>
                  </a:txBody>
                  <a:tcPr>
                    <a:solidFill>
                      <a:srgbClr val="FFFFFF"/>
                    </a:solidFill>
                  </a:tcPr>
                </a:tc>
                <a:tc>
                  <a:txBody>
                    <a:bodyPr wrap="square" tIns="91440" bIns="91440"/>
                    <a:lstStyle/>
                    <a:p>
                      <a:pPr>
                        <a:defRPr sz="2000">
                          <a:solidFill>
                            <a:srgbClr val="212529"/>
                          </a:solidFill>
                          <a:latin typeface="Calibri"/>
                        </a:defRPr>
                      </a:pPr>
                      <a:r>
                        <a:t>High</a:t>
                      </a:r>
                    </a:p>
                  </a:txBody>
                  <a:tcPr>
                    <a:solidFill>
                      <a:srgbClr val="FFFFFF"/>
                    </a:solidFill>
                  </a:tcPr>
                </a:tc>
                <a:tc>
                  <a:txBody>
                    <a:bodyPr wrap="square" tIns="91440" bIns="91440"/>
                    <a:lstStyle/>
                    <a:p>
                      <a:pPr>
                        <a:defRPr sz="2000">
                          <a:solidFill>
                            <a:srgbClr val="212529"/>
                          </a:solidFill>
                          <a:latin typeface="Calibri"/>
                        </a:defRPr>
                      </a:pPr>
                      <a:r>
                        <a:t>Ensemble Baseline</a:t>
                      </a:r>
                    </a:p>
                  </a:txBody>
                  <a:tcPr>
                    <a:solidFill>
                      <a:srgbClr val="FFFFFF"/>
                    </a:solidFill>
                  </a:tcPr>
                </a:tc>
              </a:tr>
            </a:tbl>
          </a:graphicData>
        </a:graphic>
      </p:graphicFrame>
      <p:sp>
        <p:nvSpPr>
          <p:cNvPr id="7" name="TextBox 6"/>
          <p:cNvSpPr txBox="1"/>
          <p:nvPr/>
        </p:nvSpPr>
        <p:spPr>
          <a:xfrm>
            <a:off x="457200" y="5120640"/>
            <a:ext cx="11274552" cy="1005840"/>
          </a:xfrm>
          <a:prstGeom prst="rect">
            <a:avLst/>
          </a:prstGeom>
          <a:noFill/>
        </p:spPr>
        <p:txBody>
          <a:bodyPr wrap="square" lIns="0" tIns="0" bIns="0" rIns="0">
            <a:spAutoFit/>
          </a:bodyPr>
          <a:lstStyle/>
          <a:p>
            <a:pPr>
              <a:spcAft>
                <a:spcPts val="1000"/>
              </a:spcAft>
              <a:defRPr sz="2600" b="1">
                <a:solidFill>
                  <a:srgbClr val="1EA0F0"/>
                </a:solidFill>
                <a:latin typeface="Trebuchet MS"/>
              </a:defRPr>
            </a:pPr>
          </a:p>
          <a:p>
            <a:pPr>
              <a:spcAft>
                <a:spcPts val="600"/>
              </a:spcAft>
              <a:defRPr sz="2200">
                <a:solidFill>
                  <a:srgbClr val="212529"/>
                </a:solidFill>
                <a:latin typeface="Calibri"/>
              </a:defRPr>
            </a:pPr>
            <a:r>
              <a:t>• Justification: Text is often linearly separable; linear models (SVM, LR) perform best.</a:t>
            </a:r>
          </a:p>
          <a:p>
            <a:pPr>
              <a:spcAft>
                <a:spcPts val="600"/>
              </a:spcAft>
              <a:defRPr sz="2200">
                <a:solidFill>
                  <a:srgbClr val="212529"/>
                </a:solidFill>
                <a:latin typeface="Calibri"/>
              </a:defRPr>
            </a:pPr>
            <a:r>
              <a:t>• Comparison evaluates optimal model trade-off for lightweight, local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11</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SYSTEM FLOWCHART</a:t>
            </a:r>
          </a:p>
          <a:p>
            <a:pPr>
              <a:spcBef>
                <a:spcPts val="400"/>
              </a:spcBef>
              <a:defRPr sz="1500" i="1">
                <a:solidFill>
                  <a:srgbClr val="3C5A82"/>
                </a:solidFill>
                <a:latin typeface="Calibri"/>
              </a:defRPr>
            </a:pPr>
            <a:r>
              <a:t>Functional Diagram of Pipeline Execution</a:t>
            </a:r>
          </a:p>
        </p:txBody>
      </p:sp>
      <p:sp>
        <p:nvSpPr>
          <p:cNvPr id="6" name="Rounded Rectangle 5"/>
          <p:cNvSpPr/>
          <p:nvPr/>
        </p:nvSpPr>
        <p:spPr>
          <a:xfrm>
            <a:off x="457200" y="2926080"/>
            <a:ext cx="1463040" cy="777240"/>
          </a:xfrm>
          <a:prstGeom prst="roundRect">
            <a:avLst/>
          </a:prstGeom>
          <a:solidFill>
            <a:srgbClr val="172544"/>
          </a:solidFill>
          <a:ln>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PDF Upload</a:t>
            </a:r>
          </a:p>
        </p:txBody>
      </p:sp>
      <p:sp>
        <p:nvSpPr>
          <p:cNvPr id="7" name="Right Arrow 6"/>
          <p:cNvSpPr/>
          <p:nvPr/>
        </p:nvSpPr>
        <p:spPr>
          <a:xfrm>
            <a:off x="1920240" y="3154680"/>
            <a:ext cx="36576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286000" y="2926080"/>
            <a:ext cx="1463040" cy="777240"/>
          </a:xfrm>
          <a:prstGeom prst="roundRect">
            <a:avLst/>
          </a:prstGeom>
          <a:solidFill>
            <a:srgbClr val="172544"/>
          </a:solidFill>
          <a:ln>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Text Extract</a:t>
            </a:r>
          </a:p>
        </p:txBody>
      </p:sp>
      <p:sp>
        <p:nvSpPr>
          <p:cNvPr id="9" name="Right Arrow 8"/>
          <p:cNvSpPr/>
          <p:nvPr/>
        </p:nvSpPr>
        <p:spPr>
          <a:xfrm>
            <a:off x="3749040" y="3154680"/>
            <a:ext cx="36576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114800" y="2926080"/>
            <a:ext cx="1463040" cy="777240"/>
          </a:xfrm>
          <a:prstGeom prst="roundRect">
            <a:avLst/>
          </a:prstGeom>
          <a:solidFill>
            <a:srgbClr val="172544"/>
          </a:solidFill>
          <a:ln>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Segmenting</a:t>
            </a:r>
          </a:p>
        </p:txBody>
      </p:sp>
      <p:sp>
        <p:nvSpPr>
          <p:cNvPr id="11" name="Right Arrow 10"/>
          <p:cNvSpPr/>
          <p:nvPr/>
        </p:nvSpPr>
        <p:spPr>
          <a:xfrm>
            <a:off x="5577840" y="3154680"/>
            <a:ext cx="36576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943600" y="2926080"/>
            <a:ext cx="1463040" cy="777240"/>
          </a:xfrm>
          <a:prstGeom prst="roundRect">
            <a:avLst/>
          </a:prstGeom>
          <a:solidFill>
            <a:srgbClr val="172544"/>
          </a:solidFill>
          <a:ln>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Cleaning</a:t>
            </a:r>
          </a:p>
        </p:txBody>
      </p:sp>
      <p:sp>
        <p:nvSpPr>
          <p:cNvPr id="13" name="Right Arrow 12"/>
          <p:cNvSpPr/>
          <p:nvPr/>
        </p:nvSpPr>
        <p:spPr>
          <a:xfrm>
            <a:off x="7406640" y="3154680"/>
            <a:ext cx="365760" cy="27432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0" y="2926080"/>
            <a:ext cx="1463040" cy="777240"/>
          </a:xfrm>
          <a:prstGeom prst="roundRect">
            <a:avLst/>
          </a:prstGeom>
          <a:solidFill>
            <a:srgbClr val="172544"/>
          </a:solidFill>
          <a:ln>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TF-IDF features</a:t>
            </a:r>
          </a:p>
        </p:txBody>
      </p:sp>
      <p:sp>
        <p:nvSpPr>
          <p:cNvPr id="15" name="Up Arrow 14"/>
          <p:cNvSpPr/>
          <p:nvPr/>
        </p:nvSpPr>
        <p:spPr>
          <a:xfrm>
            <a:off x="8412480" y="2468880"/>
            <a:ext cx="274320" cy="365760"/>
          </a:xfrm>
          <a:prstGeom prst="up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8412480" y="3749039"/>
            <a:ext cx="274320" cy="365760"/>
          </a:xfrm>
          <a:prstGeom prst="down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200" y="2011680"/>
            <a:ext cx="1645920" cy="777240"/>
          </a:xfrm>
          <a:prstGeom prst="roundRect">
            <a:avLst/>
          </a:prstGeom>
          <a:solidFill>
            <a:srgbClr val="3C5A82"/>
          </a:solidFill>
          <a:ln>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ML Classifier</a:t>
            </a:r>
          </a:p>
        </p:txBody>
      </p:sp>
      <p:sp>
        <p:nvSpPr>
          <p:cNvPr id="18" name="Rounded Rectangle 17"/>
          <p:cNvSpPr/>
          <p:nvPr/>
        </p:nvSpPr>
        <p:spPr>
          <a:xfrm>
            <a:off x="9601200" y="3840480"/>
            <a:ext cx="1645920" cy="777240"/>
          </a:xfrm>
          <a:prstGeom prst="roundRect">
            <a:avLst/>
          </a:prstGeom>
          <a:solidFill>
            <a:srgbClr val="3C5A82"/>
          </a:solidFill>
          <a:ln>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Search Engine</a:t>
            </a:r>
          </a:p>
        </p:txBody>
      </p:sp>
      <p:sp>
        <p:nvSpPr>
          <p:cNvPr id="19" name="Rounded Rectangle 18"/>
          <p:cNvSpPr/>
          <p:nvPr/>
        </p:nvSpPr>
        <p:spPr>
          <a:xfrm>
            <a:off x="11430000" y="2011680"/>
            <a:ext cx="731520" cy="777240"/>
          </a:xfrm>
          <a:prstGeom prst="roundRect">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Clause</a:t>
            </a:r>
            <a:br/>
            <a:r>
              <a:t>Class</a:t>
            </a:r>
          </a:p>
        </p:txBody>
      </p:sp>
      <p:sp>
        <p:nvSpPr>
          <p:cNvPr id="20" name="Rounded Rectangle 19"/>
          <p:cNvSpPr/>
          <p:nvPr/>
        </p:nvSpPr>
        <p:spPr>
          <a:xfrm>
            <a:off x="11430000" y="3840480"/>
            <a:ext cx="731520" cy="777240"/>
          </a:xfrm>
          <a:prstGeom prst="roundRect">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Ranked</a:t>
            </a:r>
            <a:br/>
            <a:r>
              <a:t>Output</a:t>
            </a:r>
          </a:p>
        </p:txBody>
      </p:sp>
      <p:sp>
        <p:nvSpPr>
          <p:cNvPr id="21" name="TextBox 20"/>
          <p:cNvSpPr txBox="1"/>
          <p:nvPr/>
        </p:nvSpPr>
        <p:spPr>
          <a:xfrm>
            <a:off x="457200" y="4937760"/>
            <a:ext cx="11274552" cy="1097280"/>
          </a:xfrm>
          <a:prstGeom prst="rect">
            <a:avLst/>
          </a:prstGeom>
          <a:noFill/>
        </p:spPr>
        <p:txBody>
          <a:bodyPr wrap="square" lIns="0" tIns="0" bIns="0" rIns="0">
            <a:spAutoFit/>
          </a:bodyPr>
          <a:lstStyle/>
          <a:p>
            <a:pPr>
              <a:spcAft>
                <a:spcPts val="400"/>
              </a:spcAft>
              <a:defRPr sz="2200">
                <a:solidFill>
                  <a:srgbClr val="212529"/>
                </a:solidFill>
              </a:defRPr>
            </a:pPr>
            <a:r>
              <a:t>• Ingestion: Extracts raw contract text from PDF using PyMuPDF.</a:t>
            </a:r>
          </a:p>
          <a:p>
            <a:pPr>
              <a:defRPr sz="2200">
                <a:solidFill>
                  <a:srgbClr val="212529"/>
                </a:solidFill>
              </a:defRPr>
            </a:pPr>
            <a:r>
              <a:t>• Processing: Cleaned clauses are TF-IDF vectorized for parallel ML Classification and Cosine Similarity Search.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12</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SYSTEM PSEUDOCODE</a:t>
            </a:r>
          </a:p>
          <a:p>
            <a:pPr>
              <a:spcBef>
                <a:spcPts val="400"/>
              </a:spcBef>
              <a:defRPr sz="1500" i="1">
                <a:solidFill>
                  <a:srgbClr val="3C5A82"/>
                </a:solidFill>
                <a:latin typeface="Calibri"/>
              </a:defRPr>
            </a:pPr>
            <a:r>
              <a:t>Algorithmic Control Flow</a:t>
            </a:r>
          </a:p>
        </p:txBody>
      </p:sp>
      <p:sp>
        <p:nvSpPr>
          <p:cNvPr id="6" name="Rectangle 5"/>
          <p:cNvSpPr/>
          <p:nvPr/>
        </p:nvSpPr>
        <p:spPr>
          <a:xfrm>
            <a:off x="457200" y="1645920"/>
            <a:ext cx="11274552" cy="4389120"/>
          </a:xfrm>
          <a:prstGeom prst="rect">
            <a:avLst/>
          </a:prstGeom>
          <a:solidFill>
            <a:srgbClr val="1E1E1E"/>
          </a:solidFill>
          <a:ln w="1905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bIns="228600" rIns="228600"/>
          <a:lstStyle/>
          <a:p>
            <a:pPr algn="ctr">
              <a:defRPr sz="1300">
                <a:solidFill>
                  <a:srgbClr val="DCDCDC"/>
                </a:solidFill>
                <a:latin typeface="Consolas"/>
              </a:defRPr>
            </a:pPr>
            <a:r>
              <a:t>START ClauseIQ_Pipeline:</a:t>
            </a:r>
            <a:br/>
            <a:br/>
            <a:r>
              <a:t>  1. Ingest PDF document from frontend upload widget</a:t>
            </a:r>
            <a:br/>
            <a:r>
              <a:t>  2. Extract raw string: raw_text = PyMuPDF.extract_text(PDF)</a:t>
            </a:r>
            <a:br/>
            <a:r>
              <a:t>  3. Segment text: clauses = split_into_paragraphs(raw_text)</a:t>
            </a:r>
            <a:br/>
            <a:r>
              <a:t>  4. Preprocess: clean_clauses = [clean(c) for c in clauses if len(words) &gt;= 3]</a:t>
            </a:r>
            <a:br/>
            <a:r>
              <a:t>  5. Vectorize: corpus_vectors = tfidf_vectorizer.transform(clean_clauses)</a:t>
            </a:r>
            <a:br/>
            <a:r>
              <a:t>  6. Classify:</a:t>
            </a:r>
            <a:br/>
            <a:r>
              <a:t>       predicted_category = trained_model.predict(corpus_vectors)</a:t>
            </a:r>
            <a:br/>
            <a:r>
              <a:t>       confidence = trained_model.predict_proba(corpus_vectors).max()</a:t>
            </a:r>
            <a:br/>
            <a:r>
              <a:t>  7. Search query: query_vector = tfidf_vectorizer.transform([user_query])</a:t>
            </a:r>
            <a:br/>
            <a:r>
              <a:t>       ranked_results = cosine_similarity(query_vector, corpus_vectors).sort_desc()</a:t>
            </a:r>
            <a:br/>
            <a:br/>
            <a:r>
              <a:t>END ClauseIQ_Pipeline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13</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PROJECT PIPELINE</a:t>
            </a:r>
          </a:p>
          <a:p>
            <a:pPr>
              <a:spcBef>
                <a:spcPts val="400"/>
              </a:spcBef>
              <a:defRPr sz="1500" i="1">
                <a:solidFill>
                  <a:srgbClr val="3C5A82"/>
                </a:solidFill>
                <a:latin typeface="Calibri"/>
              </a:defRPr>
            </a:pPr>
            <a:r>
              <a:t>Linear Architectures Components Workflow</a:t>
            </a:r>
          </a:p>
        </p:txBody>
      </p:sp>
      <p:sp>
        <p:nvSpPr>
          <p:cNvPr id="6" name="Rounded Rectangle 5"/>
          <p:cNvSpPr/>
          <p:nvPr/>
        </p:nvSpPr>
        <p:spPr>
          <a:xfrm>
            <a:off x="457200" y="2377440"/>
            <a:ext cx="1371600" cy="1463040"/>
          </a:xfrm>
          <a:prstGeom prst="roundRect">
            <a:avLst/>
          </a:prstGeom>
          <a:solidFill>
            <a:srgbClr val="172544"/>
          </a:solidFill>
          <a:ln w="1270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wrap="square" lIns="73152" tIns="73152" bIns="73152" rIns="73152"/>
          <a:lstStyle/>
          <a:p>
            <a:pPr algn="ctr">
              <a:defRPr sz="1000" b="1">
                <a:solidFill>
                  <a:srgbClr val="1EA0F0"/>
                </a:solidFill>
              </a:defRPr>
            </a:pPr>
            <a:r>
              <a:t>Step 01</a:t>
            </a:r>
          </a:p>
          <a:p>
            <a:pPr algn="ctr">
              <a:spcBef>
                <a:spcPts val="800"/>
              </a:spcBef>
              <a:defRPr sz="1200" b="1">
                <a:solidFill>
                  <a:srgbClr val="FFFFFF"/>
                </a:solidFill>
              </a:defRPr>
            </a:pPr>
            <a:r>
              <a:t>User</a:t>
            </a:r>
          </a:p>
        </p:txBody>
      </p:sp>
      <p:sp>
        <p:nvSpPr>
          <p:cNvPr id="7" name="Right Arrow 6"/>
          <p:cNvSpPr/>
          <p:nvPr/>
        </p:nvSpPr>
        <p:spPr>
          <a:xfrm>
            <a:off x="1874520" y="2926080"/>
            <a:ext cx="118872" cy="36576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039112" y="2377440"/>
            <a:ext cx="1371600" cy="1463040"/>
          </a:xfrm>
          <a:prstGeom prst="roundRect">
            <a:avLst/>
          </a:prstGeom>
          <a:solidFill>
            <a:srgbClr val="3C5A82"/>
          </a:solidFill>
          <a:ln w="1270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wrap="square" lIns="73152" tIns="73152" bIns="73152" rIns="73152"/>
          <a:lstStyle/>
          <a:p>
            <a:pPr algn="ctr">
              <a:defRPr sz="1000" b="1">
                <a:solidFill>
                  <a:srgbClr val="1EA0F0"/>
                </a:solidFill>
              </a:defRPr>
            </a:pPr>
            <a:r>
              <a:t>Step 02</a:t>
            </a:r>
          </a:p>
          <a:p>
            <a:pPr algn="ctr">
              <a:spcBef>
                <a:spcPts val="800"/>
              </a:spcBef>
              <a:defRPr sz="1200" b="1">
                <a:solidFill>
                  <a:srgbClr val="FFFFFF"/>
                </a:solidFill>
              </a:defRPr>
            </a:pPr>
            <a:r>
              <a:t>React UI</a:t>
            </a:r>
          </a:p>
        </p:txBody>
      </p:sp>
      <p:sp>
        <p:nvSpPr>
          <p:cNvPr id="9" name="Right Arrow 8"/>
          <p:cNvSpPr/>
          <p:nvPr/>
        </p:nvSpPr>
        <p:spPr>
          <a:xfrm>
            <a:off x="3456432" y="2926080"/>
            <a:ext cx="118872" cy="36576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21024" y="2377440"/>
            <a:ext cx="1371600" cy="1463040"/>
          </a:xfrm>
          <a:prstGeom prst="roundRect">
            <a:avLst/>
          </a:prstGeom>
          <a:solidFill>
            <a:srgbClr val="3C5A82"/>
          </a:solidFill>
          <a:ln w="1270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wrap="square" lIns="73152" tIns="73152" bIns="73152" rIns="73152"/>
          <a:lstStyle/>
          <a:p>
            <a:pPr algn="ctr">
              <a:defRPr sz="1000" b="1">
                <a:solidFill>
                  <a:srgbClr val="1EA0F0"/>
                </a:solidFill>
              </a:defRPr>
            </a:pPr>
            <a:r>
              <a:t>Step 03</a:t>
            </a:r>
          </a:p>
          <a:p>
            <a:pPr algn="ctr">
              <a:spcBef>
                <a:spcPts val="800"/>
              </a:spcBef>
              <a:defRPr sz="1200" b="1">
                <a:solidFill>
                  <a:srgbClr val="FFFFFF"/>
                </a:solidFill>
              </a:defRPr>
            </a:pPr>
            <a:r>
              <a:t>Flask API</a:t>
            </a:r>
          </a:p>
        </p:txBody>
      </p:sp>
      <p:sp>
        <p:nvSpPr>
          <p:cNvPr id="11" name="Right Arrow 10"/>
          <p:cNvSpPr/>
          <p:nvPr/>
        </p:nvSpPr>
        <p:spPr>
          <a:xfrm>
            <a:off x="5038344" y="2926080"/>
            <a:ext cx="118872" cy="36576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02936" y="2377440"/>
            <a:ext cx="1371600" cy="1463040"/>
          </a:xfrm>
          <a:prstGeom prst="roundRect">
            <a:avLst/>
          </a:prstGeom>
          <a:solidFill>
            <a:srgbClr val="3C5A82"/>
          </a:solidFill>
          <a:ln w="1270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wrap="square" lIns="73152" tIns="73152" bIns="73152" rIns="73152"/>
          <a:lstStyle/>
          <a:p>
            <a:pPr algn="ctr">
              <a:defRPr sz="1000" b="1">
                <a:solidFill>
                  <a:srgbClr val="1EA0F0"/>
                </a:solidFill>
              </a:defRPr>
            </a:pPr>
            <a:r>
              <a:t>Step 04</a:t>
            </a:r>
          </a:p>
          <a:p>
            <a:pPr algn="ctr">
              <a:spcBef>
                <a:spcPts val="800"/>
              </a:spcBef>
              <a:defRPr sz="1200" b="1">
                <a:solidFill>
                  <a:srgbClr val="FFFFFF"/>
                </a:solidFill>
              </a:defRPr>
            </a:pPr>
            <a:r>
              <a:t>PyMuPDF</a:t>
            </a:r>
          </a:p>
        </p:txBody>
      </p:sp>
      <p:sp>
        <p:nvSpPr>
          <p:cNvPr id="13" name="Right Arrow 12"/>
          <p:cNvSpPr/>
          <p:nvPr/>
        </p:nvSpPr>
        <p:spPr>
          <a:xfrm>
            <a:off x="6620256" y="2926080"/>
            <a:ext cx="118872" cy="36576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784848" y="2377440"/>
            <a:ext cx="1371600" cy="1463040"/>
          </a:xfrm>
          <a:prstGeom prst="roundRect">
            <a:avLst/>
          </a:prstGeom>
          <a:solidFill>
            <a:srgbClr val="3C5A82"/>
          </a:solidFill>
          <a:ln w="1270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wrap="square" lIns="73152" tIns="73152" bIns="73152" rIns="73152"/>
          <a:lstStyle/>
          <a:p>
            <a:pPr algn="ctr">
              <a:defRPr sz="1000" b="1">
                <a:solidFill>
                  <a:srgbClr val="1EA0F0"/>
                </a:solidFill>
              </a:defRPr>
            </a:pPr>
            <a:r>
              <a:t>Step 05</a:t>
            </a:r>
          </a:p>
          <a:p>
            <a:pPr algn="ctr">
              <a:spcBef>
                <a:spcPts val="800"/>
              </a:spcBef>
              <a:defRPr sz="1200" b="1">
                <a:solidFill>
                  <a:srgbClr val="FFFFFF"/>
                </a:solidFill>
              </a:defRPr>
            </a:pPr>
            <a:r>
              <a:t>ML Model</a:t>
            </a:r>
          </a:p>
        </p:txBody>
      </p:sp>
      <p:sp>
        <p:nvSpPr>
          <p:cNvPr id="15" name="Right Arrow 14"/>
          <p:cNvSpPr/>
          <p:nvPr/>
        </p:nvSpPr>
        <p:spPr>
          <a:xfrm>
            <a:off x="8202168" y="2926080"/>
            <a:ext cx="118872" cy="36576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66760" y="2377440"/>
            <a:ext cx="1371600" cy="1463040"/>
          </a:xfrm>
          <a:prstGeom prst="roundRect">
            <a:avLst/>
          </a:prstGeom>
          <a:solidFill>
            <a:srgbClr val="3C5A82"/>
          </a:solidFill>
          <a:ln w="1270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wrap="square" lIns="73152" tIns="73152" bIns="73152" rIns="73152"/>
          <a:lstStyle/>
          <a:p>
            <a:pPr algn="ctr">
              <a:defRPr sz="1000" b="1">
                <a:solidFill>
                  <a:srgbClr val="1EA0F0"/>
                </a:solidFill>
              </a:defRPr>
            </a:pPr>
            <a:r>
              <a:t>Step 06</a:t>
            </a:r>
          </a:p>
          <a:p>
            <a:pPr algn="ctr">
              <a:spcBef>
                <a:spcPts val="800"/>
              </a:spcBef>
              <a:defRPr sz="1200" b="1">
                <a:solidFill>
                  <a:srgbClr val="FFFFFF"/>
                </a:solidFill>
              </a:defRPr>
            </a:pPr>
            <a:r>
              <a:t>Similarity</a:t>
            </a:r>
          </a:p>
        </p:txBody>
      </p:sp>
      <p:sp>
        <p:nvSpPr>
          <p:cNvPr id="17" name="Right Arrow 16"/>
          <p:cNvSpPr/>
          <p:nvPr/>
        </p:nvSpPr>
        <p:spPr>
          <a:xfrm>
            <a:off x="9784080" y="2926080"/>
            <a:ext cx="118872" cy="365760"/>
          </a:xfrm>
          <a:prstGeom prs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948672" y="2377440"/>
            <a:ext cx="1371600" cy="1463040"/>
          </a:xfrm>
          <a:prstGeom prst="roundRect">
            <a:avLst/>
          </a:prstGeom>
          <a:solidFill>
            <a:srgbClr val="172544"/>
          </a:solidFill>
          <a:ln w="12700">
            <a:solidFill>
              <a:srgbClr val="1EA0F0"/>
            </a:solidFill>
          </a:ln>
        </p:spPr>
        <p:style>
          <a:lnRef idx="1">
            <a:schemeClr val="accent1"/>
          </a:lnRef>
          <a:fillRef idx="3">
            <a:schemeClr val="accent1"/>
          </a:fillRef>
          <a:effectRef idx="2">
            <a:schemeClr val="accent1"/>
          </a:effectRef>
          <a:fontRef idx="minor">
            <a:schemeClr val="lt1"/>
          </a:fontRef>
        </p:style>
        <p:txBody>
          <a:bodyPr rtlCol="0" anchor="ctr" wrap="square" lIns="73152" tIns="73152" bIns="73152" rIns="73152"/>
          <a:lstStyle/>
          <a:p>
            <a:pPr algn="ctr">
              <a:defRPr sz="1000" b="1">
                <a:solidFill>
                  <a:srgbClr val="1EA0F0"/>
                </a:solidFill>
              </a:defRPr>
            </a:pPr>
            <a:r>
              <a:t>Step 07</a:t>
            </a:r>
          </a:p>
          <a:p>
            <a:pPr algn="ctr">
              <a:spcBef>
                <a:spcPts val="800"/>
              </a:spcBef>
              <a:defRPr sz="1200" b="1">
                <a:solidFill>
                  <a:srgbClr val="FFFFFF"/>
                </a:solidFill>
              </a:defRPr>
            </a:pPr>
            <a:r>
              <a:t>Results UI</a:t>
            </a:r>
          </a:p>
        </p:txBody>
      </p:sp>
      <p:sp>
        <p:nvSpPr>
          <p:cNvPr id="19" name="TextBox 18"/>
          <p:cNvSpPr txBox="1"/>
          <p:nvPr/>
        </p:nvSpPr>
        <p:spPr>
          <a:xfrm>
            <a:off x="457200" y="4389120"/>
            <a:ext cx="11274552" cy="1645920"/>
          </a:xfrm>
          <a:prstGeom prst="rect">
            <a:avLst/>
          </a:prstGeom>
          <a:noFill/>
        </p:spPr>
        <p:txBody>
          <a:bodyPr wrap="square" lIns="0" tIns="0" bIns="0" rIns="0">
            <a:spAutoFit/>
          </a:bodyPr>
          <a:lstStyle/>
          <a:p>
            <a:pPr>
              <a:spcAft>
                <a:spcPts val="1000"/>
              </a:spcAft>
              <a:defRPr sz="2600" b="1">
                <a:solidFill>
                  <a:srgbClr val="1EA0F0"/>
                </a:solidFill>
                <a:latin typeface="Trebuchet MS"/>
              </a:defRPr>
            </a:pPr>
          </a:p>
          <a:p>
            <a:pPr>
              <a:spcAft>
                <a:spcPts val="600"/>
              </a:spcAft>
              <a:defRPr sz="2200">
                <a:solidFill>
                  <a:srgbClr val="212529"/>
                </a:solidFill>
                <a:latin typeface="Calibri"/>
              </a:defRPr>
            </a:pPr>
            <a:r>
              <a:t>• React UI sends documents and queries to Flask backend.</a:t>
            </a:r>
          </a:p>
          <a:p>
            <a:pPr>
              <a:spcAft>
                <a:spcPts val="600"/>
              </a:spcAft>
              <a:defRPr sz="2200">
                <a:solidFill>
                  <a:srgbClr val="212529"/>
                </a:solidFill>
                <a:latin typeface="Calibri"/>
              </a:defRPr>
            </a:pPr>
            <a:r>
              <a:t>• Python code extracts paragraphs, tokenizes, and lemmatizes text.</a:t>
            </a:r>
          </a:p>
          <a:p>
            <a:pPr>
              <a:spcAft>
                <a:spcPts val="600"/>
              </a:spcAft>
              <a:defRPr sz="2200">
                <a:solidFill>
                  <a:srgbClr val="212529"/>
                </a:solidFill>
                <a:latin typeface="Calibri"/>
              </a:defRPr>
            </a:pPr>
            <a:r>
              <a:t>• Scikit-learn classifies text and calculates Cosine Similarity rankings.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14</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SYSTEM ARCHITECTURE</a:t>
            </a:r>
          </a:p>
          <a:p>
            <a:pPr>
              <a:spcBef>
                <a:spcPts val="400"/>
              </a:spcBef>
              <a:defRPr sz="1500" i="1">
                <a:solidFill>
                  <a:srgbClr val="3C5A82"/>
                </a:solidFill>
                <a:latin typeface="Calibri"/>
              </a:defRPr>
            </a:pPr>
            <a:r>
              <a:t>Interaction Layers and Data Boundaries</a:t>
            </a:r>
          </a:p>
        </p:txBody>
      </p:sp>
      <p:sp>
        <p:nvSpPr>
          <p:cNvPr id="6" name="Rounded Rectangle 5"/>
          <p:cNvSpPr/>
          <p:nvPr/>
        </p:nvSpPr>
        <p:spPr>
          <a:xfrm>
            <a:off x="731520" y="2011680"/>
            <a:ext cx="2926080" cy="329184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148840"/>
            <a:ext cx="2651760" cy="301752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Client Layer</a:t>
            </a:r>
          </a:p>
          <a:p>
            <a:pPr>
              <a:spcAft>
                <a:spcPts val="600"/>
              </a:spcAft>
              <a:defRPr sz="2200">
                <a:solidFill>
                  <a:srgbClr val="212529"/>
                </a:solidFill>
                <a:latin typeface="Calibri"/>
              </a:defRPr>
            </a:pPr>
            <a:r>
              <a:t>React.js SPA Dashboard</a:t>
            </a:r>
          </a:p>
          <a:p>
            <a:pPr>
              <a:spcAft>
                <a:spcPts val="600"/>
              </a:spcAft>
              <a:defRPr sz="2200">
                <a:solidFill>
                  <a:srgbClr val="212529"/>
                </a:solidFill>
                <a:latin typeface="Calibri"/>
              </a:defRPr>
            </a:pPr>
            <a:r>
              <a:t>• File upload widget.</a:t>
            </a:r>
          </a:p>
          <a:p>
            <a:pPr>
              <a:spcAft>
                <a:spcPts val="600"/>
              </a:spcAft>
              <a:defRPr sz="2200">
                <a:solidFill>
                  <a:srgbClr val="212529"/>
                </a:solidFill>
                <a:latin typeface="Calibri"/>
              </a:defRPr>
            </a:pPr>
            <a:r>
              <a:t>• Search query bar.</a:t>
            </a:r>
          </a:p>
          <a:p>
            <a:pPr>
              <a:spcAft>
                <a:spcPts val="600"/>
              </a:spcAft>
              <a:defRPr sz="2200">
                <a:solidFill>
                  <a:srgbClr val="212529"/>
                </a:solidFill>
                <a:latin typeface="Calibri"/>
              </a:defRPr>
            </a:pPr>
            <a:r>
              <a:t>• Clause interactive log.</a:t>
            </a:r>
          </a:p>
        </p:txBody>
      </p:sp>
      <p:sp>
        <p:nvSpPr>
          <p:cNvPr id="8" name="Left-Right Arrow 7"/>
          <p:cNvSpPr/>
          <p:nvPr/>
        </p:nvSpPr>
        <p:spPr>
          <a:xfrm>
            <a:off x="3749039" y="3383280"/>
            <a:ext cx="731520" cy="365760"/>
          </a:xfrm>
          <a:prstGeom prst="lef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0" y="2011680"/>
            <a:ext cx="3017520" cy="329184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148840"/>
            <a:ext cx="2743200" cy="301752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Logic Layer</a:t>
            </a:r>
          </a:p>
          <a:p>
            <a:pPr>
              <a:spcAft>
                <a:spcPts val="600"/>
              </a:spcAft>
              <a:defRPr sz="2200">
                <a:solidFill>
                  <a:srgbClr val="212529"/>
                </a:solidFill>
                <a:latin typeface="Calibri"/>
              </a:defRPr>
            </a:pPr>
            <a:r>
              <a:t>Flask Server (Python)</a:t>
            </a:r>
          </a:p>
          <a:p>
            <a:pPr>
              <a:spcAft>
                <a:spcPts val="600"/>
              </a:spcAft>
              <a:defRPr sz="2200">
                <a:solidFill>
                  <a:srgbClr val="212529"/>
                </a:solidFill>
                <a:latin typeface="Calibri"/>
              </a:defRPr>
            </a:pPr>
            <a:r>
              <a:t>• PyMuPDF text parser.</a:t>
            </a:r>
          </a:p>
          <a:p>
            <a:pPr>
              <a:spcAft>
                <a:spcPts val="600"/>
              </a:spcAft>
              <a:defRPr sz="2200">
                <a:solidFill>
                  <a:srgbClr val="212529"/>
                </a:solidFill>
                <a:latin typeface="Calibri"/>
              </a:defRPr>
            </a:pPr>
            <a:r>
              <a:t>• spaCy preprocessing.</a:t>
            </a:r>
          </a:p>
          <a:p>
            <a:pPr>
              <a:spcAft>
                <a:spcPts val="600"/>
              </a:spcAft>
              <a:defRPr sz="2200">
                <a:solidFill>
                  <a:srgbClr val="212529"/>
                </a:solidFill>
                <a:latin typeface="Calibri"/>
              </a:defRPr>
            </a:pPr>
            <a:r>
              <a:t>• Scikit-learn ML models.</a:t>
            </a:r>
          </a:p>
          <a:p>
            <a:pPr>
              <a:spcAft>
                <a:spcPts val="600"/>
              </a:spcAft>
              <a:defRPr sz="2200">
                <a:solidFill>
                  <a:srgbClr val="212529"/>
                </a:solidFill>
                <a:latin typeface="Calibri"/>
              </a:defRPr>
            </a:pPr>
            <a:r>
              <a:t>• Cosine Sim engine.</a:t>
            </a:r>
          </a:p>
        </p:txBody>
      </p:sp>
      <p:sp>
        <p:nvSpPr>
          <p:cNvPr id="11" name="Left-Right Arrow 10"/>
          <p:cNvSpPr/>
          <p:nvPr/>
        </p:nvSpPr>
        <p:spPr>
          <a:xfrm>
            <a:off x="7680960" y="3383280"/>
            <a:ext cx="731520" cy="365760"/>
          </a:xfrm>
          <a:prstGeom prst="leftRightArrow">
            <a:avLst/>
          </a:prstGeom>
          <a:solidFill>
            <a:srgbClr val="1EA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03920" y="2011680"/>
            <a:ext cx="2926080" cy="329184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2148840"/>
            <a:ext cx="2651760" cy="301752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Data Layer</a:t>
            </a:r>
          </a:p>
          <a:p>
            <a:pPr>
              <a:spcAft>
                <a:spcPts val="600"/>
              </a:spcAft>
              <a:defRPr sz="2200">
                <a:solidFill>
                  <a:srgbClr val="212529"/>
                </a:solidFill>
                <a:latin typeface="Calibri"/>
              </a:defRPr>
            </a:pPr>
            <a:r>
              <a:t>SQLite Database</a:t>
            </a:r>
          </a:p>
          <a:p>
            <a:pPr>
              <a:spcAft>
                <a:spcPts val="600"/>
              </a:spcAft>
              <a:defRPr sz="2200">
                <a:solidFill>
                  <a:srgbClr val="212529"/>
                </a:solidFill>
                <a:latin typeface="Calibri"/>
              </a:defRPr>
            </a:pPr>
            <a:r>
              <a:t>• Extracted text strings.</a:t>
            </a:r>
          </a:p>
          <a:p>
            <a:pPr>
              <a:spcAft>
                <a:spcPts val="600"/>
              </a:spcAft>
              <a:defRPr sz="2200">
                <a:solidFill>
                  <a:srgbClr val="212529"/>
                </a:solidFill>
                <a:latin typeface="Calibri"/>
              </a:defRPr>
            </a:pPr>
            <a:r>
              <a:t>• Predicted legal classes.</a:t>
            </a:r>
          </a:p>
          <a:p>
            <a:pPr>
              <a:spcAft>
                <a:spcPts val="600"/>
              </a:spcAft>
              <a:defRPr sz="2200">
                <a:solidFill>
                  <a:srgbClr val="212529"/>
                </a:solidFill>
                <a:latin typeface="Calibri"/>
              </a:defRPr>
            </a:pPr>
            <a:r>
              <a:t>• Model confidence scores.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15</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GUI DESIGN MOCKUP</a:t>
            </a:r>
          </a:p>
          <a:p>
            <a:pPr>
              <a:spcBef>
                <a:spcPts val="400"/>
              </a:spcBef>
              <a:defRPr sz="1500" i="1">
                <a:solidFill>
                  <a:srgbClr val="3C5A82"/>
                </a:solidFill>
                <a:latin typeface="Calibri"/>
              </a:defRPr>
            </a:pPr>
            <a:r>
              <a:t>Proposed Deployable Dashboard Layout</a:t>
            </a:r>
          </a:p>
        </p:txBody>
      </p:sp>
      <p:sp>
        <p:nvSpPr>
          <p:cNvPr id="6" name="Rounded Rectangle 5"/>
          <p:cNvSpPr/>
          <p:nvPr/>
        </p:nvSpPr>
        <p:spPr>
          <a:xfrm>
            <a:off x="457200" y="1463040"/>
            <a:ext cx="11274552" cy="4572000"/>
          </a:xfrm>
          <a:prstGeom prst="roundRect">
            <a:avLst/>
          </a:prstGeom>
          <a:solidFill>
            <a:srgbClr val="EBEEF3"/>
          </a:solidFill>
          <a:ln w="19050">
            <a:solidFill>
              <a:srgbClr val="3C5A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63040"/>
            <a:ext cx="11274552" cy="548640"/>
          </a:xfrm>
          <a:prstGeom prst="rect">
            <a:avLst/>
          </a:prstGeom>
          <a:solidFill>
            <a:srgbClr val="17254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defRPr sz="1400" b="1">
                <a:solidFill>
                  <a:srgbClr val="FFFFFF"/>
                </a:solidFill>
              </a:defRPr>
            </a:pPr>
            <a:r>
              <a:t>ClauseIQ Dashboard -- Contract Analysis &amp; Semantic Search</a:t>
            </a:r>
          </a:p>
        </p:txBody>
      </p:sp>
      <p:sp>
        <p:nvSpPr>
          <p:cNvPr id="8" name="Rectangle 7"/>
          <p:cNvSpPr/>
          <p:nvPr/>
        </p:nvSpPr>
        <p:spPr>
          <a:xfrm>
            <a:off x="457200" y="2011680"/>
            <a:ext cx="2011680" cy="4023360"/>
          </a:xfrm>
          <a:prstGeom prst="rect">
            <a:avLst/>
          </a:prstGeom>
          <a:solidFill>
            <a:srgbClr val="3C5A82"/>
          </a:solidFill>
          <a:ln>
            <a:noFill/>
          </a:ln>
        </p:spPr>
        <p:style>
          <a:lnRef idx="1">
            <a:schemeClr val="accent1"/>
          </a:lnRef>
          <a:fillRef idx="3">
            <a:schemeClr val="accent1"/>
          </a:fillRef>
          <a:effectRef idx="2">
            <a:schemeClr val="accent1"/>
          </a:effectRef>
          <a:fontRef idx="minor">
            <a:schemeClr val="lt1"/>
          </a:fontRef>
        </p:style>
        <p:txBody>
          <a:bodyPr rtlCol="0" anchor="ctr" lIns="137160" tIns="182880"/>
          <a:lstStyle/>
          <a:p>
            <a:pPr algn="ctr">
              <a:defRPr b="1" sz="1100">
                <a:solidFill>
                  <a:srgbClr val="1EA0F0"/>
                </a:solidFill>
              </a:defRPr>
            </a:pPr>
            <a:r>
              <a:t>MENU</a:t>
            </a:r>
          </a:p>
          <a:p>
            <a:br/>
            <a:pPr>
              <a:defRPr sz="1050">
                <a:solidFill>
                  <a:srgbClr val="FFFFFF"/>
                </a:solidFill>
              </a:defRPr>
            </a:pPr>
            <a:r>
              <a:t>[+] Upload PDF</a:t>
            </a:r>
          </a:p>
          <a:p>
            <a:br/>
            <a:pPr>
              <a:defRPr sz="1050">
                <a:solidFill>
                  <a:srgbClr val="FFFFFF"/>
                </a:solidFill>
              </a:defRPr>
            </a:pPr>
            <a:r>
              <a:t>[o] View Clauses</a:t>
            </a:r>
          </a:p>
          <a:p>
            <a:br/>
            <a:pPr>
              <a:defRPr sz="1050">
                <a:solidFill>
                  <a:srgbClr val="FFFFFF"/>
                </a:solidFill>
              </a:defRPr>
            </a:pPr>
            <a:r>
              <a:t>[?] Query Search</a:t>
            </a:r>
          </a:p>
          <a:p>
            <a:br/>
            <a:pPr>
              <a:defRPr sz="1050">
                <a:solidFill>
                  <a:srgbClr val="FFFFFF"/>
                </a:solidFill>
              </a:defRPr>
            </a:pPr>
            <a:r>
              <a:t>[*] Model Stats</a:t>
            </a:r>
          </a:p>
          <a:p>
            <a:br/>
            <a:pPr>
              <a:defRPr sz="1050">
                <a:solidFill>
                  <a:srgbClr val="FFFFFF"/>
                </a:solidFill>
              </a:defRPr>
            </a:pPr>
            <a:r>
              <a:t>[x] Settings</a:t>
            </a:r>
          </a:p>
        </p:txBody>
      </p:sp>
      <p:sp>
        <p:nvSpPr>
          <p:cNvPr id="9" name="Rounded Rectangle 8"/>
          <p:cNvSpPr/>
          <p:nvPr/>
        </p:nvSpPr>
        <p:spPr>
          <a:xfrm>
            <a:off x="2651760" y="2194560"/>
            <a:ext cx="4114800" cy="1645920"/>
          </a:xfrm>
          <a:prstGeom prst="roundRect">
            <a:avLst/>
          </a:prstGeom>
          <a:solidFill>
            <a:srgbClr val="FFFFFF"/>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lIns="137160" tIns="137160"/>
          <a:lstStyle/>
          <a:p>
            <a:pPr algn="ctr">
              <a:defRPr b="1"/>
            </a:pPr>
            <a:r>
              <a:t>Upload Contract PDF</a:t>
            </a:r>
          </a:p>
          <a:p>
            <a:br/>
            <a:pPr>
              <a:defRPr sz="1050">
                <a:solidFill>
                  <a:srgbClr val="3C5A82"/>
                </a:solidFill>
              </a:defRPr>
            </a:pPr>
            <a:r>
              <a:t>[ Drag &amp; Drop PDF Here ]</a:t>
            </a:r>
            <a:br/>
            <a:br/>
            <a:r>
              <a:t>- File: .pdf Format</a:t>
            </a:r>
          </a:p>
        </p:txBody>
      </p:sp>
      <p:sp>
        <p:nvSpPr>
          <p:cNvPr id="10" name="Rounded Rectangle 9"/>
          <p:cNvSpPr/>
          <p:nvPr/>
        </p:nvSpPr>
        <p:spPr>
          <a:xfrm>
            <a:off x="6949440" y="2194560"/>
            <a:ext cx="5029200" cy="1645920"/>
          </a:xfrm>
          <a:prstGeom prst="roundRect">
            <a:avLst/>
          </a:prstGeom>
          <a:solidFill>
            <a:srgbClr val="FFFFFF"/>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lIns="137160" tIns="137160"/>
          <a:lstStyle/>
          <a:p>
            <a:pPr algn="ctr"/>
            <a:r>
              <a:t>Intelligent Semantic Search</a:t>
            </a:r>
          </a:p>
          <a:p>
            <a:br/>
            <a:pPr>
              <a:defRPr sz="1050" i="1">
                <a:solidFill>
                  <a:srgbClr val="3C5A82"/>
                </a:solidFill>
              </a:defRPr>
            </a:pPr>
            <a:r>
              <a:t>Query: [ Find governing law and liability caps... ]</a:t>
            </a:r>
          </a:p>
        </p:txBody>
      </p:sp>
      <p:sp>
        <p:nvSpPr>
          <p:cNvPr id="11" name="Rounded Rectangle 10"/>
          <p:cNvSpPr/>
          <p:nvPr/>
        </p:nvSpPr>
        <p:spPr>
          <a:xfrm>
            <a:off x="2651760" y="4023360"/>
            <a:ext cx="9326880" cy="1828800"/>
          </a:xfrm>
          <a:prstGeom prst="roundRect">
            <a:avLst/>
          </a:prstGeom>
          <a:solidFill>
            <a:srgbClr val="FFFFFF"/>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lIns="137160" tIns="137160"/>
          <a:lstStyle/>
          <a:p>
            <a:pPr algn="ctr">
              <a:defRPr b="1"/>
            </a:pPr>
            <a:r>
              <a:t>Extracted Clauses &amp; Predictions Log</a:t>
            </a:r>
          </a:p>
          <a:p>
            <a:br/>
            <a:pPr>
              <a:defRPr b="1" sz="1000">
                <a:solidFill>
                  <a:srgbClr val="172544"/>
                </a:solidFill>
              </a:defRPr>
            </a:pPr>
            <a:r>
              <a:t>Clause Snippet                      | Predicted Class  | Conf. | Action</a:t>
            </a:r>
          </a:p>
          <a:p>
            <a:pPr>
              <a:defRPr sz="950">
                <a:solidFill>
                  <a:srgbClr val="212529"/>
                </a:solidFill>
                <a:latin typeface="Consolas"/>
              </a:defRPr>
            </a:pPr>
            <a:r>
              <a:t>"This Agreement governed by NY law..." | Governing Law     | 98.4% | [View]</a:t>
            </a:r>
            <a:br/>
            <a:r>
              <a:t>"In no event shall liability exceed $50k..."| Cap On Liability | 95.8% | [View]</a:t>
            </a:r>
            <a:br/>
            <a:r>
              <a:t>"Neither party may assign rights..."       | Anti-Assignment  | 91.2% | [View]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16</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SCREEN DETAILS</a:t>
            </a:r>
          </a:p>
          <a:p>
            <a:pPr>
              <a:spcBef>
                <a:spcPts val="400"/>
              </a:spcBef>
              <a:defRPr sz="1500" i="1">
                <a:solidFill>
                  <a:srgbClr val="3C5A82"/>
                </a:solidFill>
                <a:latin typeface="Calibri"/>
              </a:defRPr>
            </a:pPr>
            <a:r>
              <a:t>Functional GUI Components and User Actions</a:t>
            </a:r>
          </a:p>
        </p:txBody>
      </p:sp>
      <p:sp>
        <p:nvSpPr>
          <p:cNvPr id="6" name="Rounded Rectangle 5"/>
          <p:cNvSpPr/>
          <p:nvPr/>
        </p:nvSpPr>
        <p:spPr>
          <a:xfrm>
            <a:off x="457200" y="1645920"/>
            <a:ext cx="3383280" cy="1828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783080"/>
            <a:ext cx="3108960" cy="1554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1. Upload PDF Box</a:t>
            </a:r>
          </a:p>
          <a:p>
            <a:pPr>
              <a:spcAft>
                <a:spcPts val="600"/>
              </a:spcAft>
              <a:defRPr sz="2200">
                <a:solidFill>
                  <a:srgbClr val="212529"/>
                </a:solidFill>
                <a:latin typeface="Calibri"/>
              </a:defRPr>
            </a:pPr>
            <a:r>
              <a:t>• Accepts standard PDF contracts.</a:t>
            </a:r>
          </a:p>
          <a:p>
            <a:pPr>
              <a:spcAft>
                <a:spcPts val="600"/>
              </a:spcAft>
              <a:defRPr sz="2200">
                <a:solidFill>
                  <a:srgbClr val="212529"/>
                </a:solidFill>
                <a:latin typeface="Calibri"/>
              </a:defRPr>
            </a:pPr>
            <a:r>
              <a:t>• Ingests text for segmentation.</a:t>
            </a:r>
          </a:p>
        </p:txBody>
      </p:sp>
      <p:sp>
        <p:nvSpPr>
          <p:cNvPr id="8" name="Rounded Rectangle 7"/>
          <p:cNvSpPr/>
          <p:nvPr/>
        </p:nvSpPr>
        <p:spPr>
          <a:xfrm>
            <a:off x="4389120" y="1645920"/>
            <a:ext cx="3383280" cy="1828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83080"/>
            <a:ext cx="3108960" cy="1554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2. Search Bar</a:t>
            </a:r>
          </a:p>
          <a:p>
            <a:pPr>
              <a:spcAft>
                <a:spcPts val="600"/>
              </a:spcAft>
              <a:defRPr sz="2200">
                <a:solidFill>
                  <a:srgbClr val="212529"/>
                </a:solidFill>
                <a:latin typeface="Calibri"/>
              </a:defRPr>
            </a:pPr>
            <a:r>
              <a:t>• Vectorizes search query texts.</a:t>
            </a:r>
          </a:p>
          <a:p>
            <a:pPr>
              <a:spcAft>
                <a:spcPts val="600"/>
              </a:spcAft>
              <a:defRPr sz="2200">
                <a:solidFill>
                  <a:srgbClr val="212529"/>
                </a:solidFill>
                <a:latin typeface="Calibri"/>
              </a:defRPr>
            </a:pPr>
            <a:r>
              <a:t>• Runs Cosine Similarity matching.</a:t>
            </a:r>
          </a:p>
        </p:txBody>
      </p:sp>
      <p:sp>
        <p:nvSpPr>
          <p:cNvPr id="10" name="Rounded Rectangle 9"/>
          <p:cNvSpPr/>
          <p:nvPr/>
        </p:nvSpPr>
        <p:spPr>
          <a:xfrm>
            <a:off x="8321040" y="1645920"/>
            <a:ext cx="3383280" cy="1828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1783080"/>
            <a:ext cx="3108960" cy="1554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3. Clause Viewer</a:t>
            </a:r>
          </a:p>
          <a:p>
            <a:pPr>
              <a:spcAft>
                <a:spcPts val="600"/>
              </a:spcAft>
              <a:defRPr sz="2200">
                <a:solidFill>
                  <a:srgbClr val="212529"/>
                </a:solidFill>
                <a:latin typeface="Calibri"/>
              </a:defRPr>
            </a:pPr>
            <a:r>
              <a:t>• Displays parsed paragraph list.</a:t>
            </a:r>
          </a:p>
          <a:p>
            <a:pPr>
              <a:spcAft>
                <a:spcPts val="600"/>
              </a:spcAft>
              <a:defRPr sz="2200">
                <a:solidFill>
                  <a:srgbClr val="212529"/>
                </a:solidFill>
                <a:latin typeface="Calibri"/>
              </a:defRPr>
            </a:pPr>
            <a:r>
              <a:t>• Shows predicted legal labels.</a:t>
            </a:r>
          </a:p>
        </p:txBody>
      </p:sp>
      <p:sp>
        <p:nvSpPr>
          <p:cNvPr id="12" name="Rounded Rectangle 11"/>
          <p:cNvSpPr/>
          <p:nvPr/>
        </p:nvSpPr>
        <p:spPr>
          <a:xfrm>
            <a:off x="2377440" y="3749039"/>
            <a:ext cx="3383280" cy="1828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886199"/>
            <a:ext cx="3108960" cy="1554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4. Category Filter</a:t>
            </a:r>
          </a:p>
          <a:p>
            <a:pPr>
              <a:spcAft>
                <a:spcPts val="600"/>
              </a:spcAft>
              <a:defRPr sz="2200">
                <a:solidFill>
                  <a:srgbClr val="212529"/>
                </a:solidFill>
                <a:latin typeface="Calibri"/>
              </a:defRPr>
            </a:pPr>
            <a:r>
              <a:t>• Isolates specific categories.</a:t>
            </a:r>
          </a:p>
          <a:p>
            <a:pPr>
              <a:spcAft>
                <a:spcPts val="600"/>
              </a:spcAft>
              <a:defRPr sz="2200">
                <a:solidFill>
                  <a:srgbClr val="212529"/>
                </a:solidFill>
                <a:latin typeface="Calibri"/>
              </a:defRPr>
            </a:pPr>
            <a:r>
              <a:t>• Enables rapid compliance triage.</a:t>
            </a:r>
          </a:p>
        </p:txBody>
      </p:sp>
      <p:sp>
        <p:nvSpPr>
          <p:cNvPr id="14" name="Rounded Rectangle 13"/>
          <p:cNvSpPr/>
          <p:nvPr/>
        </p:nvSpPr>
        <p:spPr>
          <a:xfrm>
            <a:off x="6309360" y="3749039"/>
            <a:ext cx="3383280" cy="1828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3886199"/>
            <a:ext cx="3108960" cy="1554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5. Prediction Tag</a:t>
            </a:r>
          </a:p>
          <a:p>
            <a:pPr>
              <a:spcAft>
                <a:spcPts val="600"/>
              </a:spcAft>
              <a:defRPr sz="2200">
                <a:solidFill>
                  <a:srgbClr val="212529"/>
                </a:solidFill>
                <a:latin typeface="Calibri"/>
              </a:defRPr>
            </a:pPr>
            <a:r>
              <a:t>• Shows labels &amp; confidence.</a:t>
            </a:r>
          </a:p>
          <a:p>
            <a:pPr>
              <a:spcAft>
                <a:spcPts val="600"/>
              </a:spcAft>
              <a:defRPr sz="2200">
                <a:solidFill>
                  <a:srgbClr val="212529"/>
                </a:solidFill>
                <a:latin typeface="Calibri"/>
              </a:defRPr>
            </a:pPr>
            <a:r>
              <a:t>• Flags low confidence predictions.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17</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TOOLS &amp; TECHNOLOGIES</a:t>
            </a:r>
          </a:p>
          <a:p>
            <a:pPr>
              <a:spcBef>
                <a:spcPts val="400"/>
              </a:spcBef>
              <a:defRPr sz="1500" i="1">
                <a:solidFill>
                  <a:srgbClr val="3C5A82"/>
                </a:solidFill>
                <a:latin typeface="Calibri"/>
              </a:defRPr>
            </a:pPr>
            <a:r>
              <a:t>System Development Stack</a:t>
            </a:r>
          </a:p>
        </p:txBody>
      </p:sp>
      <p:sp>
        <p:nvSpPr>
          <p:cNvPr id="6" name="Rounded Rectangle 5"/>
          <p:cNvSpPr/>
          <p:nvPr/>
        </p:nvSpPr>
        <p:spPr>
          <a:xfrm>
            <a:off x="457200" y="1645920"/>
            <a:ext cx="3383280" cy="4114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783080"/>
            <a:ext cx="3108960" cy="3840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Languages &amp; Web</a:t>
            </a:r>
          </a:p>
          <a:p>
            <a:pPr>
              <a:spcAft>
                <a:spcPts val="600"/>
              </a:spcAft>
              <a:defRPr sz="2200">
                <a:solidFill>
                  <a:srgbClr val="212529"/>
                </a:solidFill>
                <a:latin typeface="Calibri"/>
              </a:defRPr>
            </a:pPr>
            <a:r>
              <a:t>• Python (Core Logic)</a:t>
            </a:r>
          </a:p>
          <a:p>
            <a:pPr>
              <a:spcAft>
                <a:spcPts val="600"/>
              </a:spcAft>
              <a:defRPr sz="2200">
                <a:solidFill>
                  <a:srgbClr val="212529"/>
                </a:solidFill>
                <a:latin typeface="Calibri"/>
              </a:defRPr>
            </a:pPr>
            <a:r>
              <a:t>• Flask (REST APIs)</a:t>
            </a:r>
          </a:p>
          <a:p>
            <a:pPr>
              <a:spcAft>
                <a:spcPts val="600"/>
              </a:spcAft>
              <a:defRPr sz="2200">
                <a:solidFill>
                  <a:srgbClr val="212529"/>
                </a:solidFill>
                <a:latin typeface="Calibri"/>
              </a:defRPr>
            </a:pPr>
            <a:r>
              <a:t>• HTML &amp; CSS</a:t>
            </a:r>
          </a:p>
          <a:p>
            <a:pPr>
              <a:spcAft>
                <a:spcPts val="600"/>
              </a:spcAft>
              <a:defRPr sz="2200">
                <a:solidFill>
                  <a:srgbClr val="212529"/>
                </a:solidFill>
                <a:latin typeface="Calibri"/>
              </a:defRPr>
            </a:pPr>
            <a:r>
              <a:t>• JavaScript</a:t>
            </a:r>
          </a:p>
        </p:txBody>
      </p:sp>
      <p:sp>
        <p:nvSpPr>
          <p:cNvPr id="8" name="Rounded Rectangle 7"/>
          <p:cNvSpPr/>
          <p:nvPr/>
        </p:nvSpPr>
        <p:spPr>
          <a:xfrm>
            <a:off x="4389120" y="1645920"/>
            <a:ext cx="3383280" cy="4114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83080"/>
            <a:ext cx="3108960" cy="3840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Data &amp; ML Stack</a:t>
            </a:r>
          </a:p>
          <a:p>
            <a:pPr>
              <a:spcAft>
                <a:spcPts val="600"/>
              </a:spcAft>
              <a:defRPr sz="2200">
                <a:solidFill>
                  <a:srgbClr val="212529"/>
                </a:solidFill>
                <a:latin typeface="Calibri"/>
              </a:defRPr>
            </a:pPr>
            <a:r>
              <a:t>• Scikit-learn (ML &amp; TF-IDF)</a:t>
            </a:r>
          </a:p>
          <a:p>
            <a:pPr>
              <a:spcAft>
                <a:spcPts val="600"/>
              </a:spcAft>
              <a:defRPr sz="2200">
                <a:solidFill>
                  <a:srgbClr val="212529"/>
                </a:solidFill>
                <a:latin typeface="Calibri"/>
              </a:defRPr>
            </a:pPr>
            <a:r>
              <a:t>• spaCy (NLP Preprocessing)</a:t>
            </a:r>
          </a:p>
          <a:p>
            <a:pPr>
              <a:spcAft>
                <a:spcPts val="600"/>
              </a:spcAft>
              <a:defRPr sz="2200">
                <a:solidFill>
                  <a:srgbClr val="212529"/>
                </a:solidFill>
                <a:latin typeface="Calibri"/>
              </a:defRPr>
            </a:pPr>
            <a:r>
              <a:t>• NLTK</a:t>
            </a:r>
          </a:p>
          <a:p>
            <a:pPr>
              <a:spcAft>
                <a:spcPts val="600"/>
              </a:spcAft>
              <a:defRPr sz="2200">
                <a:solidFill>
                  <a:srgbClr val="212529"/>
                </a:solidFill>
                <a:latin typeface="Calibri"/>
              </a:defRPr>
            </a:pPr>
            <a:r>
              <a:t>• Pandas &amp; NumPy</a:t>
            </a:r>
          </a:p>
        </p:txBody>
      </p:sp>
      <p:sp>
        <p:nvSpPr>
          <p:cNvPr id="10" name="Rounded Rectangle 9"/>
          <p:cNvSpPr/>
          <p:nvPr/>
        </p:nvSpPr>
        <p:spPr>
          <a:xfrm>
            <a:off x="8321040" y="1645920"/>
            <a:ext cx="3383280" cy="4114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1783080"/>
            <a:ext cx="3108960" cy="3840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Utilities &amp; DB</a:t>
            </a:r>
          </a:p>
          <a:p>
            <a:pPr>
              <a:spcAft>
                <a:spcPts val="600"/>
              </a:spcAft>
              <a:defRPr sz="2200">
                <a:solidFill>
                  <a:srgbClr val="212529"/>
                </a:solidFill>
                <a:latin typeface="Calibri"/>
              </a:defRPr>
            </a:pPr>
            <a:r>
              <a:t>• SQLite (Database)</a:t>
            </a:r>
          </a:p>
          <a:p>
            <a:pPr>
              <a:spcAft>
                <a:spcPts val="600"/>
              </a:spcAft>
              <a:defRPr sz="2200">
                <a:solidFill>
                  <a:srgbClr val="212529"/>
                </a:solidFill>
                <a:latin typeface="Calibri"/>
              </a:defRPr>
            </a:pPr>
            <a:r>
              <a:t>• PyMuPDF (PDF Parser)</a:t>
            </a:r>
          </a:p>
          <a:p>
            <a:pPr>
              <a:spcAft>
                <a:spcPts val="600"/>
              </a:spcAft>
              <a:defRPr sz="2200">
                <a:solidFill>
                  <a:srgbClr val="212529"/>
                </a:solidFill>
                <a:latin typeface="Calibri"/>
              </a:defRPr>
            </a:pPr>
            <a:r>
              <a:t>• Matplotlib &amp; Seaborn</a:t>
            </a:r>
          </a:p>
          <a:p>
            <a:pPr>
              <a:spcAft>
                <a:spcPts val="600"/>
              </a:spcAft>
              <a:defRPr sz="2200">
                <a:solidFill>
                  <a:srgbClr val="212529"/>
                </a:solidFill>
                <a:latin typeface="Calibri"/>
              </a:defRPr>
            </a:pPr>
            <a:r>
              <a:t>• WordCloud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18</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EXPECTED OUTPUT</a:t>
            </a:r>
          </a:p>
          <a:p>
            <a:pPr>
              <a:spcBef>
                <a:spcPts val="400"/>
              </a:spcBef>
              <a:defRPr sz="1500" i="1">
                <a:solidFill>
                  <a:srgbClr val="3C5A82"/>
                </a:solidFill>
                <a:latin typeface="Calibri"/>
              </a:defRPr>
            </a:pPr>
            <a:r>
              <a:t>Sample System Output Logs and Search Relevance</a:t>
            </a:r>
          </a:p>
        </p:txBody>
      </p:sp>
      <p:graphicFrame>
        <p:nvGraphicFramePr>
          <p:cNvPr id="6" name="Table 5"/>
          <p:cNvGraphicFramePr>
            <a:graphicFrameLocks noGrp="1"/>
          </p:cNvGraphicFramePr>
          <p:nvPr/>
        </p:nvGraphicFramePr>
        <p:xfrm>
          <a:off x="457200" y="1645920"/>
          <a:ext cx="11274551" cy="2926080"/>
        </p:xfrm>
        <a:graphic>
          <a:graphicData uri="http://schemas.openxmlformats.org/drawingml/2006/table">
            <a:tbl>
              <a:tblPr firstRow="1" bandRow="1">
                <a:tableStyleId>{5C22544A-7EE6-4342-B048-85BDC9FD1C3A}</a:tableStyleId>
              </a:tblPr>
              <a:tblGrid>
                <a:gridCol w="1828800"/>
                <a:gridCol w="4114800"/>
                <a:gridCol w="1920240"/>
                <a:gridCol w="1554480"/>
                <a:gridCol w="1856231"/>
              </a:tblGrid>
              <a:tr h="731520">
                <a:tc>
                  <a:txBody>
                    <a:bodyPr wrap="square" tIns="91440" bIns="91440"/>
                    <a:lstStyle/>
                    <a:p>
                      <a:pPr algn="ctr">
                        <a:defRPr sz="2000" b="1">
                          <a:solidFill>
                            <a:srgbClr val="FFFFFF"/>
                          </a:solidFill>
                          <a:latin typeface="Calibri"/>
                        </a:defRPr>
                      </a:pPr>
                      <a:r>
                        <a:t>Contract</a:t>
                      </a:r>
                    </a:p>
                  </a:txBody>
                  <a:tcPr>
                    <a:solidFill>
                      <a:srgbClr val="172544"/>
                    </a:solidFill>
                  </a:tcPr>
                </a:tc>
                <a:tc>
                  <a:txBody>
                    <a:bodyPr wrap="square" tIns="91440" bIns="91440"/>
                    <a:lstStyle/>
                    <a:p>
                      <a:pPr algn="ctr">
                        <a:defRPr sz="2000" b="1">
                          <a:solidFill>
                            <a:srgbClr val="FFFFFF"/>
                          </a:solidFill>
                          <a:latin typeface="Calibri"/>
                        </a:defRPr>
                      </a:pPr>
                      <a:r>
                        <a:t>Extracted Clause Snippet</a:t>
                      </a:r>
                    </a:p>
                  </a:txBody>
                  <a:tcPr>
                    <a:solidFill>
                      <a:srgbClr val="172544"/>
                    </a:solidFill>
                  </a:tcPr>
                </a:tc>
                <a:tc>
                  <a:txBody>
                    <a:bodyPr wrap="square" tIns="91440" bIns="91440"/>
                    <a:lstStyle/>
                    <a:p>
                      <a:pPr algn="ctr">
                        <a:defRPr sz="2000" b="1">
                          <a:solidFill>
                            <a:srgbClr val="FFFFFF"/>
                          </a:solidFill>
                          <a:latin typeface="Calibri"/>
                        </a:defRPr>
                      </a:pPr>
                      <a:r>
                        <a:t>Predicted Class</a:t>
                      </a:r>
                    </a:p>
                  </a:txBody>
                  <a:tcPr>
                    <a:solidFill>
                      <a:srgbClr val="172544"/>
                    </a:solidFill>
                  </a:tcPr>
                </a:tc>
                <a:tc>
                  <a:txBody>
                    <a:bodyPr wrap="square" tIns="91440" bIns="91440"/>
                    <a:lstStyle/>
                    <a:p>
                      <a:pPr algn="ctr">
                        <a:defRPr sz="2000" b="1">
                          <a:solidFill>
                            <a:srgbClr val="FFFFFF"/>
                          </a:solidFill>
                          <a:latin typeface="Calibri"/>
                        </a:defRPr>
                      </a:pPr>
                      <a:r>
                        <a:t>Confidence</a:t>
                      </a:r>
                    </a:p>
                  </a:txBody>
                  <a:tcPr>
                    <a:solidFill>
                      <a:srgbClr val="172544"/>
                    </a:solidFill>
                  </a:tcPr>
                </a:tc>
                <a:tc>
                  <a:txBody>
                    <a:bodyPr wrap="square" tIns="91440" bIns="91440"/>
                    <a:lstStyle/>
                    <a:p>
                      <a:pPr algn="ctr">
                        <a:defRPr sz="2000" b="1">
                          <a:solidFill>
                            <a:srgbClr val="FFFFFF"/>
                          </a:solidFill>
                          <a:latin typeface="Calibri"/>
                        </a:defRPr>
                      </a:pPr>
                      <a:r>
                        <a:t>Cosine (Query)</a:t>
                      </a:r>
                    </a:p>
                  </a:txBody>
                  <a:tcPr>
                    <a:solidFill>
                      <a:srgbClr val="172544"/>
                    </a:solidFill>
                  </a:tcPr>
                </a:tc>
              </a:tr>
              <a:tr h="731520">
                <a:tc>
                  <a:txBody>
                    <a:bodyPr wrap="square" tIns="91440" bIns="91440"/>
                    <a:lstStyle/>
                    <a:p>
                      <a:pPr>
                        <a:defRPr sz="2000" b="1">
                          <a:solidFill>
                            <a:srgbClr val="212529"/>
                          </a:solidFill>
                          <a:latin typeface="Calibri"/>
                        </a:defRPr>
                      </a:pPr>
                      <a:r>
                        <a:t>NDA_2026.pdf</a:t>
                      </a:r>
                    </a:p>
                  </a:txBody>
                  <a:tcPr>
                    <a:solidFill>
                      <a:srgbClr val="E6EBF5"/>
                    </a:solidFill>
                  </a:tcPr>
                </a:tc>
                <a:tc>
                  <a:txBody>
                    <a:bodyPr wrap="square" tIns="91440" bIns="91440"/>
                    <a:lstStyle/>
                    <a:p>
                      <a:pPr>
                        <a:defRPr sz="2000">
                          <a:solidFill>
                            <a:srgbClr val="212529"/>
                          </a:solidFill>
                          <a:latin typeface="Calibri"/>
                        </a:defRPr>
                      </a:pPr>
                      <a:r>
                        <a:t>"This Agreement shall be governed by, and construed in accordance with, the laws of the State of New York..."</a:t>
                      </a:r>
                    </a:p>
                  </a:txBody>
                  <a:tcPr>
                    <a:solidFill>
                      <a:srgbClr val="E6EBF5"/>
                    </a:solidFill>
                  </a:tcPr>
                </a:tc>
                <a:tc>
                  <a:txBody>
                    <a:bodyPr wrap="square" tIns="91440" bIns="91440"/>
                    <a:lstStyle/>
                    <a:p>
                      <a:pPr>
                        <a:defRPr sz="2000">
                          <a:solidFill>
                            <a:srgbClr val="212529"/>
                          </a:solidFill>
                          <a:latin typeface="Calibri"/>
                        </a:defRPr>
                      </a:pPr>
                      <a:r>
                        <a:t>Governing Law</a:t>
                      </a:r>
                    </a:p>
                  </a:txBody>
                  <a:tcPr>
                    <a:solidFill>
                      <a:srgbClr val="E6EBF5"/>
                    </a:solidFill>
                  </a:tcPr>
                </a:tc>
                <a:tc>
                  <a:txBody>
                    <a:bodyPr wrap="square" tIns="91440" bIns="91440"/>
                    <a:lstStyle/>
                    <a:p>
                      <a:pPr>
                        <a:defRPr sz="2000">
                          <a:solidFill>
                            <a:srgbClr val="212529"/>
                          </a:solidFill>
                          <a:latin typeface="Calibri"/>
                        </a:defRPr>
                      </a:pPr>
                      <a:r>
                        <a:t>98.4%</a:t>
                      </a:r>
                    </a:p>
                  </a:txBody>
                  <a:tcPr>
                    <a:solidFill>
                      <a:srgbClr val="E6EBF5"/>
                    </a:solidFill>
                  </a:tcPr>
                </a:tc>
                <a:tc>
                  <a:txBody>
                    <a:bodyPr wrap="square" tIns="91440" bIns="91440"/>
                    <a:lstStyle/>
                    <a:p>
                      <a:pPr>
                        <a:defRPr sz="2000">
                          <a:solidFill>
                            <a:srgbClr val="212529"/>
                          </a:solidFill>
                          <a:latin typeface="Calibri"/>
                        </a:defRPr>
                      </a:pPr>
                      <a:r>
                        <a:t>0.91 ('state law')</a:t>
                      </a:r>
                    </a:p>
                  </a:txBody>
                  <a:tcPr>
                    <a:solidFill>
                      <a:srgbClr val="E6EBF5"/>
                    </a:solidFill>
                  </a:tcPr>
                </a:tc>
              </a:tr>
              <a:tr h="731520">
                <a:tc>
                  <a:txBody>
                    <a:bodyPr wrap="square" tIns="91440" bIns="91440"/>
                    <a:lstStyle/>
                    <a:p>
                      <a:pPr>
                        <a:defRPr sz="2000" b="1">
                          <a:solidFill>
                            <a:srgbClr val="212529"/>
                          </a:solidFill>
                          <a:latin typeface="Calibri"/>
                        </a:defRPr>
                      </a:pPr>
                      <a:r>
                        <a:t>SLA_Service.pdf</a:t>
                      </a:r>
                    </a:p>
                  </a:txBody>
                  <a:tcPr>
                    <a:solidFill>
                      <a:srgbClr val="FFFFFF"/>
                    </a:solidFill>
                  </a:tcPr>
                </a:tc>
                <a:tc>
                  <a:txBody>
                    <a:bodyPr wrap="square" tIns="91440" bIns="91440"/>
                    <a:lstStyle/>
                    <a:p>
                      <a:pPr>
                        <a:defRPr sz="2000">
                          <a:solidFill>
                            <a:srgbClr val="212529"/>
                          </a:solidFill>
                          <a:latin typeface="Calibri"/>
                        </a:defRPr>
                      </a:pPr>
                      <a:r>
                        <a:t>"In no event shall either party's aggregate liability under this agreement exceed fifty thousand dollars..."</a:t>
                      </a:r>
                    </a:p>
                  </a:txBody>
                  <a:tcPr>
                    <a:solidFill>
                      <a:srgbClr val="FFFFFF"/>
                    </a:solidFill>
                  </a:tcPr>
                </a:tc>
                <a:tc>
                  <a:txBody>
                    <a:bodyPr wrap="square" tIns="91440" bIns="91440"/>
                    <a:lstStyle/>
                    <a:p>
                      <a:pPr>
                        <a:defRPr sz="2000">
                          <a:solidFill>
                            <a:srgbClr val="212529"/>
                          </a:solidFill>
                          <a:latin typeface="Calibri"/>
                        </a:defRPr>
                      </a:pPr>
                      <a:r>
                        <a:t>Cap On Liability</a:t>
                      </a:r>
                    </a:p>
                  </a:txBody>
                  <a:tcPr>
                    <a:solidFill>
                      <a:srgbClr val="FFFFFF"/>
                    </a:solidFill>
                  </a:tcPr>
                </a:tc>
                <a:tc>
                  <a:txBody>
                    <a:bodyPr wrap="square" tIns="91440" bIns="91440"/>
                    <a:lstStyle/>
                    <a:p>
                      <a:pPr>
                        <a:defRPr sz="2000">
                          <a:solidFill>
                            <a:srgbClr val="212529"/>
                          </a:solidFill>
                          <a:latin typeface="Calibri"/>
                        </a:defRPr>
                      </a:pPr>
                      <a:r>
                        <a:t>95.8%</a:t>
                      </a:r>
                    </a:p>
                  </a:txBody>
                  <a:tcPr>
                    <a:solidFill>
                      <a:srgbClr val="FFFFFF"/>
                    </a:solidFill>
                  </a:tcPr>
                </a:tc>
                <a:tc>
                  <a:txBody>
                    <a:bodyPr wrap="square" tIns="91440" bIns="91440"/>
                    <a:lstStyle/>
                    <a:p>
                      <a:pPr>
                        <a:defRPr sz="2000">
                          <a:solidFill>
                            <a:srgbClr val="212529"/>
                          </a:solidFill>
                          <a:latin typeface="Calibri"/>
                        </a:defRPr>
                      </a:pPr>
                      <a:r>
                        <a:t>0.85 ('liability limit')</a:t>
                      </a:r>
                    </a:p>
                  </a:txBody>
                  <a:tcPr>
                    <a:solidFill>
                      <a:srgbClr val="FFFFFF"/>
                    </a:solidFill>
                  </a:tcPr>
                </a:tc>
              </a:tr>
              <a:tr h="731520">
                <a:tc>
                  <a:txBody>
                    <a:bodyPr wrap="square" tIns="91440" bIns="91440"/>
                    <a:lstStyle/>
                    <a:p>
                      <a:pPr>
                        <a:defRPr sz="2000" b="1">
                          <a:solidFill>
                            <a:srgbClr val="212529"/>
                          </a:solidFill>
                          <a:latin typeface="Calibri"/>
                        </a:defRPr>
                      </a:pPr>
                      <a:r>
                        <a:t>Lease_Final.pdf</a:t>
                      </a:r>
                    </a:p>
                  </a:txBody>
                  <a:tcPr>
                    <a:solidFill>
                      <a:srgbClr val="E6EBF5"/>
                    </a:solidFill>
                  </a:tcPr>
                </a:tc>
                <a:tc>
                  <a:txBody>
                    <a:bodyPr wrap="square" tIns="91440" bIns="91440"/>
                    <a:lstStyle/>
                    <a:p>
                      <a:pPr>
                        <a:defRPr sz="2000">
                          <a:solidFill>
                            <a:srgbClr val="212529"/>
                          </a:solidFill>
                          <a:latin typeface="Calibri"/>
                        </a:defRPr>
                      </a:pPr>
                      <a:r>
                        <a:t>"Tenant shall not assign this Lease or sublet the premises without obtaining landlord's prior written consent..."</a:t>
                      </a:r>
                    </a:p>
                  </a:txBody>
                  <a:tcPr>
                    <a:solidFill>
                      <a:srgbClr val="E6EBF5"/>
                    </a:solidFill>
                  </a:tcPr>
                </a:tc>
                <a:tc>
                  <a:txBody>
                    <a:bodyPr wrap="square" tIns="91440" bIns="91440"/>
                    <a:lstStyle/>
                    <a:p>
                      <a:pPr>
                        <a:defRPr sz="2000">
                          <a:solidFill>
                            <a:srgbClr val="212529"/>
                          </a:solidFill>
                          <a:latin typeface="Calibri"/>
                        </a:defRPr>
                      </a:pPr>
                      <a:r>
                        <a:t>Anti-Assignment</a:t>
                      </a:r>
                    </a:p>
                  </a:txBody>
                  <a:tcPr>
                    <a:solidFill>
                      <a:srgbClr val="E6EBF5"/>
                    </a:solidFill>
                  </a:tcPr>
                </a:tc>
                <a:tc>
                  <a:txBody>
                    <a:bodyPr wrap="square" tIns="91440" bIns="91440"/>
                    <a:lstStyle/>
                    <a:p>
                      <a:pPr>
                        <a:defRPr sz="2000">
                          <a:solidFill>
                            <a:srgbClr val="212529"/>
                          </a:solidFill>
                          <a:latin typeface="Calibri"/>
                        </a:defRPr>
                      </a:pPr>
                      <a:r>
                        <a:t>91.2%</a:t>
                      </a:r>
                    </a:p>
                  </a:txBody>
                  <a:tcPr>
                    <a:solidFill>
                      <a:srgbClr val="E6EBF5"/>
                    </a:solidFill>
                  </a:tcPr>
                </a:tc>
                <a:tc>
                  <a:txBody>
                    <a:bodyPr wrap="square" tIns="91440" bIns="91440"/>
                    <a:lstStyle/>
                    <a:p>
                      <a:pPr>
                        <a:defRPr sz="2000">
                          <a:solidFill>
                            <a:srgbClr val="212529"/>
                          </a:solidFill>
                          <a:latin typeface="Calibri"/>
                        </a:defRPr>
                      </a:pPr>
                      <a:r>
                        <a:t>0.78 ('transfer lease')</a:t>
                      </a:r>
                    </a:p>
                  </a:txBody>
                  <a:tcPr>
                    <a:solidFill>
                      <a:srgbClr val="E6EBF5"/>
                    </a:solidFill>
                  </a:tcPr>
                </a:tc>
              </a:tr>
            </a:tbl>
          </a:graphicData>
        </a:graphic>
      </p:graphicFrame>
      <p:sp>
        <p:nvSpPr>
          <p:cNvPr id="7" name="TextBox 6"/>
          <p:cNvSpPr txBox="1"/>
          <p:nvPr/>
        </p:nvSpPr>
        <p:spPr>
          <a:xfrm>
            <a:off x="457200" y="4754880"/>
            <a:ext cx="11274552" cy="1188720"/>
          </a:xfrm>
          <a:prstGeom prst="rect">
            <a:avLst/>
          </a:prstGeom>
          <a:noFill/>
        </p:spPr>
        <p:txBody>
          <a:bodyPr wrap="square" lIns="0" tIns="0" bIns="0" rIns="0">
            <a:spAutoFit/>
          </a:bodyPr>
          <a:lstStyle/>
          <a:p>
            <a:pPr>
              <a:spcAft>
                <a:spcPts val="1000"/>
              </a:spcAft>
              <a:defRPr sz="2600" b="1">
                <a:solidFill>
                  <a:srgbClr val="1EA0F0"/>
                </a:solidFill>
                <a:latin typeface="Trebuchet MS"/>
              </a:defRPr>
            </a:pPr>
          </a:p>
          <a:p>
            <a:pPr>
              <a:spcAft>
                <a:spcPts val="600"/>
              </a:spcAft>
              <a:defRPr sz="2200">
                <a:solidFill>
                  <a:srgbClr val="212529"/>
                </a:solidFill>
                <a:latin typeface="Calibri"/>
              </a:defRPr>
            </a:pPr>
            <a:r>
              <a:t>• Automatic Categorization: Identifies legal labels and predicts class probabilities.</a:t>
            </a:r>
          </a:p>
          <a:p>
            <a:pPr>
              <a:spcAft>
                <a:spcPts val="600"/>
              </a:spcAft>
              <a:defRPr sz="2200">
                <a:solidFill>
                  <a:srgbClr val="212529"/>
                </a:solidFill>
                <a:latin typeface="Calibri"/>
              </a:defRPr>
            </a:pPr>
            <a:r>
              <a:t>• Concept-Aware Matching: Retrieves clauses by semantics (e.g. 'liability limit' matched 'aggregate liability exceed').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46520"/>
            <a:ext cx="5486400" cy="274320"/>
          </a:xfrm>
          <a:prstGeom prst="rect">
            <a:avLst/>
          </a:prstGeom>
          <a:noFill/>
        </p:spPr>
        <p:txBody>
          <a:bodyPr wrap="square" lIns="0" tIns="0" bIns="0" rIns="0">
            <a:spAutoFit/>
          </a:bodyPr>
          <a:lstStyle/>
          <a:p>
            <a:pPr>
              <a:defRPr sz="850">
                <a:solidFill>
                  <a:srgbClr val="3C5A82"/>
                </a:solidFill>
                <a:latin typeface="Calibri"/>
              </a:defRPr>
            </a:pPr>
            <a:r>
              <a:t>ClauseIQ -- Machine Learning-Based Contract Clause Classification and Intelligent Search</a:t>
            </a:r>
          </a:p>
        </p:txBody>
      </p:sp>
      <p:sp>
        <p:nvSpPr>
          <p:cNvPr id="4" name="TextBox 3"/>
          <p:cNvSpPr txBox="1"/>
          <p:nvPr/>
        </p:nvSpPr>
        <p:spPr>
          <a:xfrm>
            <a:off x="8229600" y="6446520"/>
            <a:ext cx="3596335" cy="274320"/>
          </a:xfrm>
          <a:prstGeom prst="rect">
            <a:avLst/>
          </a:prstGeom>
          <a:noFill/>
        </p:spPr>
        <p:txBody>
          <a:bodyPr wrap="square" lIns="0" tIns="0" bIns="0" rIns="0">
            <a:spAutoFit/>
          </a:bodyPr>
          <a:lstStyle/>
          <a:p>
            <a:pPr algn="r">
              <a:defRPr sz="850">
                <a:solidFill>
                  <a:srgbClr val="3C5A82"/>
                </a:solidFill>
                <a:latin typeface="Calibri"/>
              </a:defRPr>
            </a:pPr>
            <a:r>
              <a:t>Dept. of Computer Applications, MACE | Slide 19</a:t>
            </a:r>
          </a:p>
        </p:txBody>
      </p:sp>
      <p:sp>
        <p:nvSpPr>
          <p:cNvPr id="5" name="TextBox 4"/>
          <p:cNvSpPr txBox="1"/>
          <p:nvPr/>
        </p:nvSpPr>
        <p:spPr>
          <a:xfrm>
            <a:off x="457200" y="320040"/>
            <a:ext cx="11274552" cy="1005840"/>
          </a:xfrm>
          <a:prstGeom prst="rect">
            <a:avLst/>
          </a:prstGeom>
          <a:noFill/>
        </p:spPr>
        <p:txBody>
          <a:bodyPr wrap="square" lIns="0" tIns="0" bIns="0" rIns="0">
            <a:spAutoFit/>
          </a:bodyPr>
          <a:lstStyle/>
          <a:p>
            <a:pPr>
              <a:defRPr sz="3600" b="1">
                <a:solidFill>
                  <a:srgbClr val="172544"/>
                </a:solidFill>
                <a:latin typeface="Trebuchet MS"/>
              </a:defRPr>
            </a:pPr>
            <a:r>
              <a:t>FUTURE ENHANCEMENTS</a:t>
            </a:r>
          </a:p>
          <a:p>
            <a:pPr>
              <a:spcBef>
                <a:spcPts val="400"/>
              </a:spcBef>
              <a:defRPr sz="1500" i="1">
                <a:solidFill>
                  <a:srgbClr val="3C5A82"/>
                </a:solidFill>
                <a:latin typeface="Calibri"/>
              </a:defRPr>
            </a:pPr>
            <a:r>
              <a:t>ClauseIQ Development Roadmap</a:t>
            </a:r>
          </a:p>
        </p:txBody>
      </p:sp>
      <p:sp>
        <p:nvSpPr>
          <p:cNvPr id="6" name="Rounded Rectangle 5"/>
          <p:cNvSpPr/>
          <p:nvPr/>
        </p:nvSpPr>
        <p:spPr>
          <a:xfrm>
            <a:off x="457200" y="1645920"/>
            <a:ext cx="11274552" cy="4114800"/>
          </a:xfrm>
          <a:prstGeom prst="roundRect">
            <a:avLst/>
          </a:prstGeom>
          <a:solidFill>
            <a:srgbClr val="FFFFFF"/>
          </a:solidFill>
          <a:ln w="1905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783080"/>
            <a:ext cx="11000232" cy="3840480"/>
          </a:xfrm>
          <a:prstGeom prst="rect">
            <a:avLst/>
          </a:prstGeom>
          <a:noFill/>
        </p:spPr>
        <p:txBody>
          <a:bodyPr wrap="square" lIns="0" tIns="0" bIns="0" rIns="0">
            <a:spAutoFit/>
          </a:bodyPr>
          <a:lstStyle/>
          <a:p>
            <a:pPr>
              <a:spcAft>
                <a:spcPts val="1000"/>
              </a:spcAft>
              <a:defRPr sz="2600" b="1">
                <a:solidFill>
                  <a:srgbClr val="172544"/>
                </a:solidFill>
                <a:latin typeface="Trebuchet MS"/>
              </a:defRPr>
            </a:pPr>
            <a:r>
              <a:t>Future Scopes</a:t>
            </a:r>
          </a:p>
          <a:p>
            <a:pPr>
              <a:spcAft>
                <a:spcPts val="600"/>
              </a:spcAft>
              <a:defRPr sz="2200">
                <a:solidFill>
                  <a:srgbClr val="212529"/>
                </a:solidFill>
                <a:latin typeface="Calibri"/>
              </a:defRPr>
            </a:pPr>
            <a:r>
              <a:t>• LLM Integration: Test zero-shot legal classification in next main projects.</a:t>
            </a:r>
          </a:p>
          <a:p>
            <a:pPr>
              <a:spcAft>
                <a:spcPts val="600"/>
              </a:spcAft>
              <a:defRPr sz="2200">
                <a:solidFill>
                  <a:srgbClr val="212529"/>
                </a:solidFill>
                <a:latin typeface="Calibri"/>
              </a:defRPr>
            </a:pPr>
            <a:r>
              <a:t>• RAG Pipeline: Connect clauses index to generative models for compliance audits.</a:t>
            </a:r>
          </a:p>
          <a:p>
            <a:pPr>
              <a:spcAft>
                <a:spcPts val="600"/>
              </a:spcAft>
              <a:defRPr sz="2200">
                <a:solidFill>
                  <a:srgbClr val="212529"/>
                </a:solidFill>
                <a:latin typeface="Calibri"/>
              </a:defRPr>
            </a:pPr>
            <a:r>
              <a:t>• Multilingual Models: Classify contracts in translation layers (French, Spanish).</a:t>
            </a:r>
          </a:p>
          <a:p>
            <a:pPr>
              <a:spcAft>
                <a:spcPts val="600"/>
              </a:spcAft>
              <a:defRPr sz="2200">
                <a:solidFill>
                  <a:srgbClr val="212529"/>
                </a:solidFill>
                <a:latin typeface="Calibri"/>
              </a:defRPr>
            </a:pPr>
            <a:r>
              <a:t>• Cloud Deployment: Migrate to FastAPI / Supabase hosted on cloud server (AWS).</a:t>
            </a:r>
          </a:p>
          <a:p>
            <a:pPr>
              <a:spcAft>
                <a:spcPts val="600"/>
              </a:spcAft>
              <a:defRPr sz="2200">
                <a:solidFill>
                  <a:srgbClr val="212529"/>
                </a:solidFill>
                <a:latin typeface="Calibri"/>
              </a:defRPr>
            </a:pPr>
            <a:r>
              <a:t>• Automated Summarization: Generate bulleted contract executive summaries.</a:t>
            </a:r>
          </a:p>
          <a:p>
            <a:pPr>
              <a:spcAft>
                <a:spcPts val="600"/>
              </a:spcAft>
              <a:defRPr sz="2200">
                <a:solidFill>
                  <a:srgbClr val="212529"/>
                </a:solidFill>
                <a:latin typeface="Calibri"/>
              </a:defRPr>
            </a:pPr>
            <a:r>
              <a:t>• Interactive Legal Chatbot: Chat with agreements via retrieved context answers.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544"/>
        </a:solidFill>
        <a:effectLst/>
      </p:bgPr>
    </p:bg>
    <p:spTree>
      <p:nvGrpSpPr>
        <p:cNvPr id="1" name=""/>
        <p:cNvGrpSpPr/>
        <p:nvPr/>
      </p:nvGrpSpPr>
      <p:grpSpPr/>
      <p:sp>
        <p:nvSpPr>
          <p:cNvPr id="2" name="Rectangle 1"/>
          <p:cNvSpPr/>
          <p:nvPr/>
        </p:nvSpPr>
        <p:spPr>
          <a:xfrm>
            <a:off x="182880" y="182880"/>
            <a:ext cx="11825935" cy="6492240"/>
          </a:xfrm>
          <a:prstGeom prst="rect">
            <a:avLst/>
          </a:prstGeom>
          <a:noFill/>
          <a:ln w="19050">
            <a:solidFill>
              <a:srgbClr val="3C5A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2011680"/>
            <a:ext cx="7616952" cy="3200400"/>
          </a:xfrm>
          <a:prstGeom prst="rect">
            <a:avLst/>
          </a:prstGeom>
          <a:noFill/>
        </p:spPr>
        <p:txBody>
          <a:bodyPr wrap="square" lIns="0" tIns="0" bIns="0" rIns="0">
            <a:spAutoFit/>
          </a:bodyPr>
          <a:lstStyle/>
          <a:p>
            <a:pPr algn="ctr">
              <a:spcAft>
                <a:spcPts val="800"/>
              </a:spcAft>
              <a:defRPr sz="5600" b="1">
                <a:solidFill>
                  <a:srgbClr val="1EA0F0"/>
                </a:solidFill>
                <a:latin typeface="Trebuchet MS"/>
              </a:defRPr>
            </a:pPr>
            <a:r>
              <a:t>THANK YOU</a:t>
            </a:r>
          </a:p>
          <a:p>
            <a:pPr algn="ctr">
              <a:spcAft>
                <a:spcPts val="2400"/>
              </a:spcAft>
              <a:defRPr sz="1800" b="1">
                <a:solidFill>
                  <a:srgbClr val="FFFFFF"/>
                </a:solidFill>
                <a:latin typeface="Calibri"/>
              </a:defRPr>
            </a:pPr>
            <a:r>
              <a:t>ClauseIQ: Contract Clause Classification &amp; Intelligent Search System</a:t>
            </a:r>
          </a:p>
          <a:p>
            <a:pPr algn="ctr">
              <a:defRPr sz="1400">
                <a:solidFill>
                  <a:srgbClr val="F0F4F8"/>
                </a:solidFill>
                <a:latin typeface="Calibri"/>
              </a:defRPr>
            </a:pPr>
            <a:r>
              <a:t>Student Name: Mohammed Farhan K | Reg No: MAC25MCA-2042</a:t>
            </a:r>
            <a:br/>
            <a:r>
              <a:t>Project Guide: Dr. Sonia Abraham</a:t>
            </a:r>
            <a:br/>
            <a:r>
              <a:t>Department of Computer Applications</a:t>
            </a:r>
            <a:br/>
            <a:r>
              <a:t>Mar Athanasius College of Engineering, Kothamangalam</a:t>
            </a:r>
            <a:br/>
            <a:r>
              <a:t>Contact: farhank@mace.ac.in |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