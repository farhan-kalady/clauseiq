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144" autoAdjust="0"/>
  </p:normalViewPr>
  <p:slideViewPr>
    <p:cSldViewPr snapToGrid="0" snapToObjects="1">
      <p:cViewPr varScale="1">
        <p:scale>
          <a:sx n="60" d="100"/>
          <a:sy n="60" d="100"/>
        </p:scale>
        <p:origin x="884" y="-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019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Good morning, today </a:t>
            </a:r>
            <a:r>
              <a:rPr lang="en-IN" dirty="0"/>
              <a:t>I am </a:t>
            </a:r>
            <a:r>
              <a:rPr lang="en-IN"/>
              <a:t>presenting my </a:t>
            </a:r>
            <a:r>
              <a:rPr lang="en-IN" dirty="0"/>
              <a:t>mini project titled </a:t>
            </a:r>
            <a:r>
              <a:rPr lang="en-IN" b="1" dirty="0" err="1"/>
              <a:t>ClauseIQ</a:t>
            </a:r>
            <a:r>
              <a:rPr lang="en-IN" b="1" dirty="0"/>
              <a:t> – Machine Learning-Based Contract Clause Classification and Intelligent Search System</a:t>
            </a:r>
            <a:r>
              <a:rPr lang="en-IN" dirty="0"/>
              <a:t>.</a:t>
            </a:r>
          </a:p>
          <a:p>
            <a:r>
              <a:rPr lang="en-IN" dirty="0"/>
              <a:t>The main objective of this project is to use </a:t>
            </a:r>
            <a:r>
              <a:rPr lang="en-IN" b="1" dirty="0"/>
              <a:t>Classical Machine Learning</a:t>
            </a:r>
            <a:r>
              <a:rPr lang="en-IN" dirty="0"/>
              <a:t> to automatically classify legal contract clauses and enable intelligent search across legal documents.</a:t>
            </a:r>
          </a:p>
          <a:p>
            <a:r>
              <a:rPr lang="en-IN" dirty="0"/>
              <a:t>In this presentation, I will explain the problem, the proposed solution, the dataset, methodology, system architecture, literature review, and the expected outcome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Before getting to my project, let's understand the problem.</a:t>
            </a:r>
          </a:p>
          <a:p>
            <a:r>
              <a:rPr lang="en-IN" dirty="0"/>
              <a:t>Today, organizations such as law firms, banks, insurance companies, and IT companies manage a large number of legal contracts.</a:t>
            </a:r>
          </a:p>
          <a:p>
            <a:r>
              <a:rPr lang="en-IN" dirty="0"/>
              <a:t>Whenever they need to find a specific clause like a confidentiality clause, payment clause, or termination clause, they usually have to read through lengthy documents manually.</a:t>
            </a:r>
          </a:p>
          <a:p>
            <a:r>
              <a:rPr lang="en-IN" dirty="0"/>
              <a:t>This process is slow, time-consuming, and can easily lead to human errors.</a:t>
            </a:r>
          </a:p>
          <a:p>
            <a:r>
              <a:rPr lang="en-IN" dirty="0"/>
              <a:t>Another limitation is that traditional keyword search only works if the user knows the exact words used in the contract.</a:t>
            </a:r>
          </a:p>
          <a:p>
            <a:r>
              <a:rPr lang="en-IN" dirty="0"/>
              <a:t>If the wording is different, finding the required clause becomes difficult.</a:t>
            </a:r>
          </a:p>
          <a:p>
            <a:r>
              <a:rPr lang="en-IN" b="1" dirty="0"/>
              <a:t>This is the problem that </a:t>
            </a:r>
            <a:r>
              <a:rPr lang="en-IN" b="1" dirty="0" err="1"/>
              <a:t>ClauseIQ</a:t>
            </a:r>
            <a:r>
              <a:rPr lang="en-IN" b="1" dirty="0"/>
              <a:t> aims to solve.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This slide shows the complete workflow of my system.</a:t>
            </a:r>
          </a:p>
          <a:p>
            <a:r>
              <a:rPr lang="en-IN" dirty="0"/>
              <a:t>First, the user uploads a legal contract in PDF format.</a:t>
            </a:r>
          </a:p>
          <a:p>
            <a:r>
              <a:rPr lang="en-IN" dirty="0"/>
              <a:t>The system extracts the text from the PDF using document parsing techniques.</a:t>
            </a:r>
          </a:p>
          <a:p>
            <a:r>
              <a:rPr lang="en-IN" dirty="0"/>
              <a:t>The extracted text is then divided into individual clauses.</a:t>
            </a:r>
          </a:p>
          <a:p>
            <a:r>
              <a:rPr lang="en-IN" dirty="0"/>
              <a:t>Each clause is converted into numerical features using </a:t>
            </a:r>
            <a:r>
              <a:rPr lang="en-IN" b="1" dirty="0"/>
              <a:t>TF-IDF</a:t>
            </a:r>
            <a:r>
              <a:rPr lang="en-IN" dirty="0"/>
              <a:t>, which is a feature extraction technique.</a:t>
            </a:r>
          </a:p>
          <a:p>
            <a:r>
              <a:rPr lang="en-IN" dirty="0"/>
              <a:t>These features are given to the Machine Learning classifier, which predicts the legal category of each clause.</a:t>
            </a:r>
          </a:p>
          <a:p>
            <a:r>
              <a:rPr lang="en-IN" dirty="0"/>
              <a:t>The classified clauses are stored in the database.</a:t>
            </a:r>
          </a:p>
          <a:p>
            <a:r>
              <a:rPr lang="en-IN" dirty="0"/>
              <a:t>Finally, the user can search for any clause, and the system retrieves the most relevant clauses using </a:t>
            </a:r>
            <a:r>
              <a:rPr lang="en-IN" b="1" dirty="0"/>
              <a:t>Cosine Similarity</a:t>
            </a:r>
            <a:r>
              <a:rPr lang="en-IN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objective of </a:t>
            </a:r>
            <a:r>
              <a:rPr lang="en-IN" dirty="0" err="1"/>
              <a:t>ClauseIQ</a:t>
            </a:r>
            <a:r>
              <a:rPr lang="en-IN" dirty="0"/>
              <a:t> is to automatically classify legal contract clauses and enable intelligent search.</a:t>
            </a:r>
          </a:p>
          <a:p>
            <a:r>
              <a:rPr lang="en-IN" dirty="0"/>
              <a:t>The input to the system is a commercial contract uploaded by the user.</a:t>
            </a:r>
          </a:p>
          <a:p>
            <a:r>
              <a:rPr lang="en-IN" dirty="0"/>
              <a:t>The output is a list of classified clauses along with their legal category and confidence score.</a:t>
            </a:r>
          </a:p>
          <a:p>
            <a:r>
              <a:rPr lang="en-IN" dirty="0"/>
              <a:t>The expected outcome is to reduce manual effort, improve document organization, and speed up contract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For training and evaluation, I am using the </a:t>
            </a:r>
            <a:r>
              <a:rPr lang="en-IN" b="1" dirty="0"/>
              <a:t>CUAD Dataset</a:t>
            </a:r>
            <a:r>
              <a:rPr lang="en-IN" dirty="0"/>
              <a:t>, which stands for Contract Understanding Atticus Dataset.</a:t>
            </a:r>
          </a:p>
          <a:p>
            <a:r>
              <a:rPr lang="en-IN" dirty="0"/>
              <a:t>It contains approximately </a:t>
            </a:r>
            <a:r>
              <a:rPr lang="en-IN" b="1" dirty="0"/>
              <a:t>510 commercial contracts</a:t>
            </a:r>
            <a:r>
              <a:rPr lang="en-IN" dirty="0"/>
              <a:t> and more than </a:t>
            </a:r>
            <a:r>
              <a:rPr lang="en-IN" b="1" dirty="0"/>
              <a:t>13,000 expert-annotated clauses</a:t>
            </a:r>
            <a:r>
              <a:rPr lang="en-IN" dirty="0"/>
              <a:t>.</a:t>
            </a:r>
          </a:p>
          <a:p>
            <a:r>
              <a:rPr lang="en-IN" dirty="0"/>
              <a:t>These clauses are categorized into </a:t>
            </a:r>
            <a:r>
              <a:rPr lang="en-IN" b="1" dirty="0"/>
              <a:t>41 legal categories</a:t>
            </a:r>
            <a:r>
              <a:rPr lang="en-IN" dirty="0"/>
              <a:t>, including Confidentiality, Termination, Payment Terms, Liability, and Governing Law.</a:t>
            </a:r>
          </a:p>
          <a:p>
            <a:r>
              <a:rPr lang="en-IN" dirty="0"/>
              <a:t>Since this dataset is specifically created for legal contract analysis, it is highly suitable for my project.</a:t>
            </a:r>
          </a:p>
          <a:p>
            <a:r>
              <a:rPr lang="en-IN" dirty="0"/>
              <a:t>It provides sufficient </a:t>
            </a:r>
            <a:r>
              <a:rPr lang="en-IN" dirty="0" err="1"/>
              <a:t>labeled</a:t>
            </a:r>
            <a:r>
              <a:rPr lang="en-IN" dirty="0"/>
              <a:t> data for training and comparing Machine Learning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extracting the clauses, each clause is converted into numerical form using </a:t>
            </a:r>
            <a:r>
              <a:rPr lang="en-IN" b="1" dirty="0"/>
              <a:t>TF-IDF</a:t>
            </a:r>
            <a:r>
              <a:rPr lang="en-IN" dirty="0"/>
              <a:t>, because Machine Learning algorithms cannot process raw text directly.</a:t>
            </a:r>
          </a:p>
          <a:p>
            <a:r>
              <a:rPr lang="en-IN" dirty="0"/>
              <a:t>I will compare four classical Machine Learning algorithms:</a:t>
            </a:r>
          </a:p>
          <a:p>
            <a:r>
              <a:rPr lang="en-IN" dirty="0"/>
              <a:t>Logistic Regression </a:t>
            </a:r>
          </a:p>
          <a:p>
            <a:r>
              <a:rPr lang="en-IN" dirty="0"/>
              <a:t>Support Vector Machine </a:t>
            </a:r>
          </a:p>
          <a:p>
            <a:r>
              <a:rPr lang="en-IN" dirty="0"/>
              <a:t>Naive Bayes </a:t>
            </a:r>
          </a:p>
          <a:p>
            <a:r>
              <a:rPr lang="en-IN" dirty="0"/>
              <a:t>Random Forest </a:t>
            </a:r>
          </a:p>
          <a:p>
            <a:r>
              <a:rPr lang="en-IN" dirty="0"/>
              <a:t>These models will be evaluated using </a:t>
            </a:r>
            <a:r>
              <a:rPr lang="en-IN" b="1" dirty="0"/>
              <a:t>Accuracy, Precision, Recall, and F1-score</a:t>
            </a:r>
            <a:r>
              <a:rPr lang="en-IN" dirty="0"/>
              <a:t>.</a:t>
            </a:r>
          </a:p>
          <a:p>
            <a:r>
              <a:rPr lang="en-IN" dirty="0"/>
              <a:t>The best-performing model will be selected for deployment.</a:t>
            </a:r>
          </a:p>
          <a:p>
            <a:r>
              <a:rPr lang="en-IN" dirty="0"/>
              <a:t>For clause retrieval, I will use </a:t>
            </a:r>
            <a:r>
              <a:rPr lang="en-IN" b="1" dirty="0"/>
              <a:t>Cosine Similarity</a:t>
            </a:r>
            <a:r>
              <a:rPr lang="en-IN" dirty="0"/>
              <a:t>, which measures how similar the user's query is to each clause.</a:t>
            </a:r>
          </a:p>
          <a:p>
            <a:r>
              <a:rPr lang="en-IN" dirty="0"/>
              <a:t>The backend is developed using </a:t>
            </a:r>
            <a:r>
              <a:rPr lang="en-IN" b="1" dirty="0"/>
              <a:t>Python and </a:t>
            </a:r>
            <a:r>
              <a:rPr lang="en-IN" b="1" dirty="0" err="1"/>
              <a:t>FastAPI</a:t>
            </a:r>
            <a:r>
              <a:rPr lang="en-IN" dirty="0"/>
              <a:t>, the frontend uses </a:t>
            </a:r>
            <a:r>
              <a:rPr lang="en-IN" b="1" dirty="0"/>
              <a:t>React</a:t>
            </a:r>
            <a:r>
              <a:rPr lang="en-IN" dirty="0"/>
              <a:t>, and </a:t>
            </a:r>
            <a:r>
              <a:rPr lang="en-IN" b="1" dirty="0" err="1"/>
              <a:t>Supabase</a:t>
            </a:r>
            <a:r>
              <a:rPr lang="en-IN" b="1" dirty="0"/>
              <a:t> PostgreSQL</a:t>
            </a:r>
            <a:r>
              <a:rPr lang="en-IN" dirty="0"/>
              <a:t> is used as the database.</a:t>
            </a:r>
          </a:p>
          <a:p>
            <a:r>
              <a:rPr lang="en-IN" dirty="0"/>
              <a:t>Libraries such as </a:t>
            </a:r>
            <a:r>
              <a:rPr lang="en-IN" b="1" dirty="0"/>
              <a:t>Scikit-learn</a:t>
            </a:r>
            <a:r>
              <a:rPr lang="en-IN" dirty="0"/>
              <a:t>, </a:t>
            </a:r>
            <a:r>
              <a:rPr lang="en-IN" b="1" dirty="0" err="1"/>
              <a:t>PyMuPDF</a:t>
            </a:r>
            <a:r>
              <a:rPr lang="en-IN" dirty="0"/>
              <a:t>, and </a:t>
            </a:r>
            <a:r>
              <a:rPr lang="en-IN" b="1" dirty="0" err="1"/>
              <a:t>spaCy</a:t>
            </a:r>
            <a:r>
              <a:rPr lang="en-IN" dirty="0"/>
              <a:t> are used for Machine Learning and text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This diagram shows the overall architecture of </a:t>
            </a:r>
            <a:r>
              <a:rPr lang="en-IN" dirty="0" err="1"/>
              <a:t>ClauseIQ</a:t>
            </a:r>
            <a:r>
              <a:rPr lang="en-IN" dirty="0"/>
              <a:t>.</a:t>
            </a:r>
          </a:p>
          <a:p>
            <a:r>
              <a:rPr lang="en-IN" dirty="0"/>
              <a:t>The user uploads a contract through the React frontend.</a:t>
            </a:r>
          </a:p>
          <a:p>
            <a:r>
              <a:rPr lang="en-IN" dirty="0"/>
              <a:t>The frontend sends the request to the </a:t>
            </a:r>
            <a:r>
              <a:rPr lang="en-IN" dirty="0" err="1"/>
              <a:t>FastAPI</a:t>
            </a:r>
            <a:r>
              <a:rPr lang="en-IN" dirty="0"/>
              <a:t> backend.</a:t>
            </a:r>
          </a:p>
          <a:p>
            <a:r>
              <a:rPr lang="en-IN" dirty="0"/>
              <a:t>The backend processes the document and passes the extracted clauses to the Machine Learning engine.</a:t>
            </a:r>
          </a:p>
          <a:p>
            <a:r>
              <a:rPr lang="en-IN" dirty="0"/>
              <a:t>The ML engine classifies each clause and generates search results.</a:t>
            </a:r>
          </a:p>
          <a:p>
            <a:r>
              <a:rPr lang="en-IN" dirty="0"/>
              <a:t>These classified clauses, confidence scores, and search records are stored in </a:t>
            </a:r>
            <a:r>
              <a:rPr lang="en-IN" b="1" dirty="0" err="1"/>
              <a:t>Supabase</a:t>
            </a:r>
            <a:r>
              <a:rPr lang="en-IN" b="1" dirty="0"/>
              <a:t> PostgreSQL</a:t>
            </a:r>
            <a:r>
              <a:rPr lang="en-IN" dirty="0"/>
              <a:t>.</a:t>
            </a:r>
          </a:p>
          <a:p>
            <a:r>
              <a:rPr lang="en-IN" dirty="0"/>
              <a:t>Finally, the processed results are displayed back to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first paper</a:t>
            </a:r>
            <a:r>
              <a:rPr lang="en-IN" dirty="0"/>
              <a:t> is a systematic mapping study of Legal NLP research. It shows that classical Machine Learning methods are still widely used for legal text classification.</a:t>
            </a:r>
          </a:p>
          <a:p>
            <a:r>
              <a:rPr lang="en-IN" dirty="0"/>
              <a:t>The </a:t>
            </a:r>
            <a:r>
              <a:rPr lang="en-IN" b="1" dirty="0"/>
              <a:t>second paper</a:t>
            </a:r>
            <a:r>
              <a:rPr lang="en-IN" dirty="0"/>
              <a:t> reviews the application of Large Language Models in legal AI. It highlights that although LLMs provide advanced capabilities, they require more computational resources and are less interpretable.</a:t>
            </a:r>
          </a:p>
          <a:p>
            <a:r>
              <a:rPr lang="en-IN" dirty="0"/>
              <a:t>The </a:t>
            </a:r>
            <a:r>
              <a:rPr lang="en-IN" b="1" dirty="0"/>
              <a:t>third paper</a:t>
            </a:r>
            <a:r>
              <a:rPr lang="en-IN" dirty="0"/>
              <a:t> proposes a privacy-preserving text classification technique using Named Entity Recognition. It replaces sensitive information before classification while maintaining good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ClauseIQ</a:t>
            </a:r>
            <a:r>
              <a:rPr lang="en-IN" dirty="0"/>
              <a:t> offers several advantages.</a:t>
            </a:r>
          </a:p>
          <a:p>
            <a:r>
              <a:rPr lang="en-IN" dirty="0"/>
              <a:t>It reduces manual effort, improves document management, automatically classifies clauses, and enables faster retrieval of legal information.</a:t>
            </a:r>
          </a:p>
          <a:p>
            <a:r>
              <a:rPr lang="en-IN" dirty="0"/>
              <a:t>This system can be used in law firms, banks, insurance companies, IT companies, and government organizations where contract management is important.</a:t>
            </a:r>
          </a:p>
          <a:p>
            <a:r>
              <a:rPr lang="en-IN" dirty="0"/>
              <a:t>In the future, the project can be enhanced by integrating Hybrid RAG, Large Language Models, OCR for scanned contracts, voice-based search, and an AI-powered legal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These are the IEEE references that support the design and implementation of my project.</a:t>
            </a:r>
          </a:p>
          <a:p>
            <a:r>
              <a:rPr lang="en-IN" dirty="0"/>
              <a:t>They include research on Legal NLP, LLM applications in law, privacy-preserving text classification, and the CUAD dataset.</a:t>
            </a:r>
          </a:p>
          <a:p>
            <a:r>
              <a:rPr lang="en-IN" b="1"/>
              <a:t>Thank you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18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1.png"/><Relationship Id="rId10" Type="http://schemas.openxmlformats.org/officeDocument/2006/relationships/image" Target="../media/image23.png"/><Relationship Id="rId4" Type="http://schemas.openxmlformats.org/officeDocument/2006/relationships/image" Target="../media/image12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120640" cy="5120640"/>
          </a:xfrm>
          <a:prstGeom prst="ellipse">
            <a:avLst/>
          </a:prstGeom>
          <a:solidFill>
            <a:srgbClr val="13879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2926080" cy="292608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13879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640080"/>
            <a:ext cx="822960" cy="82296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6" name="Image 0" descr="icons/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8458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691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MINI PROJECT  ·  TOPIC APPROVAL PRESENTATION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9601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ClauseIQ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Learning-Based Contract Clause Classification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Intelligent Search System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5394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3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5669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0" y="5394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3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0" y="5669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— AI &amp; Data Science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53949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3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92240" y="5669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Athanasius College of Engineering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the Project Guide &amp; Approval Committee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3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Legal Contract Review Doesn't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03504" cy="603504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5" name="Image 0" descr="icons/doc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2071116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019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Contracts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223113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manage a growing volume of legal agreements every quarter.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603504" cy="603504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9" name="Image 1" descr="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3168396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9992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332841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manually scan lengthy documents clause by clause to find what they need.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114800"/>
            <a:ext cx="603504" cy="603504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3" name="Image 2" descr="icons/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4265676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0965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Human Error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442569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and inconsistency lead to missed obligations and overlooked risk clauses.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5212080"/>
            <a:ext cx="603504" cy="603504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7" name="Image 3" descr="icons/search_per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5362956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51937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Fails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71600" y="552297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search breaks down when the exact wording isn't known in advance.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903720" y="1828800"/>
            <a:ext cx="475488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</p:spPr>
      </p:sp>
      <p:sp>
        <p:nvSpPr>
          <p:cNvPr id="21" name="Text 15"/>
          <p:cNvSpPr/>
          <p:nvPr/>
        </p:nvSpPr>
        <p:spPr>
          <a:xfrm>
            <a:off x="7178040" y="2057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3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DOCUMENT BACKLOG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498080" y="265176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E2E8E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26680" y="3017520"/>
            <a:ext cx="914400" cy="0"/>
          </a:xfrm>
          <a:prstGeom prst="line">
            <a:avLst/>
          </a:prstGeom>
          <a:noFill/>
          <a:ln w="19050">
            <a:solidFill>
              <a:srgbClr val="E2E8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26680" y="3291840"/>
            <a:ext cx="914400" cy="0"/>
          </a:xfrm>
          <a:prstGeom prst="line">
            <a:avLst/>
          </a:prstGeom>
          <a:noFill/>
          <a:ln w="19050">
            <a:solidFill>
              <a:srgbClr val="E2E8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26680" y="3566160"/>
            <a:ext cx="640080" cy="0"/>
          </a:xfrm>
          <a:prstGeom prst="line">
            <a:avLst/>
          </a:prstGeom>
          <a:noFill/>
          <a:ln w="19050">
            <a:solidFill>
              <a:srgbClr val="E2E8E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909560" y="283464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E2E8E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138160" y="3200400"/>
            <a:ext cx="914400" cy="0"/>
          </a:xfrm>
          <a:prstGeom prst="line">
            <a:avLst/>
          </a:prstGeom>
          <a:noFill/>
          <a:ln w="19050">
            <a:solidFill>
              <a:srgbClr val="E2E8E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138160" y="3474720"/>
            <a:ext cx="914400" cy="0"/>
          </a:xfrm>
          <a:prstGeom prst="line">
            <a:avLst/>
          </a:prstGeom>
          <a:noFill/>
          <a:ln w="19050">
            <a:solidFill>
              <a:srgbClr val="E2E8E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138160" y="3749040"/>
            <a:ext cx="640080" cy="0"/>
          </a:xfrm>
          <a:prstGeom prst="line">
            <a:avLst/>
          </a:prstGeom>
          <a:noFill/>
          <a:ln w="19050">
            <a:solidFill>
              <a:srgbClr val="E2E8EE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321040" y="301752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E2E8E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549640" y="3383280"/>
            <a:ext cx="914400" cy="0"/>
          </a:xfrm>
          <a:prstGeom prst="line">
            <a:avLst/>
          </a:prstGeom>
          <a:noFill/>
          <a:ln w="19050">
            <a:solidFill>
              <a:srgbClr val="E2E8E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549640" y="3657600"/>
            <a:ext cx="914400" cy="0"/>
          </a:xfrm>
          <a:prstGeom prst="line">
            <a:avLst/>
          </a:prstGeom>
          <a:noFill/>
          <a:ln w="19050">
            <a:solidFill>
              <a:srgbClr val="E2E8E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549640" y="3931920"/>
            <a:ext cx="640080" cy="0"/>
          </a:xfrm>
          <a:prstGeom prst="line">
            <a:avLst/>
          </a:prstGeom>
          <a:noFill/>
          <a:ln w="19050">
            <a:solidFill>
              <a:srgbClr val="E2E8E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732520" y="320040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E2E8EE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8961120" y="3566160"/>
            <a:ext cx="914400" cy="0"/>
          </a:xfrm>
          <a:prstGeom prst="line">
            <a:avLst/>
          </a:prstGeom>
          <a:noFill/>
          <a:ln w="19050">
            <a:solidFill>
              <a:srgbClr val="E2E8EE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961120" y="3840480"/>
            <a:ext cx="914400" cy="0"/>
          </a:xfrm>
          <a:prstGeom prst="line">
            <a:avLst/>
          </a:prstGeom>
          <a:noFill/>
          <a:ln w="19050">
            <a:solidFill>
              <a:srgbClr val="E2E8EE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961120" y="4114800"/>
            <a:ext cx="640080" cy="0"/>
          </a:xfrm>
          <a:prstGeom prst="line">
            <a:avLst/>
          </a:prstGeom>
          <a:noFill/>
          <a:ln w="19050">
            <a:solidFill>
              <a:srgbClr val="E2E8EE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052560" y="5257800"/>
            <a:ext cx="914400" cy="91440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39" name="Image 4" descr="icons/search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5495544"/>
            <a:ext cx="438912" cy="43891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178040" y="5989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searching every document, every time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112745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ClauseIQ  |  MCA Mini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3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ClauseIQ End-to-End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2505456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1481328" y="2167128"/>
            <a:ext cx="731520" cy="73152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6" name="Image 0" descr="icons/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23500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42616" y="2039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297180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Contract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10712" y="1965960"/>
            <a:ext cx="2505456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0" y="2167128"/>
            <a:ext cx="731520" cy="73152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1" name="Image 1" descr="icons/extr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3500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2039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502152" y="297180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27064" y="1965960"/>
            <a:ext cx="2505456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114032" y="2167128"/>
            <a:ext cx="731520" cy="73152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6" name="Image 2" descr="icons/spl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3500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039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318504" y="297180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Clauses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43416" y="1965960"/>
            <a:ext cx="2505456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9930384" y="2167128"/>
            <a:ext cx="731520" cy="73152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21" name="Image 3" descr="icons/tfi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264" y="235000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091672" y="2039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134856" y="297180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Extraction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043416" y="4251960"/>
            <a:ext cx="2505456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9930384" y="4453128"/>
            <a:ext cx="731520" cy="73152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26" name="Image 4" descr="icons/m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4" y="463600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091672" y="4325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134856" y="525780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227064" y="4251960"/>
            <a:ext cx="2505456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30" name="Shape 23"/>
          <p:cNvSpPr/>
          <p:nvPr/>
        </p:nvSpPr>
        <p:spPr>
          <a:xfrm>
            <a:off x="7114032" y="4453128"/>
            <a:ext cx="731520" cy="73152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31" name="Image 5" descr="icons/sto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6912" y="4636008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325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318504" y="525780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Results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3410712" y="4251960"/>
            <a:ext cx="2505456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35" name="Shape 27"/>
          <p:cNvSpPr/>
          <p:nvPr/>
        </p:nvSpPr>
        <p:spPr>
          <a:xfrm>
            <a:off x="4297680" y="4453128"/>
            <a:ext cx="731520" cy="73152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36" name="Image 6" descr="icons/search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0560" y="4636008"/>
            <a:ext cx="365760" cy="3657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458968" y="4325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3502152" y="525780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Clause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594360" y="4251960"/>
            <a:ext cx="2505456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40" name="Shape 31"/>
          <p:cNvSpPr/>
          <p:nvPr/>
        </p:nvSpPr>
        <p:spPr>
          <a:xfrm>
            <a:off x="1481328" y="4453128"/>
            <a:ext cx="731520" cy="73152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41" name="Image 7" descr="icons/displa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4208" y="4636008"/>
            <a:ext cx="365760" cy="3657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2642616" y="4325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685800" y="525780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Results</a:t>
            </a:r>
            <a:endParaRPr lang="en-US" sz="1300" dirty="0"/>
          </a:p>
        </p:txBody>
      </p:sp>
      <p:pic>
        <p:nvPicPr>
          <p:cNvPr id="44" name="Image 8" descr="icons/arrowright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54680" y="2779776"/>
            <a:ext cx="201168" cy="201168"/>
          </a:xfrm>
          <a:prstGeom prst="rect">
            <a:avLst/>
          </a:prstGeom>
        </p:spPr>
      </p:pic>
      <p:pic>
        <p:nvPicPr>
          <p:cNvPr id="45" name="Image 9" descr="icons/arrowright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1032" y="2779776"/>
            <a:ext cx="201168" cy="201168"/>
          </a:xfrm>
          <a:prstGeom prst="rect">
            <a:avLst/>
          </a:prstGeom>
        </p:spPr>
      </p:pic>
      <p:pic>
        <p:nvPicPr>
          <p:cNvPr id="46" name="Image 10" descr="icons/arrowright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7384" y="2779776"/>
            <a:ext cx="201168" cy="201168"/>
          </a:xfrm>
          <a:prstGeom prst="rect">
            <a:avLst/>
          </a:prstGeom>
        </p:spPr>
      </p:pic>
      <p:pic>
        <p:nvPicPr>
          <p:cNvPr id="47" name="Image 11" descr="icons/arrowright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3154680" y="5065776"/>
            <a:ext cx="201168" cy="201168"/>
          </a:xfrm>
          <a:prstGeom prst="rect">
            <a:avLst/>
          </a:prstGeom>
        </p:spPr>
      </p:pic>
      <p:pic>
        <p:nvPicPr>
          <p:cNvPr id="48" name="Image 12" descr="icons/arrowright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5971032" y="5065776"/>
            <a:ext cx="201168" cy="201168"/>
          </a:xfrm>
          <a:prstGeom prst="rect">
            <a:avLst/>
          </a:prstGeom>
        </p:spPr>
      </p:pic>
      <p:pic>
        <p:nvPicPr>
          <p:cNvPr id="49" name="Image 13" descr="icons/arrowright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8787384" y="5065776"/>
            <a:ext cx="201168" cy="201168"/>
          </a:xfrm>
          <a:prstGeom prst="rect">
            <a:avLst/>
          </a:prstGeom>
        </p:spPr>
      </p:pic>
      <p:pic>
        <p:nvPicPr>
          <p:cNvPr id="50" name="Image 14" descr="icons/arrowdown_te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95560" y="3922776"/>
            <a:ext cx="201168" cy="201168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112745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2" name="Text 35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ClauseIQ  |  MCA Mini Project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3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658368" cy="65836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6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3134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6712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53288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classify contract clauses and enable fast, meaning-aware search across documents.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43600" y="1874520"/>
            <a:ext cx="5074920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0" y="2148840"/>
            <a:ext cx="658368" cy="658368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11" name="Image 1" descr="icons/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3134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16712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40880" y="253288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 contract uploaded by the user in PDF format.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074920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06240"/>
            <a:ext cx="658368" cy="65836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6" name="Image 2" descr="icons/log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37083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2452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459028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clauses tagged by legal category, each with a confidence score.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43600" y="3931920"/>
            <a:ext cx="5074920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217920" y="4206240"/>
            <a:ext cx="658368" cy="658368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21" name="Image 3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437083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22452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40880" y="459028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system that cuts manual review effort and speeds up legal document analysis.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943600"/>
            <a:ext cx="10469880" cy="502920"/>
          </a:xfrm>
          <a:prstGeom prst="roundRect">
            <a:avLst>
              <a:gd name="adj" fmla="val 14545"/>
            </a:avLst>
          </a:prstGeom>
          <a:solidFill>
            <a:srgbClr val="0F2A4A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5943600"/>
            <a:ext cx="9921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Classical Machine Learning  —  RAG &amp; LLM integration are planned as future enhancements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2745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ClauseIQ  |  MCA Mini Project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3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CUAD — Contract Understanding Atticus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03120" cy="1417320"/>
          </a:xfrm>
          <a:prstGeom prst="roundRect">
            <a:avLst>
              <a:gd name="adj" fmla="val 6452"/>
            </a:avLst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Contracts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874520"/>
            <a:ext cx="2103120" cy="1417320"/>
          </a:xfrm>
          <a:prstGeom prst="roundRect">
            <a:avLst>
              <a:gd name="adj" fmla="val 6452"/>
            </a:avLst>
          </a:prstGeom>
          <a:solidFill>
            <a:srgbClr val="0F2A4A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9659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13,000+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926080" y="2651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Clauses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874520"/>
            <a:ext cx="2103120" cy="1417320"/>
          </a:xfrm>
          <a:prstGeom prst="roundRect">
            <a:avLst>
              <a:gd name="adj" fmla="val 6452"/>
            </a:avLst>
          </a:prstGeom>
          <a:solidFill>
            <a:srgbClr val="0F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9659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12080" y="2651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Categories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atticusprojectai.org/cuad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 is a publicly available, expert-annotated legal dataset purpose-built for supervised contract clause classification — a strong fit for ClauseIQ's training and evaluation needs.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78040" y="1874520"/>
            <a:ext cx="4480560" cy="4480560"/>
          </a:xfrm>
          <a:prstGeom prst="roundRect">
            <a:avLst>
              <a:gd name="adj" fmla="val 2041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3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CLAUSE CATEGORIES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52360" y="2606040"/>
            <a:ext cx="457200" cy="45720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18" name="Image 0" descr="icons/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2720340"/>
            <a:ext cx="228600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046720" y="2679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452360" y="3291840"/>
            <a:ext cx="457200" cy="45720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21" name="Image 1" descr="icons/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3406140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46720" y="33649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7452360" y="3977640"/>
            <a:ext cx="457200" cy="45720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24" name="Image 2" descr="icons/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409194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046720" y="40507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7452360" y="4663440"/>
            <a:ext cx="457200" cy="45720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27" name="Image 3" descr="icons/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4777740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046720" y="47365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7452360" y="5349240"/>
            <a:ext cx="457200" cy="45720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30" name="Image 4" descr="icons/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5463540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046720" y="54223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Law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7452360" y="6080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+ 36 more categories in the full CUAD taxonomy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12745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ClauseIQ  |  MCA Mini Project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3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&amp;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3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ALGORITHMS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438912" cy="438912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7" name="Image 0" descr="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62432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5694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3081528"/>
            <a:ext cx="438912" cy="438912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0" name="Image 1" descr="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19125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1363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3648456"/>
            <a:ext cx="438912" cy="438912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3" name="Image 2" descr="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5818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703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2960" y="4215384"/>
            <a:ext cx="438912" cy="438912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6" name="Image 3" descr="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32511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2702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22960" y="4855464"/>
            <a:ext cx="4846320" cy="0"/>
          </a:xfrm>
          <a:prstGeom prst="line">
            <a:avLst/>
          </a:prstGeom>
          <a:noFill/>
          <a:ln w="12700">
            <a:solidFill>
              <a:srgbClr val="E2E8E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22960" y="5038344"/>
            <a:ext cx="438912" cy="438912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20" name="Image 4" descr="icons/search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14807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50932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Ranking: Cosine Similarity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22960" y="5605272"/>
            <a:ext cx="438912" cy="438912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23" name="Image 5" descr="icons/tfi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715000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17320" y="56601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TF-IDF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6217920" y="1828800"/>
            <a:ext cx="5440680" cy="4526280"/>
          </a:xfrm>
          <a:prstGeom prst="roundRect">
            <a:avLst>
              <a:gd name="adj" fmla="val 2020"/>
            </a:avLst>
          </a:prstGeom>
          <a:solidFill>
            <a:srgbClr val="0F2A4A"/>
          </a:solidFill>
          <a:ln/>
        </p:spPr>
      </p:sp>
      <p:sp>
        <p:nvSpPr>
          <p:cNvPr id="26" name="Text 18"/>
          <p:cNvSpPr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492240" y="251460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7385C"/>
          </a:solidFill>
          <a:ln/>
        </p:spPr>
      </p:sp>
      <p:sp>
        <p:nvSpPr>
          <p:cNvPr id="28" name="Shape 20"/>
          <p:cNvSpPr/>
          <p:nvPr/>
        </p:nvSpPr>
        <p:spPr>
          <a:xfrm>
            <a:off x="6656832" y="267004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9" name="Image 6" descr="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1132" y="2784348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69480" y="25146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9189720" y="251460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7385C"/>
          </a:solidFill>
          <a:ln/>
        </p:spPr>
      </p:sp>
      <p:sp>
        <p:nvSpPr>
          <p:cNvPr id="32" name="Shape 23"/>
          <p:cNvSpPr/>
          <p:nvPr/>
        </p:nvSpPr>
        <p:spPr>
          <a:xfrm>
            <a:off x="9354312" y="267004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3" name="Image 7" descr="icons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8612" y="2784348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966960" y="25146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6492240" y="347472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7385C"/>
          </a:solidFill>
          <a:ln/>
        </p:spPr>
      </p:sp>
      <p:sp>
        <p:nvSpPr>
          <p:cNvPr id="36" name="Shape 26"/>
          <p:cNvSpPr/>
          <p:nvPr/>
        </p:nvSpPr>
        <p:spPr>
          <a:xfrm>
            <a:off x="6656832" y="36301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7" name="Image 8" descr="icons/moni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1132" y="3744468"/>
            <a:ext cx="228600" cy="2286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269480" y="34747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9189720" y="347472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7385C"/>
          </a:solidFill>
          <a:ln/>
        </p:spPr>
      </p:sp>
      <p:sp>
        <p:nvSpPr>
          <p:cNvPr id="40" name="Shape 29"/>
          <p:cNvSpPr/>
          <p:nvPr/>
        </p:nvSpPr>
        <p:spPr>
          <a:xfrm>
            <a:off x="9354312" y="36301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1" name="Image 9" descr="icons/dat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8612" y="3744468"/>
            <a:ext cx="228600" cy="2286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9966960" y="34747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43" name="Shape 31"/>
          <p:cNvSpPr/>
          <p:nvPr/>
        </p:nvSpPr>
        <p:spPr>
          <a:xfrm>
            <a:off x="6492240" y="443484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7385C"/>
          </a:solidFill>
          <a:ln/>
        </p:spPr>
      </p:sp>
      <p:sp>
        <p:nvSpPr>
          <p:cNvPr id="44" name="Shape 32"/>
          <p:cNvSpPr/>
          <p:nvPr/>
        </p:nvSpPr>
        <p:spPr>
          <a:xfrm>
            <a:off x="6656832" y="459028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5" name="Image 10" descr="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132" y="4704588"/>
            <a:ext cx="228600" cy="22860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269480" y="44348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47" name="Shape 34"/>
          <p:cNvSpPr/>
          <p:nvPr/>
        </p:nvSpPr>
        <p:spPr>
          <a:xfrm>
            <a:off x="9189720" y="443484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7385C"/>
          </a:solidFill>
          <a:ln/>
        </p:spPr>
      </p:sp>
      <p:sp>
        <p:nvSpPr>
          <p:cNvPr id="48" name="Shape 35"/>
          <p:cNvSpPr/>
          <p:nvPr/>
        </p:nvSpPr>
        <p:spPr>
          <a:xfrm>
            <a:off x="9354312" y="459028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9" name="Image 11" descr="icons/doc_sta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8612" y="4704588"/>
            <a:ext cx="228600" cy="228600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9966960" y="44348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300" dirty="0"/>
          </a:p>
        </p:txBody>
      </p:sp>
      <p:sp>
        <p:nvSpPr>
          <p:cNvPr id="51" name="Shape 37"/>
          <p:cNvSpPr/>
          <p:nvPr/>
        </p:nvSpPr>
        <p:spPr>
          <a:xfrm>
            <a:off x="6492240" y="539496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7385C"/>
          </a:solidFill>
          <a:ln/>
        </p:spPr>
      </p:sp>
      <p:sp>
        <p:nvSpPr>
          <p:cNvPr id="52" name="Shape 38"/>
          <p:cNvSpPr/>
          <p:nvPr/>
        </p:nvSpPr>
        <p:spPr>
          <a:xfrm>
            <a:off x="6656832" y="55504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3" name="Image 12" descr="icons/ta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71132" y="5664708"/>
            <a:ext cx="228600" cy="228600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7269480" y="53949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300" dirty="0"/>
          </a:p>
        </p:txBody>
      </p:sp>
      <p:sp>
        <p:nvSpPr>
          <p:cNvPr id="55" name="Text 40"/>
          <p:cNvSpPr/>
          <p:nvPr/>
        </p:nvSpPr>
        <p:spPr>
          <a:xfrm>
            <a:off x="112745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6" name="Text 41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ClauseIQ  |  MCA Mini 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3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4880" y="3063240"/>
            <a:ext cx="1051560" cy="105156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5" name="Image 0" descr="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286" y="333664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4251960"/>
            <a:ext cx="1734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pic>
        <p:nvPicPr>
          <p:cNvPr id="7" name="Image 1" descr="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640" y="3497580"/>
            <a:ext cx="182880" cy="182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88920" y="3063240"/>
            <a:ext cx="1051560" cy="105156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9" name="Image 2" descr="icons/moni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2326" y="3336646"/>
            <a:ext cx="504749" cy="5047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47544" y="4251960"/>
            <a:ext cx="1734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050" dirty="0"/>
          </a:p>
        </p:txBody>
      </p:sp>
      <p:pic>
        <p:nvPicPr>
          <p:cNvPr id="11" name="Image 3" descr="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680" y="3497580"/>
            <a:ext cx="182880" cy="18288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632960" y="3063240"/>
            <a:ext cx="1051560" cy="105156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13" name="Image 4" descr="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6366" y="3336646"/>
            <a:ext cx="504749" cy="50474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91584" y="4251960"/>
            <a:ext cx="1734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050" dirty="0"/>
          </a:p>
        </p:txBody>
      </p:sp>
      <p:pic>
        <p:nvPicPr>
          <p:cNvPr id="15" name="Image 5" descr="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497580"/>
            <a:ext cx="182880" cy="18288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6477000" y="3063240"/>
            <a:ext cx="1051560" cy="105156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17" name="Image 6" descr="icons/c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406" y="3336646"/>
            <a:ext cx="504749" cy="504749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135624" y="4251960"/>
            <a:ext cx="1734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050" dirty="0"/>
          </a:p>
        </p:txBody>
      </p:sp>
      <p:pic>
        <p:nvPicPr>
          <p:cNvPr id="19" name="Image 7" descr="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760" y="3497580"/>
            <a:ext cx="182880" cy="18288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8321040" y="3063240"/>
            <a:ext cx="1051560" cy="105156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21" name="Image 8" descr="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4446" y="3336646"/>
            <a:ext cx="504749" cy="504749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979664" y="4251960"/>
            <a:ext cx="1734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050" dirty="0"/>
          </a:p>
        </p:txBody>
      </p:sp>
      <p:pic>
        <p:nvPicPr>
          <p:cNvPr id="23" name="Image 9" descr="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3497580"/>
            <a:ext cx="182880" cy="182880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10165080" y="3063240"/>
            <a:ext cx="1051560" cy="10515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10" descr="icons/resu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8486" y="3336646"/>
            <a:ext cx="504749" cy="504749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9823704" y="4251960"/>
            <a:ext cx="1734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27" name="Shape 14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28" name="Shape 15"/>
          <p:cNvSpPr/>
          <p:nvPr/>
        </p:nvSpPr>
        <p:spPr>
          <a:xfrm>
            <a:off x="777240" y="5120640"/>
            <a:ext cx="594360" cy="59436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29" name="Image 11" descr="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830" y="5269230"/>
            <a:ext cx="297180" cy="29718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1554480" y="50749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Supabase (PostgreSQL) stores classified clauses, categories, confidence scores, and search records for reliable persistence.</a:t>
            </a:r>
            <a:endParaRPr lang="en-US" sz="1150" dirty="0"/>
          </a:p>
        </p:txBody>
      </p:sp>
      <p:sp>
        <p:nvSpPr>
          <p:cNvPr id="31" name="Shape 17"/>
          <p:cNvSpPr/>
          <p:nvPr/>
        </p:nvSpPr>
        <p:spPr>
          <a:xfrm>
            <a:off x="7818120" y="5074920"/>
            <a:ext cx="0" cy="777240"/>
          </a:xfrm>
          <a:prstGeom prst="line">
            <a:avLst/>
          </a:prstGeom>
          <a:noFill/>
          <a:ln w="19050">
            <a:solidFill>
              <a:srgbClr val="E2E8EE"/>
            </a:solidFill>
            <a:prstDash val="solid"/>
          </a:ln>
        </p:spPr>
      </p:sp>
      <p:sp>
        <p:nvSpPr>
          <p:cNvPr id="32" name="Shape 18"/>
          <p:cNvSpPr/>
          <p:nvPr/>
        </p:nvSpPr>
        <p:spPr>
          <a:xfrm>
            <a:off x="8046720" y="5120640"/>
            <a:ext cx="594360" cy="59436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33" name="Image 12" descr="icons/fla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5310" y="5269230"/>
            <a:ext cx="297180" cy="297180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8778240" y="5074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platform is used in this mini project — it runs on local / self-hosted infrastructure.</a:t>
            </a:r>
            <a:endParaRPr lang="en-US" sz="1100" dirty="0"/>
          </a:p>
        </p:txBody>
      </p:sp>
      <p:sp>
        <p:nvSpPr>
          <p:cNvPr id="35" name="Text 20"/>
          <p:cNvSpPr/>
          <p:nvPr/>
        </p:nvSpPr>
        <p:spPr>
          <a:xfrm>
            <a:off x="112745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6" name="Text 21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ClauseIQ  |  MCA Mini Project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3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Relevant IEEE Papers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55680" cy="42062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Methodology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Findings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Relevance to ClauseIQ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</a:rPr>
                        <a:t>Paper 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531"/>
                          </a:solidFill>
                        </a:rPr>
                        <a:t>Systematic mapping of Legal NLP research from 2015-2022 across tasks such as classification, summarization, and QA (IEEE Access, 2024).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531"/>
                          </a:solidFill>
                        </a:rPr>
                        <a:t>Systematic Mapping Study following Kitchenham's methodology; categorizes methods, embeddings, and models used across legal NLP literature.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531"/>
                          </a:solidFill>
                        </a:rPr>
                        <a:t>Classical, TF-IDF-style methods remain widely used in legal text tasks; deep learning and PLMs are growing mainly for long-document work.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531"/>
                          </a:solidFill>
                        </a:rPr>
                        <a:t>Confirms classical ML for clause classification is a recognized, well-supported approach within the broader Legal NLP field.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</a:rPr>
                        <a:t>Paper 2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531"/>
                          </a:solidFill>
                        </a:rPr>
                        <a:t>Review of how Large Language Models are being applied across legal NLP tasks (IEEE Access, 2025).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531"/>
                          </a:solidFill>
                        </a:rPr>
                        <a:t>Structured literature review of LLM-based legal NLP approaches, assessed against a quality checklist.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531"/>
                          </a:solidFill>
                        </a:rPr>
                        <a:t>LLMs show strong promise for legal tasks, but interpretability, cost, and data needs remain real concerns versus lighter methods.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531"/>
                          </a:solidFill>
                        </a:rPr>
                        <a:t>Reinforces using classical ML now while positioning LLM / RAG integration as a well-motivated future enhancement.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</a:rPr>
                        <a:t>Paper 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531"/>
                          </a:solidFill>
                        </a:rPr>
                        <a:t>Improve text classification accuracy while preserving privacy in sensitive documents, including legal text (IEEE Access, 2023).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531"/>
                          </a:solidFill>
                        </a:rPr>
                        <a:t>NER-based preprocessing that replaces named entities with their entity type before classification.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531"/>
                          </a:solidFill>
                        </a:rPr>
                        <a:t>Replacing entities preserves privacy with little to no loss in classification accuracy across legal and non-legal datasets.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531"/>
                          </a:solidFill>
                        </a:rPr>
                        <a:t>Suggests an NER-based preprocessing step ClauseIQ could adopt to protect confidential contract details before storage.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2745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ClauseIQ  |  MCA Mini Project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3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Advantages, Applications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3611880" cy="4617720"/>
          </a:xfrm>
          <a:prstGeom prst="roundRect">
            <a:avLst>
              <a:gd name="adj" fmla="val 2532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213055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6" name="Image 0" descr="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27228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671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3017520"/>
            <a:ext cx="109728" cy="10972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8529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clause retrieval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" y="3584448"/>
            <a:ext cx="109728" cy="10972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41985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effort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4151376"/>
            <a:ext cx="109728" cy="10972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9867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classification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" y="4718304"/>
            <a:ext cx="109728" cy="10972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45537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document management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315968" y="1874520"/>
            <a:ext cx="3611880" cy="4617720"/>
          </a:xfrm>
          <a:prstGeom prst="roundRect">
            <a:avLst>
              <a:gd name="adj" fmla="val 2532"/>
            </a:avLst>
          </a:prstGeom>
          <a:solidFill>
            <a:srgbClr val="F1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0" y="2130552"/>
            <a:ext cx="566928" cy="566928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18" name="Image 1" descr="icons/brief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732" y="2272284"/>
            <a:ext cx="283464" cy="2834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76088" y="21671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590288" y="3017520"/>
            <a:ext cx="109728" cy="109728"/>
          </a:xfrm>
          <a:prstGeom prst="ellipse">
            <a:avLst/>
          </a:prstGeom>
          <a:solidFill>
            <a:srgbClr val="13879A"/>
          </a:solidFill>
          <a:ln/>
        </p:spPr>
      </p:sp>
      <p:sp>
        <p:nvSpPr>
          <p:cNvPr id="21" name="Text 17"/>
          <p:cNvSpPr/>
          <p:nvPr/>
        </p:nvSpPr>
        <p:spPr>
          <a:xfrm>
            <a:off x="4818888" y="28529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Firms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590288" y="3584448"/>
            <a:ext cx="109728" cy="109728"/>
          </a:xfrm>
          <a:prstGeom prst="ellipse">
            <a:avLst/>
          </a:prstGeom>
          <a:solidFill>
            <a:srgbClr val="13879A"/>
          </a:solidFill>
          <a:ln/>
        </p:spPr>
      </p:sp>
      <p:sp>
        <p:nvSpPr>
          <p:cNvPr id="23" name="Text 19"/>
          <p:cNvSpPr/>
          <p:nvPr/>
        </p:nvSpPr>
        <p:spPr>
          <a:xfrm>
            <a:off x="4818888" y="341985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590288" y="4151376"/>
            <a:ext cx="109728" cy="109728"/>
          </a:xfrm>
          <a:prstGeom prst="ellipse">
            <a:avLst/>
          </a:prstGeom>
          <a:solidFill>
            <a:srgbClr val="13879A"/>
          </a:solidFill>
          <a:ln/>
        </p:spPr>
      </p:sp>
      <p:sp>
        <p:nvSpPr>
          <p:cNvPr id="25" name="Text 21"/>
          <p:cNvSpPr/>
          <p:nvPr/>
        </p:nvSpPr>
        <p:spPr>
          <a:xfrm>
            <a:off x="4818888" y="39867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590288" y="4718304"/>
            <a:ext cx="109728" cy="109728"/>
          </a:xfrm>
          <a:prstGeom prst="ellipse">
            <a:avLst/>
          </a:prstGeom>
          <a:solidFill>
            <a:srgbClr val="13879A"/>
          </a:solidFill>
          <a:ln/>
        </p:spPr>
      </p:sp>
      <p:sp>
        <p:nvSpPr>
          <p:cNvPr id="27" name="Text 23"/>
          <p:cNvSpPr/>
          <p:nvPr/>
        </p:nvSpPr>
        <p:spPr>
          <a:xfrm>
            <a:off x="4818888" y="45537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Companies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4590288" y="5285232"/>
            <a:ext cx="109728" cy="109728"/>
          </a:xfrm>
          <a:prstGeom prst="ellipse">
            <a:avLst/>
          </a:prstGeom>
          <a:solidFill>
            <a:srgbClr val="13879A"/>
          </a:solidFill>
          <a:ln/>
        </p:spPr>
      </p:sp>
      <p:sp>
        <p:nvSpPr>
          <p:cNvPr id="29" name="Text 25"/>
          <p:cNvSpPr/>
          <p:nvPr/>
        </p:nvSpPr>
        <p:spPr>
          <a:xfrm>
            <a:off x="4818888" y="5120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8129016" y="1874520"/>
            <a:ext cx="3611880" cy="4617720"/>
          </a:xfrm>
          <a:prstGeom prst="roundRect">
            <a:avLst>
              <a:gd name="adj" fmla="val 2532"/>
            </a:avLst>
          </a:prstGeom>
          <a:solidFill>
            <a:srgbClr val="F1F5F9"/>
          </a:solidFill>
          <a:ln/>
        </p:spPr>
      </p:sp>
      <p:sp>
        <p:nvSpPr>
          <p:cNvPr id="31" name="Shape 27"/>
          <p:cNvSpPr/>
          <p:nvPr/>
        </p:nvSpPr>
        <p:spPr>
          <a:xfrm>
            <a:off x="8385048" y="213055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2" name="Image 2" descr="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0" y="2272284"/>
            <a:ext cx="283464" cy="28346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089136" y="21671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8403336" y="30175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0"/>
          <p:cNvSpPr/>
          <p:nvPr/>
        </p:nvSpPr>
        <p:spPr>
          <a:xfrm>
            <a:off x="8631936" y="28529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8403336" y="3584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2"/>
          <p:cNvSpPr/>
          <p:nvPr/>
        </p:nvSpPr>
        <p:spPr>
          <a:xfrm>
            <a:off x="8631936" y="341985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8403336" y="41513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Text 34"/>
          <p:cNvSpPr/>
          <p:nvPr/>
        </p:nvSpPr>
        <p:spPr>
          <a:xfrm>
            <a:off x="8631936" y="39867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Assistant</a:t>
            </a:r>
            <a:endParaRPr lang="en-US" sz="1250" dirty="0"/>
          </a:p>
        </p:txBody>
      </p:sp>
      <p:sp>
        <p:nvSpPr>
          <p:cNvPr id="40" name="Shape 35"/>
          <p:cNvSpPr/>
          <p:nvPr/>
        </p:nvSpPr>
        <p:spPr>
          <a:xfrm>
            <a:off x="8403336" y="47183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1" name="Text 36"/>
          <p:cNvSpPr/>
          <p:nvPr/>
        </p:nvSpPr>
        <p:spPr>
          <a:xfrm>
            <a:off x="8631936" y="45537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Search</a:t>
            </a:r>
            <a:endParaRPr lang="en-US" sz="1250" dirty="0"/>
          </a:p>
        </p:txBody>
      </p:sp>
      <p:sp>
        <p:nvSpPr>
          <p:cNvPr id="42" name="Shape 37"/>
          <p:cNvSpPr/>
          <p:nvPr/>
        </p:nvSpPr>
        <p:spPr>
          <a:xfrm>
            <a:off x="8403336" y="528523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38"/>
          <p:cNvSpPr/>
          <p:nvPr/>
        </p:nvSpPr>
        <p:spPr>
          <a:xfrm>
            <a:off x="8631936" y="5120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Support</a:t>
            </a:r>
            <a:endParaRPr lang="en-US" sz="1250" dirty="0"/>
          </a:p>
        </p:txBody>
      </p:sp>
      <p:sp>
        <p:nvSpPr>
          <p:cNvPr id="44" name="Text 39"/>
          <p:cNvSpPr/>
          <p:nvPr/>
        </p:nvSpPr>
        <p:spPr>
          <a:xfrm>
            <a:off x="112745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ClauseIQ  |  MCA Mini Project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13879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480560"/>
            <a:ext cx="3840480" cy="384048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(IEEE Format)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E. Quevedo, T. Cerny, A. Rodriguez, P. Rivas, J. Yero, K. Sooksatra, A. Zhakubayev, and D. Taibi, "Legal Natural Language Processing From 2015 to 2022: A Comprehensive Systematic Mapping Study of Advances and Applications," IEEE Access, vol. 12, pp. 145286-145317, 2024.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M. Siino, M. Falco, D. Croce, and P. Rosso, "Exploring LLMs Applications in Law: A Literature Review on Current Legal NLP Approaches," IEEE Access, vol. 13, pp. 18253-18276, 2025.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M. Kutbi, "Named Entity Recognition Utilized to Enhance Text Classification While Preserving Privacy," IEEE Access, vol. 11, pp. 117576-117581, 2023.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0" y="1371600"/>
            <a:ext cx="0" cy="4846320"/>
          </a:xfrm>
          <a:prstGeom prst="line">
            <a:avLst/>
          </a:prstGeom>
          <a:noFill/>
          <a:ln w="15875">
            <a:solidFill>
              <a:srgbClr val="2C4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23774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772400" y="3291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0" y="4114800"/>
            <a:ext cx="685800" cy="685800"/>
          </a:xfrm>
          <a:prstGeom prst="ellipse">
            <a:avLst/>
          </a:prstGeom>
          <a:solidFill>
            <a:srgbClr val="13879A"/>
          </a:solidFill>
          <a:ln/>
        </p:spPr>
      </p:sp>
      <p:pic>
        <p:nvPicPr>
          <p:cNvPr id="14" name="Image 0" descr="icons/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708" y="4293108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595360" y="42336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from the committee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2745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ClauseIQ  |  MCA Mini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1811</Words>
  <Application>Microsoft Office PowerPoint</Application>
  <PresentationFormat>Widescreen</PresentationFormat>
  <Paragraphs>228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Farhan Kalady</cp:lastModifiedBy>
  <cp:revision>8</cp:revision>
  <dcterms:created xsi:type="dcterms:W3CDTF">2026-07-19T05:38:04Z</dcterms:created>
  <dcterms:modified xsi:type="dcterms:W3CDTF">2026-07-22T01:55:51Z</dcterms:modified>
</cp:coreProperties>
</file>